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42FB4-6F40-F43A-5900-F35E3A9018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9B1789-8046-B593-4BEA-A51053FB4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C806C2-BC01-B264-0DD8-17E440EC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A53B82-29BF-8708-3A9B-0D1D2CCAF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CE5A08-B9F0-9F2B-31D9-7D1045817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014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8CEE0-0546-F784-C81F-FBEBA64F5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8BFAC7-0509-96D8-8959-1E5320C28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4459B9-9F55-15A6-26D5-426E06C9D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EAF111-BD93-D764-B513-0A8AF8D4A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BBEC79-62F1-6960-A9EB-FE91612EF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967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54CA8-E04B-5967-429F-567821A5A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F90261-2184-C278-C398-1EB3B7599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5F2367-4BD6-A64A-4BEE-D43D24AC6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844B27-7E81-E41F-0666-9A546EAC8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04FE66-C0B9-6F6E-56C6-8F5A4691A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166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7A25C-BC50-872D-CDF3-B188CF59A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D751CC-411B-AA28-65E9-43A20EA4F9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61619C-4E5D-DCF2-D5AD-3F89CEE8A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DAB325-5D2E-8EC6-BFA8-89C5FD967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E8150D-A662-F89E-2C6D-19FCCDF6B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6F317C-5DAF-4CC0-E32B-30FBD0C7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38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39B81B-AE1F-9484-9E1F-A5F1B4A99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6B64CF-EFB3-3955-5F5E-C04A1363F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D93AFC-8CF5-D78D-CF03-79CC5BB38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635C4D-4C95-0196-F235-DDB796F75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D32514-A740-EFAF-62E7-A5E3C447C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DBC1467-9EBE-9690-F0E9-1BFB23CE9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C21E314-08CE-43F1-5F2D-497658CCB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64DB4C-2A1E-251E-1851-C24DB40F2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31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37C1CA-ECB2-5BA3-6805-1DC71C221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F1D85B-9600-6AE8-6D51-351191E4B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16A1A4-F466-D1D1-5DFD-6F82A61C0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23CF8A-A74E-7940-F538-BB026ADF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039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1EAC2F-3040-E79C-0C43-60DAD1230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28EBA0-EB6F-0FAF-E674-984411D41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7B70C2-DD37-A766-5CFC-6B26741B9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913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F0E4E9-F541-C51B-FC88-830C5D380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D39819-F84B-FA7F-0717-03A373B8A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0AF325-36E7-3607-EA3C-3430BD311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D0AA7C-90FC-7D39-94E2-BCAEE1DEF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15C60E-75B0-43B7-5FC5-2581A3DA4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719177-DF30-E7FA-46BB-2D3D1F8CD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865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3CDF4B-782A-2DE5-3A28-2BC184D76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8C87ED9-E83C-A58C-8C55-1C095C17D1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9E5AD1-4F02-F55A-1BB5-E83B2CB13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590CB3-571D-468B-1088-B4C4FD3EC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F9AA45-0F85-295A-2676-596A62FF4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BD3AFB-F549-A2B5-912F-0B92517AF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684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B64667-3131-915C-1F4A-E9E43AC87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C23D29-B113-0E5D-D538-D73934FB5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26504E-E285-BD86-D9F9-D4CEF99F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883C7F-686C-69DD-654E-9D97AE23F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7F2FEE-C28B-0250-3CAF-BBBDF2DE4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878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9BF6CF-2FC9-9006-EE3A-E48284EFEE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3DF5F5-A2B0-B6A2-22C1-A1C74D36E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05DC2E-45A4-B4AE-BDC0-10FE9665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F4D329-4E73-6656-86FB-EEC7309A0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4E8739-3813-57D0-8ABC-A71EC6088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23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30FED7F-C788-36EC-CD4B-0A4617326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09F4C0-CA44-F926-83E4-C2D091BB3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91FE7-4363-9E0E-8DF5-D45E7A2A6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B2CB34-7414-B795-3166-570B4E90A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D6B39D-0D11-193D-0FB9-39C355F32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14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E38203F-4F38-D4AF-0988-6EC9740509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C5565B0-7D02-AE1C-066F-8676EEA79D6C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3AC8DA8-3641-5DE3-C797-8C0394E5FA55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348DA49-AFE4-DBBE-1056-DE02DAD75E47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CA848D-CFC7-714F-B9B3-A143E58A8B11}"/>
              </a:ext>
            </a:extLst>
          </p:cNvPr>
          <p:cNvSpPr txBox="1"/>
          <p:nvPr/>
        </p:nvSpPr>
        <p:spPr>
          <a:xfrm>
            <a:off x="736600" y="914400"/>
            <a:ext cx="787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3ADCFF"/>
                </a:solidFill>
                <a:latin typeface="Microsoft YaHei" panose="020B0503020204020204" pitchFamily="34" charset="-122"/>
              </a:rPr>
              <a:t>AI VOICE ASSISTANT · PRODUCT REPORT</a:t>
            </a:r>
            <a:endParaRPr lang="zh-CN" altLang="en-US" sz="11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B7CF39-7AFE-55AD-5D0F-07C694FFAD30}"/>
              </a:ext>
            </a:extLst>
          </p:cNvPr>
          <p:cNvSpPr txBox="1"/>
          <p:nvPr/>
        </p:nvSpPr>
        <p:spPr>
          <a:xfrm>
            <a:off x="711200" y="1422400"/>
            <a:ext cx="7874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400" b="1">
                <a:solidFill>
                  <a:srgbClr val="F6F8FF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3400" b="1">
                <a:solidFill>
                  <a:srgbClr val="F6F8FF"/>
                </a:solidFill>
                <a:latin typeface="Microsoft YaHei" panose="020B0503020204020204" pitchFamily="34" charset="-122"/>
              </a:rPr>
              <a:t>APP </a:t>
            </a:r>
            <a:r>
              <a:rPr lang="zh-CN" altLang="en-US" sz="3400" b="1">
                <a:solidFill>
                  <a:srgbClr val="F6F8FF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E9CA17-F0CC-5B13-51AC-E8454E718B88}"/>
              </a:ext>
            </a:extLst>
          </p:cNvPr>
          <p:cNvSpPr txBox="1"/>
          <p:nvPr/>
        </p:nvSpPr>
        <p:spPr>
          <a:xfrm>
            <a:off x="762000" y="2387600"/>
            <a:ext cx="73025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B2C0E1"/>
                </a:solidFill>
                <a:latin typeface="Microsoft YaHei" panose="020B0503020204020204" pitchFamily="34" charset="-122"/>
              </a:rPr>
              <a:t>以自然语言和语音交互为入口，集成 </a:t>
            </a:r>
            <a:r>
              <a:rPr lang="en-US" altLang="zh-CN" sz="140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00">
                <a:solidFill>
                  <a:srgbClr val="B2C0E1"/>
                </a:solidFill>
                <a:latin typeface="Microsoft YaHei" panose="020B0503020204020204" pitchFamily="34" charset="-122"/>
              </a:rPr>
              <a:t>对话、文生图、天气、音乐、翻译与桌面控制的智能助手原型。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BB88BE4-B016-A6FD-E2EA-CD0AFFD2387E}"/>
              </a:ext>
            </a:extLst>
          </p:cNvPr>
          <p:cNvSpPr/>
          <p:nvPr/>
        </p:nvSpPr>
        <p:spPr>
          <a:xfrm>
            <a:off x="787400" y="3302000"/>
            <a:ext cx="1524000" cy="355600"/>
          </a:xfrm>
          <a:prstGeom prst="roundRect">
            <a:avLst/>
          </a:prstGeom>
          <a:solidFill>
            <a:srgbClr val="488EFF">
              <a:alpha val="85000"/>
            </a:srgbClr>
          </a:solidFill>
          <a:ln>
            <a:solidFill>
              <a:srgbClr val="488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E2F09E-006E-A217-980E-674327C89E54}"/>
              </a:ext>
            </a:extLst>
          </p:cNvPr>
          <p:cNvSpPr txBox="1"/>
          <p:nvPr/>
        </p:nvSpPr>
        <p:spPr>
          <a:xfrm>
            <a:off x="838200" y="33782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React + Vite</a:t>
            </a:r>
            <a:endParaRPr lang="zh-CN" altLang="en-US" sz="850" b="1">
              <a:solidFill>
                <a:srgbClr val="F6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C0ED04A-D149-491C-B2FD-20256F9AB025}"/>
              </a:ext>
            </a:extLst>
          </p:cNvPr>
          <p:cNvSpPr/>
          <p:nvPr/>
        </p:nvSpPr>
        <p:spPr>
          <a:xfrm>
            <a:off x="2514600" y="3302000"/>
            <a:ext cx="1524000" cy="355600"/>
          </a:xfrm>
          <a:prstGeom prst="roundRect">
            <a:avLst/>
          </a:prstGeom>
          <a:solidFill>
            <a:srgbClr val="4CE6AA">
              <a:alpha val="85000"/>
            </a:srgbClr>
          </a:solidFill>
          <a:ln>
            <a:solidFill>
              <a:srgbClr val="4CE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B433C18-30F9-F88C-20B0-7119EB7CE7FB}"/>
              </a:ext>
            </a:extLst>
          </p:cNvPr>
          <p:cNvSpPr txBox="1"/>
          <p:nvPr/>
        </p:nvSpPr>
        <p:spPr>
          <a:xfrm>
            <a:off x="2565400" y="33782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Flask API</a:t>
            </a:r>
            <a:endParaRPr lang="zh-CN" altLang="en-US" sz="850" b="1">
              <a:solidFill>
                <a:srgbClr val="F6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F16D92A-71AB-9B06-6ACC-A520BB5DBA19}"/>
              </a:ext>
            </a:extLst>
          </p:cNvPr>
          <p:cNvSpPr/>
          <p:nvPr/>
        </p:nvSpPr>
        <p:spPr>
          <a:xfrm>
            <a:off x="4241800" y="3302000"/>
            <a:ext cx="1524000" cy="355600"/>
          </a:xfrm>
          <a:prstGeom prst="roundRect">
            <a:avLst/>
          </a:prstGeom>
          <a:solidFill>
            <a:srgbClr val="9B5CFF">
              <a:alpha val="85000"/>
            </a:srgbClr>
          </a:solidFill>
          <a:ln>
            <a:solidFill>
              <a:srgbClr val="9B5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A15126F-1047-C413-9987-E8B8A63A4688}"/>
              </a:ext>
            </a:extLst>
          </p:cNvPr>
          <p:cNvSpPr txBox="1"/>
          <p:nvPr/>
        </p:nvSpPr>
        <p:spPr>
          <a:xfrm>
            <a:off x="4292600" y="33782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DashScope</a:t>
            </a:r>
            <a:endParaRPr lang="zh-CN" altLang="en-US" sz="850" b="1">
              <a:solidFill>
                <a:srgbClr val="F6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36E68EC-5DDB-87C9-1694-F614798CEBB5}"/>
              </a:ext>
            </a:extLst>
          </p:cNvPr>
          <p:cNvSpPr/>
          <p:nvPr/>
        </p:nvSpPr>
        <p:spPr>
          <a:xfrm>
            <a:off x="5969000" y="3302000"/>
            <a:ext cx="1524000" cy="355600"/>
          </a:xfrm>
          <a:prstGeom prst="roundRect">
            <a:avLst/>
          </a:prstGeom>
          <a:solidFill>
            <a:srgbClr val="3ADCFF">
              <a:alpha val="85000"/>
            </a:srgbClr>
          </a:solidFill>
          <a:ln>
            <a:solidFill>
              <a:srgbClr val="3AD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838A32-A63A-D518-4E59-EE4745CF8606}"/>
              </a:ext>
            </a:extLst>
          </p:cNvPr>
          <p:cNvSpPr txBox="1"/>
          <p:nvPr/>
        </p:nvSpPr>
        <p:spPr>
          <a:xfrm>
            <a:off x="6019800" y="33782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Web Speech</a:t>
            </a:r>
            <a:endParaRPr lang="zh-CN" altLang="en-US" sz="850" b="1">
              <a:solidFill>
                <a:srgbClr val="F6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0ECC8CC-58C9-EAB8-2045-65C07D421EF8}"/>
              </a:ext>
            </a:extLst>
          </p:cNvPr>
          <p:cNvSpPr txBox="1"/>
          <p:nvPr/>
        </p:nvSpPr>
        <p:spPr>
          <a:xfrm>
            <a:off x="762000" y="5740400"/>
            <a:ext cx="419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96A6D2"/>
                </a:solidFill>
                <a:latin typeface="Microsoft YaHei" panose="020B0503020204020204" pitchFamily="34" charset="-122"/>
              </a:rPr>
              <a:t>汇报人：刘汉文    </a:t>
            </a:r>
            <a:r>
              <a:rPr lang="en-US" altLang="zh-CN" sz="1000">
                <a:solidFill>
                  <a:srgbClr val="96A6D2"/>
                </a:solidFill>
                <a:latin typeface="Microsoft YaHei" panose="020B0503020204020204" pitchFamily="34" charset="-122"/>
              </a:rPr>
              <a:t>2026</a:t>
            </a:r>
            <a:endParaRPr lang="zh-CN" altLang="en-US" sz="1000">
              <a:solidFill>
                <a:srgbClr val="96A6D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C93944-7A04-D7F5-CFF8-526C3046A5C5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6D7FF08-7435-904B-1251-B8EADD90F039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544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C68B19B-A6B8-009B-774C-A2ADAF84C5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4C039DD-BD67-AB43-EE1C-D8C19C9CBCDD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B1ADD5-0C9D-AAAE-1F02-F154609FADE3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86375F9-D3A7-7283-263C-FAC2221A28E7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CED309-13C8-F0FC-134A-0426A4202318}"/>
              </a:ext>
            </a:extLst>
          </p:cNvPr>
          <p:cNvSpPr txBox="1"/>
          <p:nvPr/>
        </p:nvSpPr>
        <p:spPr>
          <a:xfrm>
            <a:off x="698500" y="381000"/>
            <a:ext cx="965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F6F8FF"/>
                </a:solidFill>
                <a:latin typeface="Microsoft YaHei" panose="020B0503020204020204" pitchFamily="34" charset="-122"/>
              </a:rPr>
              <a:t>目录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E4C7CA-1C7D-8C37-42BD-C31698056CCF}"/>
              </a:ext>
            </a:extLst>
          </p:cNvPr>
          <p:cNvSpPr txBox="1"/>
          <p:nvPr/>
        </p:nvSpPr>
        <p:spPr>
          <a:xfrm>
            <a:off x="723900" y="927100"/>
            <a:ext cx="965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按“目标</a:t>
            </a:r>
            <a:r>
              <a:rPr lang="en-US" altLang="zh-CN" sz="1000">
                <a:solidFill>
                  <a:srgbClr val="B2C0E1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方法</a:t>
            </a:r>
            <a:r>
              <a:rPr lang="en-US" altLang="zh-CN" sz="1000">
                <a:solidFill>
                  <a:srgbClr val="B2C0E1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成果</a:t>
            </a:r>
            <a:r>
              <a:rPr lang="en-US" altLang="zh-CN" sz="1000">
                <a:solidFill>
                  <a:srgbClr val="B2C0E1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复盘</a:t>
            </a:r>
            <a:r>
              <a:rPr lang="en-US" altLang="zh-CN" sz="1000">
                <a:solidFill>
                  <a:srgbClr val="B2C0E1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计划”组织汇报内容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BEE94D-F8B3-20AD-76D6-30973A7071A7}"/>
              </a:ext>
            </a:extLst>
          </p:cNvPr>
          <p:cNvSpPr/>
          <p:nvPr/>
        </p:nvSpPr>
        <p:spPr>
          <a:xfrm>
            <a:off x="723900" y="1346200"/>
            <a:ext cx="11684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05084B-57BB-6B6D-0632-E057D2668697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AD93EF-F318-7BF9-3C12-17D4AFF2A4DB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0AF134-591D-315F-055F-F90B640523E3}"/>
              </a:ext>
            </a:extLst>
          </p:cNvPr>
          <p:cNvSpPr txBox="1"/>
          <p:nvPr/>
        </p:nvSpPr>
        <p:spPr>
          <a:xfrm>
            <a:off x="1079500" y="1625600"/>
            <a:ext cx="63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3ADC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3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1676709-90CD-6D87-D911-F46D7109833A}"/>
              </a:ext>
            </a:extLst>
          </p:cNvPr>
          <p:cNvSpPr txBox="1"/>
          <p:nvPr/>
        </p:nvSpPr>
        <p:spPr>
          <a:xfrm>
            <a:off x="1968500" y="1625600"/>
            <a:ext cx="787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6F8FF"/>
                </a:solidFill>
                <a:latin typeface="Microsoft YaHei" panose="020B0503020204020204" pitchFamily="34" charset="-122"/>
              </a:rPr>
              <a:t>项目目标与应用场景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BF0891-A8D5-741E-3410-ED953B1789F8}"/>
              </a:ext>
            </a:extLst>
          </p:cNvPr>
          <p:cNvSpPr txBox="1"/>
          <p:nvPr/>
        </p:nvSpPr>
        <p:spPr>
          <a:xfrm>
            <a:off x="1079500" y="2336800"/>
            <a:ext cx="63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3ADC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3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266AB40-979A-EA00-4CB1-7EEEDAF07C74}"/>
              </a:ext>
            </a:extLst>
          </p:cNvPr>
          <p:cNvSpPr txBox="1"/>
          <p:nvPr/>
        </p:nvSpPr>
        <p:spPr>
          <a:xfrm>
            <a:off x="1968500" y="2336800"/>
            <a:ext cx="787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6F8FF"/>
                </a:solidFill>
                <a:latin typeface="Microsoft YaHei" panose="020B0503020204020204" pitchFamily="34" charset="-122"/>
              </a:rPr>
              <a:t>应用方式、方法与核心数据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B14A7DE-DC56-88C8-17DB-93B8F38F604B}"/>
              </a:ext>
            </a:extLst>
          </p:cNvPr>
          <p:cNvSpPr txBox="1"/>
          <p:nvPr/>
        </p:nvSpPr>
        <p:spPr>
          <a:xfrm>
            <a:off x="1079500" y="3048000"/>
            <a:ext cx="63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3ADC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3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05534CD-49FA-CA14-13FE-EA9D49653330}"/>
              </a:ext>
            </a:extLst>
          </p:cNvPr>
          <p:cNvSpPr txBox="1"/>
          <p:nvPr/>
        </p:nvSpPr>
        <p:spPr>
          <a:xfrm>
            <a:off x="1968500" y="3048000"/>
            <a:ext cx="787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6F8FF"/>
                </a:solidFill>
                <a:latin typeface="Microsoft YaHei" panose="020B0503020204020204" pitchFamily="34" charset="-122"/>
              </a:rPr>
              <a:t>系统架构与技术实现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EE344E1-08E3-7293-511E-516175883763}"/>
              </a:ext>
            </a:extLst>
          </p:cNvPr>
          <p:cNvSpPr txBox="1"/>
          <p:nvPr/>
        </p:nvSpPr>
        <p:spPr>
          <a:xfrm>
            <a:off x="1079500" y="3759200"/>
            <a:ext cx="63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3ADC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3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E3EF0F-B0EA-2E20-2827-93D97CE8AB56}"/>
              </a:ext>
            </a:extLst>
          </p:cNvPr>
          <p:cNvSpPr txBox="1"/>
          <p:nvPr/>
        </p:nvSpPr>
        <p:spPr>
          <a:xfrm>
            <a:off x="1968500" y="3759200"/>
            <a:ext cx="787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6F8FF"/>
                </a:solidFill>
                <a:latin typeface="Microsoft YaHei" panose="020B0503020204020204" pitchFamily="34" charset="-122"/>
              </a:rPr>
              <a:t>工作亮点与项目价值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60BDFAC-3EA4-0DED-45A6-7F5C35C797DA}"/>
              </a:ext>
            </a:extLst>
          </p:cNvPr>
          <p:cNvSpPr txBox="1"/>
          <p:nvPr/>
        </p:nvSpPr>
        <p:spPr>
          <a:xfrm>
            <a:off x="1079500" y="4470400"/>
            <a:ext cx="63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3ADCFF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3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F43E55F-7C92-D045-AE39-C2F20A9A6A01}"/>
              </a:ext>
            </a:extLst>
          </p:cNvPr>
          <p:cNvSpPr txBox="1"/>
          <p:nvPr/>
        </p:nvSpPr>
        <p:spPr>
          <a:xfrm>
            <a:off x="1968500" y="4470400"/>
            <a:ext cx="787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6F8FF"/>
                </a:solidFill>
                <a:latin typeface="Microsoft YaHei" panose="020B0503020204020204" pitchFamily="34" charset="-122"/>
              </a:rPr>
              <a:t>问题复盘与改进方向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9D0CB4-5898-822D-185C-8618C8F696A8}"/>
              </a:ext>
            </a:extLst>
          </p:cNvPr>
          <p:cNvSpPr txBox="1"/>
          <p:nvPr/>
        </p:nvSpPr>
        <p:spPr>
          <a:xfrm>
            <a:off x="1079500" y="5181600"/>
            <a:ext cx="63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3ADCFF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13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26F9029-B435-BAD3-6D6E-857F73384117}"/>
              </a:ext>
            </a:extLst>
          </p:cNvPr>
          <p:cNvSpPr txBox="1"/>
          <p:nvPr/>
        </p:nvSpPr>
        <p:spPr>
          <a:xfrm>
            <a:off x="1968500" y="5181600"/>
            <a:ext cx="787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6F8FF"/>
                </a:solidFill>
                <a:latin typeface="Microsoft YaHei" panose="020B0503020204020204" pitchFamily="34" charset="-122"/>
              </a:rPr>
              <a:t>下季度计划与结尾感谢</a:t>
            </a:r>
          </a:p>
        </p:txBody>
      </p:sp>
    </p:spTree>
    <p:extLst>
      <p:ext uri="{BB962C8B-B14F-4D97-AF65-F5344CB8AC3E}">
        <p14:creationId xmlns:p14="http://schemas.microsoft.com/office/powerpoint/2010/main" val="1545195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E8CF4B-7F34-91B2-4A37-AD69EB6501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D75FFD5-5B39-C65D-17F5-46B61B61D472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FF67D9A-876F-C5ED-68E7-CE9B54D2E93A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9742CBC-551A-C42F-359D-88154263CD29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A55E7C-D54F-3CCF-9D70-D60CD22D21E3}"/>
              </a:ext>
            </a:extLst>
          </p:cNvPr>
          <p:cNvSpPr txBox="1"/>
          <p:nvPr/>
        </p:nvSpPr>
        <p:spPr>
          <a:xfrm>
            <a:off x="698500" y="381000"/>
            <a:ext cx="965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F6F8FF"/>
                </a:solidFill>
                <a:latin typeface="Microsoft YaHei" panose="020B0503020204020204" pitchFamily="34" charset="-122"/>
              </a:rPr>
              <a:t>项目目标与应用场景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D57F7B-F600-D8D4-8AB8-D266A7781C41}"/>
              </a:ext>
            </a:extLst>
          </p:cNvPr>
          <p:cNvSpPr txBox="1"/>
          <p:nvPr/>
        </p:nvSpPr>
        <p:spPr>
          <a:xfrm>
            <a:off x="723900" y="927100"/>
            <a:ext cx="965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目标不是做一个单纯聊天框，而是做一个能理解指令并执行任务的 </a:t>
            </a:r>
            <a:r>
              <a:rPr lang="en-US" altLang="zh-CN" sz="100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应用入口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5ACBE3-60E4-3E24-4219-A3F6783EA564}"/>
              </a:ext>
            </a:extLst>
          </p:cNvPr>
          <p:cNvSpPr/>
          <p:nvPr/>
        </p:nvSpPr>
        <p:spPr>
          <a:xfrm>
            <a:off x="723900" y="1346200"/>
            <a:ext cx="11684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29867E-1B4F-5629-D185-608F2DDACAB2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133BEC-672F-FCF0-A812-EFB9C93C5C36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B2E596B-81F9-FBF1-9287-37D101148F1D}"/>
              </a:ext>
            </a:extLst>
          </p:cNvPr>
          <p:cNvSpPr/>
          <p:nvPr/>
        </p:nvSpPr>
        <p:spPr>
          <a:xfrm>
            <a:off x="762000" y="1651000"/>
            <a:ext cx="3302000" cy="1397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345E07-0179-4A33-8BA8-29761E5BDE2A}"/>
              </a:ext>
            </a:extLst>
          </p:cNvPr>
          <p:cNvSpPr/>
          <p:nvPr/>
        </p:nvSpPr>
        <p:spPr>
          <a:xfrm>
            <a:off x="762000" y="1651000"/>
            <a:ext cx="76200" cy="13970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151A9E4-6F7A-2CD9-6F9B-EE4D88E7CFC6}"/>
              </a:ext>
            </a:extLst>
          </p:cNvPr>
          <p:cNvSpPr txBox="1"/>
          <p:nvPr/>
        </p:nvSpPr>
        <p:spPr>
          <a:xfrm>
            <a:off x="965200" y="1778000"/>
            <a:ext cx="292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初始目标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CA5C95A-5681-E182-BC02-E2D100DE7353}"/>
              </a:ext>
            </a:extLst>
          </p:cNvPr>
          <p:cNvSpPr txBox="1"/>
          <p:nvPr/>
        </p:nvSpPr>
        <p:spPr>
          <a:xfrm>
            <a:off x="965200" y="2184400"/>
            <a:ext cx="29464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自然语言交互
语音识别与唤醒
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问答与创作
常用工具一键调用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9C2772A-22E2-E219-837B-3522F5585D22}"/>
              </a:ext>
            </a:extLst>
          </p:cNvPr>
          <p:cNvSpPr/>
          <p:nvPr/>
        </p:nvSpPr>
        <p:spPr>
          <a:xfrm>
            <a:off x="4445000" y="1651000"/>
            <a:ext cx="3302000" cy="1397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14DDE1E-27CE-8A23-6777-496290C70C7F}"/>
              </a:ext>
            </a:extLst>
          </p:cNvPr>
          <p:cNvSpPr/>
          <p:nvPr/>
        </p:nvSpPr>
        <p:spPr>
          <a:xfrm>
            <a:off x="4445000" y="1651000"/>
            <a:ext cx="76200" cy="13970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2DDFF1-8292-51A2-FBE5-8AF9EAE4FE10}"/>
              </a:ext>
            </a:extLst>
          </p:cNvPr>
          <p:cNvSpPr txBox="1"/>
          <p:nvPr/>
        </p:nvSpPr>
        <p:spPr>
          <a:xfrm>
            <a:off x="4648200" y="1778000"/>
            <a:ext cx="292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用户场景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D3332D7-442E-3E05-BECA-CD2A4E63D29A}"/>
              </a:ext>
            </a:extLst>
          </p:cNvPr>
          <p:cNvSpPr txBox="1"/>
          <p:nvPr/>
        </p:nvSpPr>
        <p:spPr>
          <a:xfrm>
            <a:off x="4648200" y="2184400"/>
            <a:ext cx="29464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查天气、听音乐
问美食、讲故事
生成图片、划词翻译
打开本机应用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325DF57-20AC-E672-17B9-6D8DB04D59B0}"/>
              </a:ext>
            </a:extLst>
          </p:cNvPr>
          <p:cNvSpPr/>
          <p:nvPr/>
        </p:nvSpPr>
        <p:spPr>
          <a:xfrm>
            <a:off x="8128000" y="1651000"/>
            <a:ext cx="3302000" cy="1397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DCC060-63E4-9CBF-B43F-965B9D7094FE}"/>
              </a:ext>
            </a:extLst>
          </p:cNvPr>
          <p:cNvSpPr/>
          <p:nvPr/>
        </p:nvSpPr>
        <p:spPr>
          <a:xfrm>
            <a:off x="8128000" y="1651000"/>
            <a:ext cx="76200" cy="13970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ADFF240-0E7C-28B7-0D70-3F710FE26C0D}"/>
              </a:ext>
            </a:extLst>
          </p:cNvPr>
          <p:cNvSpPr txBox="1"/>
          <p:nvPr/>
        </p:nvSpPr>
        <p:spPr>
          <a:xfrm>
            <a:off x="8331200" y="1778000"/>
            <a:ext cx="292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项目定位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CC295FC-C7A1-B771-4BEA-B748246359C4}"/>
              </a:ext>
            </a:extLst>
          </p:cNvPr>
          <p:cNvSpPr txBox="1"/>
          <p:nvPr/>
        </p:nvSpPr>
        <p:spPr>
          <a:xfrm>
            <a:off x="8331200" y="2184400"/>
            <a:ext cx="29464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个人桌面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助手
智能音箱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原型
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多功能工作台雏形
课程设计展示项目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985E5F8-34E9-C72B-4FBD-BF83387AAD22}"/>
              </a:ext>
            </a:extLst>
          </p:cNvPr>
          <p:cNvSpPr txBox="1"/>
          <p:nvPr/>
        </p:nvSpPr>
        <p:spPr>
          <a:xfrm>
            <a:off x="1143000" y="3873500"/>
            <a:ext cx="9906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b="1">
                <a:solidFill>
                  <a:srgbClr val="F6F8FF"/>
                </a:solidFill>
                <a:latin typeface="Microsoft YaHei" panose="020B0503020204020204" pitchFamily="34" charset="-122"/>
              </a:rPr>
              <a:t>一句话总结：小文智能 </a:t>
            </a:r>
            <a:r>
              <a:rPr lang="en-US" altLang="zh-CN" b="1">
                <a:solidFill>
                  <a:srgbClr val="F6F8FF"/>
                </a:solidFill>
                <a:latin typeface="Microsoft YaHei" panose="020B0503020204020204" pitchFamily="34" charset="-122"/>
              </a:rPr>
              <a:t>APP </a:t>
            </a:r>
            <a:r>
              <a:rPr lang="zh-CN" altLang="en-US" b="1">
                <a:solidFill>
                  <a:srgbClr val="F6F8FF"/>
                </a:solidFill>
                <a:latin typeface="Microsoft YaHei" panose="020B0503020204020204" pitchFamily="34" charset="-122"/>
              </a:rPr>
              <a:t>将“</a:t>
            </a:r>
            <a:r>
              <a:rPr lang="en-US" altLang="zh-CN" b="1">
                <a:solidFill>
                  <a:srgbClr val="F6F8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b="1">
                <a:solidFill>
                  <a:srgbClr val="F6F8FF"/>
                </a:solidFill>
                <a:latin typeface="Microsoft YaHei" panose="020B0503020204020204" pitchFamily="34" charset="-122"/>
              </a:rPr>
              <a:t>能力”包装成用户可以直接使用的生活与桌面助手。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1B5BCD3-5A4F-E4B7-A2DA-2FCDD0EBE163}"/>
              </a:ext>
            </a:extLst>
          </p:cNvPr>
          <p:cNvSpPr/>
          <p:nvPr/>
        </p:nvSpPr>
        <p:spPr>
          <a:xfrm>
            <a:off x="1168400" y="4724400"/>
            <a:ext cx="2286000" cy="88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EFCB2BA-F03F-7155-BBDB-569C922CDB5F}"/>
              </a:ext>
            </a:extLst>
          </p:cNvPr>
          <p:cNvSpPr/>
          <p:nvPr/>
        </p:nvSpPr>
        <p:spPr>
          <a:xfrm>
            <a:off x="1168400" y="4724400"/>
            <a:ext cx="76200" cy="8890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E9F783-7533-DB24-167D-B2393A728A6D}"/>
              </a:ext>
            </a:extLst>
          </p:cNvPr>
          <p:cNvSpPr txBox="1"/>
          <p:nvPr/>
        </p:nvSpPr>
        <p:spPr>
          <a:xfrm>
            <a:off x="1371600" y="4851400"/>
            <a:ext cx="1905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能听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B26CF02-ABCD-A98B-3CFC-41C4E6771D2E}"/>
              </a:ext>
            </a:extLst>
          </p:cNvPr>
          <p:cNvSpPr txBox="1"/>
          <p:nvPr/>
        </p:nvSpPr>
        <p:spPr>
          <a:xfrm>
            <a:off x="1371600" y="5257800"/>
            <a:ext cx="1930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语音识别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唤醒词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0B40D92-19D0-ABE8-3051-0871ACA020BF}"/>
              </a:ext>
            </a:extLst>
          </p:cNvPr>
          <p:cNvSpPr/>
          <p:nvPr/>
        </p:nvSpPr>
        <p:spPr>
          <a:xfrm>
            <a:off x="3708400" y="4724400"/>
            <a:ext cx="2286000" cy="88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3DCCA5-02E2-F715-4C35-881056CFCCC8}"/>
              </a:ext>
            </a:extLst>
          </p:cNvPr>
          <p:cNvSpPr/>
          <p:nvPr/>
        </p:nvSpPr>
        <p:spPr>
          <a:xfrm>
            <a:off x="3708400" y="4724400"/>
            <a:ext cx="76200" cy="8890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52008BB-76CF-E5C8-54D4-156E5BC78395}"/>
              </a:ext>
            </a:extLst>
          </p:cNvPr>
          <p:cNvSpPr txBox="1"/>
          <p:nvPr/>
        </p:nvSpPr>
        <p:spPr>
          <a:xfrm>
            <a:off x="3911600" y="4851400"/>
            <a:ext cx="1905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能聊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C0B9CF9-660F-4639-E676-CD2E60497719}"/>
              </a:ext>
            </a:extLst>
          </p:cNvPr>
          <p:cNvSpPr txBox="1"/>
          <p:nvPr/>
        </p:nvSpPr>
        <p:spPr>
          <a:xfrm>
            <a:off x="3911600" y="5257800"/>
            <a:ext cx="1930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多轮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对话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651DEB70-09A8-87DA-C8EC-45595CD5E1E5}"/>
              </a:ext>
            </a:extLst>
          </p:cNvPr>
          <p:cNvSpPr/>
          <p:nvPr/>
        </p:nvSpPr>
        <p:spPr>
          <a:xfrm>
            <a:off x="6248400" y="4724400"/>
            <a:ext cx="2286000" cy="88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FC42502-F845-60C9-17DF-0C798A91896F}"/>
              </a:ext>
            </a:extLst>
          </p:cNvPr>
          <p:cNvSpPr/>
          <p:nvPr/>
        </p:nvSpPr>
        <p:spPr>
          <a:xfrm>
            <a:off x="6248400" y="4724400"/>
            <a:ext cx="76200" cy="8890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F3D4425-ACED-9F14-CF0E-0860E3D8A95A}"/>
              </a:ext>
            </a:extLst>
          </p:cNvPr>
          <p:cNvSpPr txBox="1"/>
          <p:nvPr/>
        </p:nvSpPr>
        <p:spPr>
          <a:xfrm>
            <a:off x="6451600" y="4851400"/>
            <a:ext cx="1905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能做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C9D3F99-52ED-15E3-2080-09A201DF50A5}"/>
              </a:ext>
            </a:extLst>
          </p:cNvPr>
          <p:cNvSpPr txBox="1"/>
          <p:nvPr/>
        </p:nvSpPr>
        <p:spPr>
          <a:xfrm>
            <a:off x="6451600" y="5257800"/>
            <a:ext cx="1930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调用服务与工具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2E12097-2BF2-3D2D-74B0-F8DB7E4A2298}"/>
              </a:ext>
            </a:extLst>
          </p:cNvPr>
          <p:cNvSpPr/>
          <p:nvPr/>
        </p:nvSpPr>
        <p:spPr>
          <a:xfrm>
            <a:off x="8788400" y="4724400"/>
            <a:ext cx="2286000" cy="88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9FAE424-0598-71E3-ED2B-123D6F4A0246}"/>
              </a:ext>
            </a:extLst>
          </p:cNvPr>
          <p:cNvSpPr/>
          <p:nvPr/>
        </p:nvSpPr>
        <p:spPr>
          <a:xfrm>
            <a:off x="8788400" y="4724400"/>
            <a:ext cx="76200" cy="889000"/>
          </a:xfrm>
          <a:prstGeom prst="rect">
            <a:avLst/>
          </a:prstGeom>
          <a:solidFill>
            <a:srgbClr val="FFB4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8415940-DB29-82D7-D9B7-680F5792E10A}"/>
              </a:ext>
            </a:extLst>
          </p:cNvPr>
          <p:cNvSpPr txBox="1"/>
          <p:nvPr/>
        </p:nvSpPr>
        <p:spPr>
          <a:xfrm>
            <a:off x="8991600" y="4851400"/>
            <a:ext cx="1905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能展示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D6D2CA1-58E8-DD46-BDC2-7D7AE6999BE4}"/>
              </a:ext>
            </a:extLst>
          </p:cNvPr>
          <p:cNvSpPr txBox="1"/>
          <p:nvPr/>
        </p:nvSpPr>
        <p:spPr>
          <a:xfrm>
            <a:off x="8991600" y="5257800"/>
            <a:ext cx="1930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卡片反馈与日志</a:t>
            </a:r>
          </a:p>
        </p:txBody>
      </p:sp>
    </p:spTree>
    <p:extLst>
      <p:ext uri="{BB962C8B-B14F-4D97-AF65-F5344CB8AC3E}">
        <p14:creationId xmlns:p14="http://schemas.microsoft.com/office/powerpoint/2010/main" val="229807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AA2F279-5923-AAE4-04E5-2B3B53E8EC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F9E81B7-2899-9971-C558-38CB227AEE53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3E99104-7337-F3E0-91EB-6B89B1F681EA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233F13A-DA7A-70CB-B1EB-3565649EA90E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9307B1-3D09-336D-5987-33EF55C7A871}"/>
              </a:ext>
            </a:extLst>
          </p:cNvPr>
          <p:cNvSpPr txBox="1"/>
          <p:nvPr/>
        </p:nvSpPr>
        <p:spPr>
          <a:xfrm>
            <a:off x="698500" y="381000"/>
            <a:ext cx="965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F6F8FF"/>
                </a:solidFill>
                <a:latin typeface="Microsoft YaHei" panose="020B0503020204020204" pitchFamily="34" charset="-122"/>
              </a:rPr>
              <a:t>应用方式、方法与核心数据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039E12-1408-34D4-9441-A6E7190B6508}"/>
              </a:ext>
            </a:extLst>
          </p:cNvPr>
          <p:cNvSpPr txBox="1"/>
          <p:nvPr/>
        </p:nvSpPr>
        <p:spPr>
          <a:xfrm>
            <a:off x="723900" y="927100"/>
            <a:ext cx="965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通过统一指令入口，把用户输入转换为可执行的功能调用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1F4632-5332-BE2B-942B-895CC21F1550}"/>
              </a:ext>
            </a:extLst>
          </p:cNvPr>
          <p:cNvSpPr/>
          <p:nvPr/>
        </p:nvSpPr>
        <p:spPr>
          <a:xfrm>
            <a:off x="723900" y="1346200"/>
            <a:ext cx="11684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497710-8831-4801-6C93-36C2DE0F4E30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A3975A2-59AA-C97E-EBFA-91246F996482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3F10409-C22D-2490-FED4-E7FA32EB7139}"/>
              </a:ext>
            </a:extLst>
          </p:cNvPr>
          <p:cNvSpPr/>
          <p:nvPr/>
        </p:nvSpPr>
        <p:spPr>
          <a:xfrm>
            <a:off x="762000" y="1600200"/>
            <a:ext cx="24130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2185C3-F46D-DE32-2315-46BCC1FEC457}"/>
              </a:ext>
            </a:extLst>
          </p:cNvPr>
          <p:cNvSpPr/>
          <p:nvPr/>
        </p:nvSpPr>
        <p:spPr>
          <a:xfrm>
            <a:off x="762000" y="1600200"/>
            <a:ext cx="76200" cy="11176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E672C8E-9F47-9E0A-3D25-D39A9293D1BF}"/>
              </a:ext>
            </a:extLst>
          </p:cNvPr>
          <p:cNvSpPr txBox="1"/>
          <p:nvPr/>
        </p:nvSpPr>
        <p:spPr>
          <a:xfrm>
            <a:off x="965200" y="17272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1 </a:t>
            </a:r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输入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4C060BC-837B-4E02-AED6-1774DDB361D0}"/>
              </a:ext>
            </a:extLst>
          </p:cNvPr>
          <p:cNvSpPr txBox="1"/>
          <p:nvPr/>
        </p:nvSpPr>
        <p:spPr>
          <a:xfrm>
            <a:off x="965200" y="2133600"/>
            <a:ext cx="205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文字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语音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示例按钮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34ECD61-AE28-5BDB-9961-7E8620AA4B5B}"/>
              </a:ext>
            </a:extLst>
          </p:cNvPr>
          <p:cNvSpPr/>
          <p:nvPr/>
        </p:nvSpPr>
        <p:spPr>
          <a:xfrm>
            <a:off x="3556000" y="1600200"/>
            <a:ext cx="24130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5ED4F03-7406-43B7-2B7D-39E33C931EBB}"/>
              </a:ext>
            </a:extLst>
          </p:cNvPr>
          <p:cNvSpPr/>
          <p:nvPr/>
        </p:nvSpPr>
        <p:spPr>
          <a:xfrm>
            <a:off x="3556000" y="1600200"/>
            <a:ext cx="76200" cy="11176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44316C3-4606-4837-2664-85758DEF5A89}"/>
              </a:ext>
            </a:extLst>
          </p:cNvPr>
          <p:cNvSpPr txBox="1"/>
          <p:nvPr/>
        </p:nvSpPr>
        <p:spPr>
          <a:xfrm>
            <a:off x="3759200" y="17272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2 </a:t>
            </a:r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识别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62671E5-8137-EE99-06BD-2A4D969BFA34}"/>
              </a:ext>
            </a:extLst>
          </p:cNvPr>
          <p:cNvSpPr txBox="1"/>
          <p:nvPr/>
        </p:nvSpPr>
        <p:spPr>
          <a:xfrm>
            <a:off x="3759200" y="2133600"/>
            <a:ext cx="205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意图判断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模式路由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1A0DDDA-A928-1C14-9EEE-E29A56BA62C4}"/>
              </a:ext>
            </a:extLst>
          </p:cNvPr>
          <p:cNvSpPr/>
          <p:nvPr/>
        </p:nvSpPr>
        <p:spPr>
          <a:xfrm>
            <a:off x="6350000" y="1600200"/>
            <a:ext cx="24130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39B7777-A45E-D8EF-9BFD-7785AF78DBBF}"/>
              </a:ext>
            </a:extLst>
          </p:cNvPr>
          <p:cNvSpPr/>
          <p:nvPr/>
        </p:nvSpPr>
        <p:spPr>
          <a:xfrm>
            <a:off x="6350000" y="1600200"/>
            <a:ext cx="76200" cy="11176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257BBB6-9761-BC05-E868-887EE3DACC2D}"/>
              </a:ext>
            </a:extLst>
          </p:cNvPr>
          <p:cNvSpPr txBox="1"/>
          <p:nvPr/>
        </p:nvSpPr>
        <p:spPr>
          <a:xfrm>
            <a:off x="6553200" y="17272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调用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C542A0E-1D0D-B793-D15E-611F64C9ABAD}"/>
              </a:ext>
            </a:extLst>
          </p:cNvPr>
          <p:cNvSpPr txBox="1"/>
          <p:nvPr/>
        </p:nvSpPr>
        <p:spPr>
          <a:xfrm>
            <a:off x="6553200" y="2133600"/>
            <a:ext cx="205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AI 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天气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音乐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图片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应用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4FC8254-AEDB-CAD6-DEC2-F87CE413A333}"/>
              </a:ext>
            </a:extLst>
          </p:cNvPr>
          <p:cNvSpPr/>
          <p:nvPr/>
        </p:nvSpPr>
        <p:spPr>
          <a:xfrm>
            <a:off x="9144000" y="1600200"/>
            <a:ext cx="24130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DD4AE-1032-60CE-58F2-F3EBEFD6911F}"/>
              </a:ext>
            </a:extLst>
          </p:cNvPr>
          <p:cNvSpPr/>
          <p:nvPr/>
        </p:nvSpPr>
        <p:spPr>
          <a:xfrm>
            <a:off x="9144000" y="1600200"/>
            <a:ext cx="76200" cy="11176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BC4DB78-05BD-E0F8-5956-4BBF171CAED4}"/>
              </a:ext>
            </a:extLst>
          </p:cNvPr>
          <p:cNvSpPr txBox="1"/>
          <p:nvPr/>
        </p:nvSpPr>
        <p:spPr>
          <a:xfrm>
            <a:off x="9347200" y="17272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展示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2705740-6167-E112-FEBC-43C98DD731F0}"/>
              </a:ext>
            </a:extLst>
          </p:cNvPr>
          <p:cNvSpPr txBox="1"/>
          <p:nvPr/>
        </p:nvSpPr>
        <p:spPr>
          <a:xfrm>
            <a:off x="9347200" y="2133600"/>
            <a:ext cx="205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卡片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朗读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日志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70D926F-5744-75CB-7E88-ED120DA1E091}"/>
              </a:ext>
            </a:extLst>
          </p:cNvPr>
          <p:cNvSpPr/>
          <p:nvPr/>
        </p:nvSpPr>
        <p:spPr>
          <a:xfrm>
            <a:off x="1016000" y="3403600"/>
            <a:ext cx="2159000" cy="939800"/>
          </a:xfrm>
          <a:prstGeom prst="roundRect">
            <a:avLst/>
          </a:prstGeom>
          <a:solidFill>
            <a:srgbClr val="1F2C56"/>
          </a:solidFill>
          <a:ln>
            <a:solidFill>
              <a:srgbClr val="3AD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876FDD2-2CC7-1B8F-7296-E11237FBF79E}"/>
              </a:ext>
            </a:extLst>
          </p:cNvPr>
          <p:cNvSpPr txBox="1"/>
          <p:nvPr/>
        </p:nvSpPr>
        <p:spPr>
          <a:xfrm>
            <a:off x="1117600" y="35052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3ADCFF"/>
                </a:solidFill>
                <a:latin typeface="Microsoft YaHei" panose="020B0503020204020204" pitchFamily="34" charset="-122"/>
              </a:rPr>
              <a:t>12+</a:t>
            </a:r>
            <a:endParaRPr lang="zh-CN" altLang="en-US" sz="20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7067953-8B80-88B1-33C8-33E693870FF4}"/>
              </a:ext>
            </a:extLst>
          </p:cNvPr>
          <p:cNvSpPr txBox="1"/>
          <p:nvPr/>
        </p:nvSpPr>
        <p:spPr>
          <a:xfrm>
            <a:off x="1117600" y="3975100"/>
            <a:ext cx="1955800" cy="2200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30">
                <a:solidFill>
                  <a:srgbClr val="B2C0E1"/>
                </a:solidFill>
                <a:latin typeface="Microsoft YaHei" panose="020B0503020204020204" pitchFamily="34" charset="-122"/>
              </a:rPr>
              <a:t>核心功能点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1D4ED71-9B81-13F9-77D3-CDCDC9239B2A}"/>
              </a:ext>
            </a:extLst>
          </p:cNvPr>
          <p:cNvSpPr/>
          <p:nvPr/>
        </p:nvSpPr>
        <p:spPr>
          <a:xfrm>
            <a:off x="3619500" y="3403600"/>
            <a:ext cx="2159000" cy="939800"/>
          </a:xfrm>
          <a:prstGeom prst="roundRect">
            <a:avLst/>
          </a:prstGeom>
          <a:solidFill>
            <a:srgbClr val="1F2C56"/>
          </a:solidFill>
          <a:ln>
            <a:solidFill>
              <a:srgbClr val="4CE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6BBCEFE-5B2A-A8A0-E129-EB57179EAB54}"/>
              </a:ext>
            </a:extLst>
          </p:cNvPr>
          <p:cNvSpPr txBox="1"/>
          <p:nvPr/>
        </p:nvSpPr>
        <p:spPr>
          <a:xfrm>
            <a:off x="3721100" y="35052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4CE6AA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4CE6A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F5924B1-A18C-785F-EDC4-3CAB98D51086}"/>
              </a:ext>
            </a:extLst>
          </p:cNvPr>
          <p:cNvSpPr txBox="1"/>
          <p:nvPr/>
        </p:nvSpPr>
        <p:spPr>
          <a:xfrm>
            <a:off x="3721100" y="3975100"/>
            <a:ext cx="1955800" cy="2200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30">
                <a:solidFill>
                  <a:srgbClr val="B2C0E1"/>
                </a:solidFill>
                <a:latin typeface="Microsoft YaHei" panose="020B0503020204020204" pitchFamily="34" charset="-122"/>
              </a:rPr>
              <a:t>核心后端接口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EDD7495-CFE4-682E-3617-D2CDA97269CF}"/>
              </a:ext>
            </a:extLst>
          </p:cNvPr>
          <p:cNvSpPr/>
          <p:nvPr/>
        </p:nvSpPr>
        <p:spPr>
          <a:xfrm>
            <a:off x="6223000" y="3403600"/>
            <a:ext cx="2159000" cy="939800"/>
          </a:xfrm>
          <a:prstGeom prst="roundRect">
            <a:avLst/>
          </a:prstGeom>
          <a:solidFill>
            <a:srgbClr val="1F2C56"/>
          </a:solidFill>
          <a:ln>
            <a:solidFill>
              <a:srgbClr val="9B5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173E194-38CC-B90C-FC63-3942A6ADB37D}"/>
              </a:ext>
            </a:extLst>
          </p:cNvPr>
          <p:cNvSpPr txBox="1"/>
          <p:nvPr/>
        </p:nvSpPr>
        <p:spPr>
          <a:xfrm>
            <a:off x="6324600" y="35052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9B5CFF"/>
                </a:solidFill>
                <a:latin typeface="Microsoft YaHei" panose="020B0503020204020204" pitchFamily="34" charset="-122"/>
              </a:rPr>
              <a:t>10+</a:t>
            </a:r>
            <a:endParaRPr lang="zh-CN" altLang="en-US" sz="2000" b="1">
              <a:solidFill>
                <a:srgbClr val="9B5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2889308-3D7C-7A34-F13F-715272F813F1}"/>
              </a:ext>
            </a:extLst>
          </p:cNvPr>
          <p:cNvSpPr txBox="1"/>
          <p:nvPr/>
        </p:nvSpPr>
        <p:spPr>
          <a:xfrm>
            <a:off x="6324600" y="3975100"/>
            <a:ext cx="1955800" cy="2200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30">
                <a:solidFill>
                  <a:srgbClr val="B2C0E1"/>
                </a:solidFill>
                <a:latin typeface="Microsoft YaHei" panose="020B0503020204020204" pitchFamily="34" charset="-122"/>
              </a:rPr>
              <a:t>前端组件模块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6423602-7FD5-7843-F557-2C2C09A8C24A}"/>
              </a:ext>
            </a:extLst>
          </p:cNvPr>
          <p:cNvSpPr/>
          <p:nvPr/>
        </p:nvSpPr>
        <p:spPr>
          <a:xfrm>
            <a:off x="8826500" y="3403600"/>
            <a:ext cx="2159000" cy="939800"/>
          </a:xfrm>
          <a:prstGeom prst="roundRect">
            <a:avLst/>
          </a:prstGeom>
          <a:solidFill>
            <a:srgbClr val="1F2C56"/>
          </a:solidFill>
          <a:ln>
            <a:solidFill>
              <a:srgbClr val="FFB4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7B05D05-6C09-AE3C-7523-F1E9D4E4DB37}"/>
              </a:ext>
            </a:extLst>
          </p:cNvPr>
          <p:cNvSpPr txBox="1"/>
          <p:nvPr/>
        </p:nvSpPr>
        <p:spPr>
          <a:xfrm>
            <a:off x="8928100" y="35052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FFB45A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2000" b="1">
              <a:solidFill>
                <a:srgbClr val="FFB45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6153B2A-77CF-8244-D646-389FFC4A414B}"/>
              </a:ext>
            </a:extLst>
          </p:cNvPr>
          <p:cNvSpPr txBox="1"/>
          <p:nvPr/>
        </p:nvSpPr>
        <p:spPr>
          <a:xfrm>
            <a:off x="8928100" y="3975100"/>
            <a:ext cx="1955800" cy="2200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30">
                <a:solidFill>
                  <a:srgbClr val="B2C0E1"/>
                </a:solidFill>
                <a:latin typeface="Microsoft YaHei" panose="020B0503020204020204" pitchFamily="34" charset="-122"/>
              </a:rPr>
              <a:t>上下文消息保留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9DF3F7AD-D803-B85D-12F5-5EE61E37DDD8}"/>
              </a:ext>
            </a:extLst>
          </p:cNvPr>
          <p:cNvSpPr/>
          <p:nvPr/>
        </p:nvSpPr>
        <p:spPr>
          <a:xfrm>
            <a:off x="1143000" y="4953000"/>
            <a:ext cx="3111500" cy="9398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FFACA13-9B23-8185-DC52-A4ABD6B8F7D8}"/>
              </a:ext>
            </a:extLst>
          </p:cNvPr>
          <p:cNvSpPr/>
          <p:nvPr/>
        </p:nvSpPr>
        <p:spPr>
          <a:xfrm>
            <a:off x="1143000" y="4953000"/>
            <a:ext cx="76200" cy="9398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CB9A532-B2EA-4CD0-3499-798730DD8372}"/>
              </a:ext>
            </a:extLst>
          </p:cNvPr>
          <p:cNvSpPr txBox="1"/>
          <p:nvPr/>
        </p:nvSpPr>
        <p:spPr>
          <a:xfrm>
            <a:off x="1346200" y="50800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前端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00BCEE0-6785-3292-970C-200019638972}"/>
              </a:ext>
            </a:extLst>
          </p:cNvPr>
          <p:cNvSpPr txBox="1"/>
          <p:nvPr/>
        </p:nvSpPr>
        <p:spPr>
          <a:xfrm>
            <a:off x="1346200" y="54864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React + Vite +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组件化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+ localStorage</a:t>
            </a:r>
            <a:endParaRPr lang="zh-CN" altLang="en-US" sz="930">
              <a:solidFill>
                <a:srgbClr val="B2C0E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94ABC1CD-5626-FB32-D62D-3F30EF537B6E}"/>
              </a:ext>
            </a:extLst>
          </p:cNvPr>
          <p:cNvSpPr/>
          <p:nvPr/>
        </p:nvSpPr>
        <p:spPr>
          <a:xfrm>
            <a:off x="4546600" y="4953000"/>
            <a:ext cx="3111500" cy="9398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21962A7-6453-FFC2-CB26-DE5DC3C37C43}"/>
              </a:ext>
            </a:extLst>
          </p:cNvPr>
          <p:cNvSpPr/>
          <p:nvPr/>
        </p:nvSpPr>
        <p:spPr>
          <a:xfrm>
            <a:off x="4546600" y="4953000"/>
            <a:ext cx="76200" cy="9398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2D44EBB-C524-3AF9-3A17-4DB4F02374FC}"/>
              </a:ext>
            </a:extLst>
          </p:cNvPr>
          <p:cNvSpPr txBox="1"/>
          <p:nvPr/>
        </p:nvSpPr>
        <p:spPr>
          <a:xfrm>
            <a:off x="4749800" y="50800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后端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E6A55AE-7DD6-83C1-B0B2-48743D6C47E5}"/>
              </a:ext>
            </a:extLst>
          </p:cNvPr>
          <p:cNvSpPr txBox="1"/>
          <p:nvPr/>
        </p:nvSpPr>
        <p:spPr>
          <a:xfrm>
            <a:off x="4749800" y="54864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Flask +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统一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API +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第三方服务编排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FEEC2AA6-F6D6-1572-8085-1D580C55E823}"/>
              </a:ext>
            </a:extLst>
          </p:cNvPr>
          <p:cNvSpPr/>
          <p:nvPr/>
        </p:nvSpPr>
        <p:spPr>
          <a:xfrm>
            <a:off x="7950200" y="4953000"/>
            <a:ext cx="3111500" cy="9398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CB0662B-E70F-CC67-39BE-AADB5A9DE9DC}"/>
              </a:ext>
            </a:extLst>
          </p:cNvPr>
          <p:cNvSpPr/>
          <p:nvPr/>
        </p:nvSpPr>
        <p:spPr>
          <a:xfrm>
            <a:off x="7950200" y="4953000"/>
            <a:ext cx="76200" cy="9398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F819D6C-2AD4-C4D4-30E0-548E57139156}"/>
              </a:ext>
            </a:extLst>
          </p:cNvPr>
          <p:cNvSpPr txBox="1"/>
          <p:nvPr/>
        </p:nvSpPr>
        <p:spPr>
          <a:xfrm>
            <a:off x="8153400" y="50800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AI</a:t>
            </a:r>
            <a:endParaRPr lang="zh-CN" altLang="en-US" sz="1150" b="1">
              <a:solidFill>
                <a:srgbClr val="F6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AA86A38-091A-E6F8-1AF1-DB3B2D4A94D6}"/>
              </a:ext>
            </a:extLst>
          </p:cNvPr>
          <p:cNvSpPr txBox="1"/>
          <p:nvPr/>
        </p:nvSpPr>
        <p:spPr>
          <a:xfrm>
            <a:off x="8153400" y="54864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DashScope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对话模型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文生图任务</a:t>
            </a:r>
          </a:p>
        </p:txBody>
      </p:sp>
    </p:spTree>
    <p:extLst>
      <p:ext uri="{BB962C8B-B14F-4D97-AF65-F5344CB8AC3E}">
        <p14:creationId xmlns:p14="http://schemas.microsoft.com/office/powerpoint/2010/main" val="2997160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2CBACC0-081B-DB1F-1179-65460EEBDF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9D783BE-0E28-1951-FBF5-055BDEA239AA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6108FCE-4988-EFDC-4CD0-5052440EB2BA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C56EEC8-6FDD-A247-ABB9-30C7DB42C8D3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104B2A-88FB-56F6-952C-9D24FF703D56}"/>
              </a:ext>
            </a:extLst>
          </p:cNvPr>
          <p:cNvSpPr txBox="1"/>
          <p:nvPr/>
        </p:nvSpPr>
        <p:spPr>
          <a:xfrm>
            <a:off x="698500" y="381000"/>
            <a:ext cx="965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F6F8FF"/>
                </a:solidFill>
                <a:latin typeface="Microsoft YaHei" panose="020B0503020204020204" pitchFamily="34" charset="-122"/>
              </a:rPr>
              <a:t>系统架构与技术实现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6C8420-1E03-A37A-8FAD-524A99EC5987}"/>
              </a:ext>
            </a:extLst>
          </p:cNvPr>
          <p:cNvSpPr txBox="1"/>
          <p:nvPr/>
        </p:nvSpPr>
        <p:spPr>
          <a:xfrm>
            <a:off x="723900" y="927100"/>
            <a:ext cx="965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前端负责体验，后端负责调度，外部服务提供 </a:t>
            </a:r>
            <a:r>
              <a:rPr lang="en-US" altLang="zh-CN" sz="100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与生活能力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DD3C4C-ACF3-CB1D-DAE9-254F4A4C2DF7}"/>
              </a:ext>
            </a:extLst>
          </p:cNvPr>
          <p:cNvSpPr/>
          <p:nvPr/>
        </p:nvSpPr>
        <p:spPr>
          <a:xfrm>
            <a:off x="723900" y="1346200"/>
            <a:ext cx="11684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57DC-1322-DAA7-549A-73E802E5069F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449CBB-E8CF-BC07-1711-F8186FD97156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B41927D-B1AD-7BD7-88F2-13CCD8959BDC}"/>
              </a:ext>
            </a:extLst>
          </p:cNvPr>
          <p:cNvSpPr/>
          <p:nvPr/>
        </p:nvSpPr>
        <p:spPr>
          <a:xfrm>
            <a:off x="698500" y="1651000"/>
            <a:ext cx="2413000" cy="342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01F8345-C237-B2EB-DEA5-D881E1115CCA}"/>
              </a:ext>
            </a:extLst>
          </p:cNvPr>
          <p:cNvSpPr/>
          <p:nvPr/>
        </p:nvSpPr>
        <p:spPr>
          <a:xfrm>
            <a:off x="698500" y="1651000"/>
            <a:ext cx="76200" cy="34290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7F438B-1EA6-4A1C-86A3-CAC295F2600F}"/>
              </a:ext>
            </a:extLst>
          </p:cNvPr>
          <p:cNvSpPr txBox="1"/>
          <p:nvPr/>
        </p:nvSpPr>
        <p:spPr>
          <a:xfrm>
            <a:off x="901700" y="17780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用户交互层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26E9A8A-A14A-66BD-C290-D2921C41FC63}"/>
              </a:ext>
            </a:extLst>
          </p:cNvPr>
          <p:cNvSpPr txBox="1"/>
          <p:nvPr/>
        </p:nvSpPr>
        <p:spPr>
          <a:xfrm>
            <a:off x="901700" y="2184400"/>
            <a:ext cx="2057400" cy="8079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文字输入
语音识别
唤醒词
示例指令
划词工具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C37F731-D7A3-96E1-195B-9BB8A601B669}"/>
              </a:ext>
            </a:extLst>
          </p:cNvPr>
          <p:cNvSpPr/>
          <p:nvPr/>
        </p:nvSpPr>
        <p:spPr>
          <a:xfrm>
            <a:off x="3530600" y="1651000"/>
            <a:ext cx="2413000" cy="342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592148-89E9-31A1-5781-13FA817E18CA}"/>
              </a:ext>
            </a:extLst>
          </p:cNvPr>
          <p:cNvSpPr/>
          <p:nvPr/>
        </p:nvSpPr>
        <p:spPr>
          <a:xfrm>
            <a:off x="3530600" y="1651000"/>
            <a:ext cx="76200" cy="34290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7008DC6-2CA2-0120-C0C7-1D4E3F6A01F0}"/>
              </a:ext>
            </a:extLst>
          </p:cNvPr>
          <p:cNvSpPr txBox="1"/>
          <p:nvPr/>
        </p:nvSpPr>
        <p:spPr>
          <a:xfrm>
            <a:off x="3733800" y="17780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前端展示层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F032CB4-3367-CCB1-6287-590847F4E99E}"/>
              </a:ext>
            </a:extLst>
          </p:cNvPr>
          <p:cNvSpPr txBox="1"/>
          <p:nvPr/>
        </p:nvSpPr>
        <p:spPr>
          <a:xfrm>
            <a:off x="3733800" y="2184400"/>
            <a:ext cx="2057400" cy="8079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ChatPanel
WeatherCard
MusicPlayer
ImagePreview
LogPanel</a:t>
            </a:r>
            <a:endParaRPr lang="zh-CN" altLang="en-US" sz="930">
              <a:solidFill>
                <a:srgbClr val="B2C0E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0A0B019-7B7F-36BD-A302-7D3ABF339B81}"/>
              </a:ext>
            </a:extLst>
          </p:cNvPr>
          <p:cNvSpPr/>
          <p:nvPr/>
        </p:nvSpPr>
        <p:spPr>
          <a:xfrm>
            <a:off x="6362700" y="1651000"/>
            <a:ext cx="2413000" cy="342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2CDC23-C569-D21D-F010-A99ECC5B7A87}"/>
              </a:ext>
            </a:extLst>
          </p:cNvPr>
          <p:cNvSpPr/>
          <p:nvPr/>
        </p:nvSpPr>
        <p:spPr>
          <a:xfrm>
            <a:off x="6362700" y="1651000"/>
            <a:ext cx="76200" cy="34290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3C9922F-B00E-38E7-6A42-8263A65E664C}"/>
              </a:ext>
            </a:extLst>
          </p:cNvPr>
          <p:cNvSpPr txBox="1"/>
          <p:nvPr/>
        </p:nvSpPr>
        <p:spPr>
          <a:xfrm>
            <a:off x="6565900" y="17780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后端调度层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BC3865C-B4B8-DAD0-EBE2-9EBE59984EAB}"/>
              </a:ext>
            </a:extLst>
          </p:cNvPr>
          <p:cNvSpPr txBox="1"/>
          <p:nvPr/>
        </p:nvSpPr>
        <p:spPr>
          <a:xfrm>
            <a:off x="6565900" y="2184400"/>
            <a:ext cx="2057400" cy="8079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Flask API
parse_command
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上下文管理
白名单启动
错误兜底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54694BB-77D6-C768-C517-EF7E4D0E8FA7}"/>
              </a:ext>
            </a:extLst>
          </p:cNvPr>
          <p:cNvSpPr/>
          <p:nvPr/>
        </p:nvSpPr>
        <p:spPr>
          <a:xfrm>
            <a:off x="9194800" y="1651000"/>
            <a:ext cx="2413000" cy="342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041E6FC-5290-726F-7B82-A1DE6C510964}"/>
              </a:ext>
            </a:extLst>
          </p:cNvPr>
          <p:cNvSpPr/>
          <p:nvPr/>
        </p:nvSpPr>
        <p:spPr>
          <a:xfrm>
            <a:off x="9194800" y="1651000"/>
            <a:ext cx="76200" cy="34290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853A2A0-6E1D-E218-D58C-DC1A5C3D5768}"/>
              </a:ext>
            </a:extLst>
          </p:cNvPr>
          <p:cNvSpPr txBox="1"/>
          <p:nvPr/>
        </p:nvSpPr>
        <p:spPr>
          <a:xfrm>
            <a:off x="9398000" y="17780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外部能力层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B7E3B2C-BF02-CA1D-4848-7762706F20BD}"/>
              </a:ext>
            </a:extLst>
          </p:cNvPr>
          <p:cNvSpPr txBox="1"/>
          <p:nvPr/>
        </p:nvSpPr>
        <p:spPr>
          <a:xfrm>
            <a:off x="9398000" y="2184400"/>
            <a:ext cx="2057400" cy="8079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DashScope
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高德天气
网易云接口
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Windows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应用
浏览器语音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33B565-675E-20FB-A35F-EE1B80BD8D39}"/>
              </a:ext>
            </a:extLst>
          </p:cNvPr>
          <p:cNvSpPr txBox="1"/>
          <p:nvPr/>
        </p:nvSpPr>
        <p:spPr>
          <a:xfrm>
            <a:off x="1016000" y="5689600"/>
            <a:ext cx="1016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F6F8FF"/>
                </a:solidFill>
                <a:latin typeface="Microsoft YaHei" panose="020B0503020204020204" pitchFamily="34" charset="-122"/>
              </a:rPr>
              <a:t>统一返回 </a:t>
            </a:r>
            <a:r>
              <a:rPr lang="en-US" altLang="zh-CN" sz="1300" b="1">
                <a:solidFill>
                  <a:srgbClr val="F6F8FF"/>
                </a:solidFill>
                <a:latin typeface="Microsoft YaHei" panose="020B0503020204020204" pitchFamily="34" charset="-122"/>
              </a:rPr>
              <a:t>type </a:t>
            </a:r>
            <a:r>
              <a:rPr lang="zh-CN" altLang="en-US" sz="1300" b="1">
                <a:solidFill>
                  <a:srgbClr val="F6F8FF"/>
                </a:solidFill>
                <a:latin typeface="Microsoft YaHei" panose="020B0503020204020204" pitchFamily="34" charset="-122"/>
              </a:rPr>
              <a:t>字段，由前端根据 </a:t>
            </a:r>
            <a:r>
              <a:rPr lang="en-US" altLang="zh-CN" sz="1300" b="1">
                <a:solidFill>
                  <a:srgbClr val="F6F8FF"/>
                </a:solidFill>
                <a:latin typeface="Microsoft YaHei" panose="020B0503020204020204" pitchFamily="34" charset="-122"/>
              </a:rPr>
              <a:t>type </a:t>
            </a:r>
            <a:r>
              <a:rPr lang="zh-CN" altLang="en-US" sz="1300" b="1">
                <a:solidFill>
                  <a:srgbClr val="F6F8FF"/>
                </a:solidFill>
                <a:latin typeface="Microsoft YaHei" panose="020B0503020204020204" pitchFamily="34" charset="-122"/>
              </a:rPr>
              <a:t>切换聊天、天气、音乐、图片等展示组件。</a:t>
            </a:r>
          </a:p>
        </p:txBody>
      </p:sp>
    </p:spTree>
    <p:extLst>
      <p:ext uri="{BB962C8B-B14F-4D97-AF65-F5344CB8AC3E}">
        <p14:creationId xmlns:p14="http://schemas.microsoft.com/office/powerpoint/2010/main" val="1509349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34BEFB3-D2A8-C1E8-BC35-F1B83BB28F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15C9347-1A42-B310-F5FD-5E47AD4D52BE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5716E84-01D8-4ED6-8B1F-D3896DDBE4B7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1900CD7-3803-9B16-9581-E11DF37EC5FC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D785DF-76F1-792E-5D3A-95C073AA2E0A}"/>
              </a:ext>
            </a:extLst>
          </p:cNvPr>
          <p:cNvSpPr txBox="1"/>
          <p:nvPr/>
        </p:nvSpPr>
        <p:spPr>
          <a:xfrm>
            <a:off x="698500" y="381000"/>
            <a:ext cx="965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F6F8FF"/>
                </a:solidFill>
                <a:latin typeface="Microsoft YaHei" panose="020B0503020204020204" pitchFamily="34" charset="-122"/>
              </a:rPr>
              <a:t>工作亮点与项目价值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C2A2AB-AAD6-2D6B-72B8-9ACC25425B6F}"/>
              </a:ext>
            </a:extLst>
          </p:cNvPr>
          <p:cNvSpPr txBox="1"/>
          <p:nvPr/>
        </p:nvSpPr>
        <p:spPr>
          <a:xfrm>
            <a:off x="723900" y="927100"/>
            <a:ext cx="965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围绕 </a:t>
            </a:r>
            <a:r>
              <a:rPr lang="en-US" altLang="zh-CN" sz="100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应用可用性，完成了从“能回复”到“能执行”的能力升级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9A6100-BFC2-CA04-268A-A530E5C70579}"/>
              </a:ext>
            </a:extLst>
          </p:cNvPr>
          <p:cNvSpPr/>
          <p:nvPr/>
        </p:nvSpPr>
        <p:spPr>
          <a:xfrm>
            <a:off x="723900" y="1346200"/>
            <a:ext cx="11684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4546B2D-0EBD-ED75-D2BF-21A5FCC08125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FF47F1-42B5-28B2-596A-EB5959882FFC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287B47E-515B-5710-7695-6259367B80CA}"/>
              </a:ext>
            </a:extLst>
          </p:cNvPr>
          <p:cNvSpPr/>
          <p:nvPr/>
        </p:nvSpPr>
        <p:spPr>
          <a:xfrm>
            <a:off x="762000" y="1600200"/>
            <a:ext cx="4953000" cy="990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65B98F-527C-8B7C-D17F-E6AA10463AC8}"/>
              </a:ext>
            </a:extLst>
          </p:cNvPr>
          <p:cNvSpPr/>
          <p:nvPr/>
        </p:nvSpPr>
        <p:spPr>
          <a:xfrm>
            <a:off x="762000" y="1600200"/>
            <a:ext cx="76200" cy="9906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A3C922E-3387-8427-C81D-032042AEC34B}"/>
              </a:ext>
            </a:extLst>
          </p:cNvPr>
          <p:cNvSpPr txBox="1"/>
          <p:nvPr/>
        </p:nvSpPr>
        <p:spPr>
          <a:xfrm>
            <a:off x="965200" y="1727200"/>
            <a:ext cx="457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多轮对话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08CC99F-28D2-2EA7-C6BE-D2A6A33D225F}"/>
              </a:ext>
            </a:extLst>
          </p:cNvPr>
          <p:cNvSpPr txBox="1"/>
          <p:nvPr/>
        </p:nvSpPr>
        <p:spPr>
          <a:xfrm>
            <a:off x="965200" y="2133600"/>
            <a:ext cx="459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能理解“这些美食在哪能吃到”这类连续追问。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DF82C10-363B-AA9A-B8FC-CC703F6DC14D}"/>
              </a:ext>
            </a:extLst>
          </p:cNvPr>
          <p:cNvSpPr/>
          <p:nvPr/>
        </p:nvSpPr>
        <p:spPr>
          <a:xfrm>
            <a:off x="6223000" y="1600200"/>
            <a:ext cx="4953000" cy="990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A734B3-9C54-4EF4-F55A-A9473C8157D4}"/>
              </a:ext>
            </a:extLst>
          </p:cNvPr>
          <p:cNvSpPr/>
          <p:nvPr/>
        </p:nvSpPr>
        <p:spPr>
          <a:xfrm>
            <a:off x="6223000" y="1600200"/>
            <a:ext cx="76200" cy="9906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B095B59-12F9-CD6D-67AE-06BF24A81C96}"/>
              </a:ext>
            </a:extLst>
          </p:cNvPr>
          <p:cNvSpPr txBox="1"/>
          <p:nvPr/>
        </p:nvSpPr>
        <p:spPr>
          <a:xfrm>
            <a:off x="6426200" y="1727200"/>
            <a:ext cx="457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语音体验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2466C7A-566A-5876-186B-2231C706E5F8}"/>
              </a:ext>
            </a:extLst>
          </p:cNvPr>
          <p:cNvSpPr txBox="1"/>
          <p:nvPr/>
        </p:nvSpPr>
        <p:spPr>
          <a:xfrm>
            <a:off x="6426200" y="2133600"/>
            <a:ext cx="459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支持语音识别、唤醒词和回复朗读。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FAFA14D-CA91-D18A-C2A8-8AA4DD58E28F}"/>
              </a:ext>
            </a:extLst>
          </p:cNvPr>
          <p:cNvSpPr/>
          <p:nvPr/>
        </p:nvSpPr>
        <p:spPr>
          <a:xfrm>
            <a:off x="762000" y="2933700"/>
            <a:ext cx="4953000" cy="990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34A7055-B8B1-239E-5C04-93A523D38415}"/>
              </a:ext>
            </a:extLst>
          </p:cNvPr>
          <p:cNvSpPr/>
          <p:nvPr/>
        </p:nvSpPr>
        <p:spPr>
          <a:xfrm>
            <a:off x="762000" y="2933700"/>
            <a:ext cx="76200" cy="9906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262C73B-A93A-DB9A-2AD1-8D2CB4544934}"/>
              </a:ext>
            </a:extLst>
          </p:cNvPr>
          <p:cNvSpPr txBox="1"/>
          <p:nvPr/>
        </p:nvSpPr>
        <p:spPr>
          <a:xfrm>
            <a:off x="965200" y="3060700"/>
            <a:ext cx="457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创作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7B33873-9ED0-660D-3897-F6283C634BEA}"/>
              </a:ext>
            </a:extLst>
          </p:cNvPr>
          <p:cNvSpPr txBox="1"/>
          <p:nvPr/>
        </p:nvSpPr>
        <p:spPr>
          <a:xfrm>
            <a:off x="965200" y="3467100"/>
            <a:ext cx="459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对话与文生图打通，支持文字生成图片。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690FCA7-8E00-8FDF-1728-DE69D45B7E0D}"/>
              </a:ext>
            </a:extLst>
          </p:cNvPr>
          <p:cNvSpPr/>
          <p:nvPr/>
        </p:nvSpPr>
        <p:spPr>
          <a:xfrm>
            <a:off x="6223000" y="2933700"/>
            <a:ext cx="4953000" cy="990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AFF00EF-D260-2CC8-9309-9D2C1E696AD8}"/>
              </a:ext>
            </a:extLst>
          </p:cNvPr>
          <p:cNvSpPr/>
          <p:nvPr/>
        </p:nvSpPr>
        <p:spPr>
          <a:xfrm>
            <a:off x="6223000" y="2933700"/>
            <a:ext cx="76200" cy="9906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D7AF259-3EAB-67BE-10EB-E2FBB9FD42B3}"/>
              </a:ext>
            </a:extLst>
          </p:cNvPr>
          <p:cNvSpPr txBox="1"/>
          <p:nvPr/>
        </p:nvSpPr>
        <p:spPr>
          <a:xfrm>
            <a:off x="6426200" y="3060700"/>
            <a:ext cx="457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异步反馈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31BAD61-E9BB-D7C8-1CEB-43ADD521A210}"/>
              </a:ext>
            </a:extLst>
          </p:cNvPr>
          <p:cNvSpPr txBox="1"/>
          <p:nvPr/>
        </p:nvSpPr>
        <p:spPr>
          <a:xfrm>
            <a:off x="6426200" y="3467100"/>
            <a:ext cx="459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图片生成采用任务轮询，减少等待焦虑。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95AAED3-1CAD-9C7E-5B7F-3F958BFE56CE}"/>
              </a:ext>
            </a:extLst>
          </p:cNvPr>
          <p:cNvSpPr/>
          <p:nvPr/>
        </p:nvSpPr>
        <p:spPr>
          <a:xfrm>
            <a:off x="762000" y="4267200"/>
            <a:ext cx="4953000" cy="990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1605DF-9864-5765-DB66-50B5300EFC24}"/>
              </a:ext>
            </a:extLst>
          </p:cNvPr>
          <p:cNvSpPr/>
          <p:nvPr/>
        </p:nvSpPr>
        <p:spPr>
          <a:xfrm>
            <a:off x="762000" y="4267200"/>
            <a:ext cx="76200" cy="990600"/>
          </a:xfrm>
          <a:prstGeom prst="rect">
            <a:avLst/>
          </a:prstGeom>
          <a:solidFill>
            <a:srgbClr val="FFB4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5932D49-7C57-9248-CE4F-7E3F261CAC9C}"/>
              </a:ext>
            </a:extLst>
          </p:cNvPr>
          <p:cNvSpPr txBox="1"/>
          <p:nvPr/>
        </p:nvSpPr>
        <p:spPr>
          <a:xfrm>
            <a:off x="965200" y="4394200"/>
            <a:ext cx="457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桌面控制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7ACA2AC-B8A9-8C1C-C0BD-2446C519D294}"/>
              </a:ext>
            </a:extLst>
          </p:cNvPr>
          <p:cNvSpPr txBox="1"/>
          <p:nvPr/>
        </p:nvSpPr>
        <p:spPr>
          <a:xfrm>
            <a:off x="965200" y="4800600"/>
            <a:ext cx="459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白名单方式打开本机应用，安全可控。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082CB1A-C031-871E-E296-5BDF59B49FE1}"/>
              </a:ext>
            </a:extLst>
          </p:cNvPr>
          <p:cNvSpPr/>
          <p:nvPr/>
        </p:nvSpPr>
        <p:spPr>
          <a:xfrm>
            <a:off x="6223000" y="4267200"/>
            <a:ext cx="4953000" cy="990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AD7F22A-5B13-0672-7A0A-4EE5AC694F7E}"/>
              </a:ext>
            </a:extLst>
          </p:cNvPr>
          <p:cNvSpPr/>
          <p:nvPr/>
        </p:nvSpPr>
        <p:spPr>
          <a:xfrm>
            <a:off x="6223000" y="4267200"/>
            <a:ext cx="76200" cy="990600"/>
          </a:xfrm>
          <a:prstGeom prst="rect">
            <a:avLst/>
          </a:prstGeom>
          <a:solidFill>
            <a:srgbClr val="FF5C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CAAE0D1-9785-5713-06FB-76BF79DC5144}"/>
              </a:ext>
            </a:extLst>
          </p:cNvPr>
          <p:cNvSpPr txBox="1"/>
          <p:nvPr/>
        </p:nvSpPr>
        <p:spPr>
          <a:xfrm>
            <a:off x="6426200" y="4394200"/>
            <a:ext cx="457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可扩展架构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8214C86-85DF-52C6-930D-72FC596DB06C}"/>
              </a:ext>
            </a:extLst>
          </p:cNvPr>
          <p:cNvSpPr txBox="1"/>
          <p:nvPr/>
        </p:nvSpPr>
        <p:spPr>
          <a:xfrm>
            <a:off x="6426200" y="4800600"/>
            <a:ext cx="459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组件化前端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统一后端路由，便于新增能力。</a:t>
            </a:r>
          </a:p>
        </p:txBody>
      </p:sp>
    </p:spTree>
    <p:extLst>
      <p:ext uri="{BB962C8B-B14F-4D97-AF65-F5344CB8AC3E}">
        <p14:creationId xmlns:p14="http://schemas.microsoft.com/office/powerpoint/2010/main" val="2522320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BB8A020-5482-6B67-D996-AB337D8B84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8616F9B-B90C-4C39-B5BE-1EDF393D528B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758740E-552D-7626-D56A-41DC42E6516B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A81DFF6-12E6-C6BF-5B40-3365C6643A28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5FCED5-D322-868C-D66E-CEB01B22A9D1}"/>
              </a:ext>
            </a:extLst>
          </p:cNvPr>
          <p:cNvSpPr txBox="1"/>
          <p:nvPr/>
        </p:nvSpPr>
        <p:spPr>
          <a:xfrm>
            <a:off x="698500" y="381000"/>
            <a:ext cx="965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F6F8FF"/>
                </a:solidFill>
                <a:latin typeface="Microsoft YaHei" panose="020B0503020204020204" pitchFamily="34" charset="-122"/>
              </a:rPr>
              <a:t>问题复盘与改进方向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8F7C97-EDFF-D47F-B95E-620AB9EB3F2F}"/>
              </a:ext>
            </a:extLst>
          </p:cNvPr>
          <p:cNvSpPr txBox="1"/>
          <p:nvPr/>
        </p:nvSpPr>
        <p:spPr>
          <a:xfrm>
            <a:off x="723900" y="927100"/>
            <a:ext cx="965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当前版本可演示核心能力，下一步重点提升稳定性、智能化和工程化水平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3C67CB-558A-DBF8-07D1-A0AC4B2599FE}"/>
              </a:ext>
            </a:extLst>
          </p:cNvPr>
          <p:cNvSpPr/>
          <p:nvPr/>
        </p:nvSpPr>
        <p:spPr>
          <a:xfrm>
            <a:off x="723900" y="1346200"/>
            <a:ext cx="11684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A2048C-D3E0-F239-B5FD-06CF38878963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0C68A0-21A3-111C-2516-95CAFBDC1E3B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AB837D-70F2-8364-0E2C-F7838FA62246}"/>
              </a:ext>
            </a:extLst>
          </p:cNvPr>
          <p:cNvSpPr/>
          <p:nvPr/>
        </p:nvSpPr>
        <p:spPr>
          <a:xfrm>
            <a:off x="825500" y="1625600"/>
            <a:ext cx="2032000" cy="5334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7D202D4-12FD-7FFA-E040-8E25519FACDA}"/>
              </a:ext>
            </a:extLst>
          </p:cNvPr>
          <p:cNvSpPr/>
          <p:nvPr/>
        </p:nvSpPr>
        <p:spPr>
          <a:xfrm>
            <a:off x="825500" y="1625600"/>
            <a:ext cx="76200" cy="5334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93A4F5-FEDB-E91B-35EB-0316193E1AED}"/>
              </a:ext>
            </a:extLst>
          </p:cNvPr>
          <p:cNvSpPr txBox="1"/>
          <p:nvPr/>
        </p:nvSpPr>
        <p:spPr>
          <a:xfrm>
            <a:off x="1028700" y="1752600"/>
            <a:ext cx="165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意图识别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3A1698C-8C24-4079-856B-8C64FAFDAA25}"/>
              </a:ext>
            </a:extLst>
          </p:cNvPr>
          <p:cNvSpPr txBox="1"/>
          <p:nvPr/>
        </p:nvSpPr>
        <p:spPr>
          <a:xfrm>
            <a:off x="3429000" y="1727200"/>
            <a:ext cx="304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规则判断为主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020E658-0103-1E9E-B3E7-C89CC866F5F2}"/>
              </a:ext>
            </a:extLst>
          </p:cNvPr>
          <p:cNvSpPr txBox="1"/>
          <p:nvPr/>
        </p:nvSpPr>
        <p:spPr>
          <a:xfrm>
            <a:off x="7112000" y="1727200"/>
            <a:ext cx="3937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F6F8FF"/>
                </a:solidFill>
                <a:latin typeface="Microsoft YaHei" panose="020B0503020204020204" pitchFamily="34" charset="-122"/>
              </a:rPr>
              <a:t>引入大模型意图分类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83FF2F7-290B-580B-79B2-BBCB30663A59}"/>
              </a:ext>
            </a:extLst>
          </p:cNvPr>
          <p:cNvSpPr/>
          <p:nvPr/>
        </p:nvSpPr>
        <p:spPr>
          <a:xfrm>
            <a:off x="825500" y="2413000"/>
            <a:ext cx="2032000" cy="5334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5C940F-A274-40BC-C640-596134965289}"/>
              </a:ext>
            </a:extLst>
          </p:cNvPr>
          <p:cNvSpPr/>
          <p:nvPr/>
        </p:nvSpPr>
        <p:spPr>
          <a:xfrm>
            <a:off x="825500" y="2413000"/>
            <a:ext cx="76200" cy="5334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FD45511-1D2D-CD7F-5EC3-54A378CA92D6}"/>
              </a:ext>
            </a:extLst>
          </p:cNvPr>
          <p:cNvSpPr txBox="1"/>
          <p:nvPr/>
        </p:nvSpPr>
        <p:spPr>
          <a:xfrm>
            <a:off x="1028700" y="2540000"/>
            <a:ext cx="165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音乐播放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E4F6B7C-0E5A-E37E-4B3F-26503B4D9389}"/>
              </a:ext>
            </a:extLst>
          </p:cNvPr>
          <p:cNvSpPr txBox="1"/>
          <p:nvPr/>
        </p:nvSpPr>
        <p:spPr>
          <a:xfrm>
            <a:off x="3429000" y="2514600"/>
            <a:ext cx="304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受版权和外链限制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65C835A-424C-58CA-D3BF-71F34160B869}"/>
              </a:ext>
            </a:extLst>
          </p:cNvPr>
          <p:cNvSpPr txBox="1"/>
          <p:nvPr/>
        </p:nvSpPr>
        <p:spPr>
          <a:xfrm>
            <a:off x="7112000" y="2514600"/>
            <a:ext cx="3937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F6F8FF"/>
                </a:solidFill>
                <a:latin typeface="Microsoft YaHei" panose="020B0503020204020204" pitchFamily="34" charset="-122"/>
              </a:rPr>
              <a:t>增加合法音乐源与失败重试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FAB9D36-4B37-2CC0-80EE-0C34FB1C79B9}"/>
              </a:ext>
            </a:extLst>
          </p:cNvPr>
          <p:cNvSpPr/>
          <p:nvPr/>
        </p:nvSpPr>
        <p:spPr>
          <a:xfrm>
            <a:off x="825500" y="3200400"/>
            <a:ext cx="2032000" cy="5334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D5E37A9-996D-4A02-8B18-087D3B405E08}"/>
              </a:ext>
            </a:extLst>
          </p:cNvPr>
          <p:cNvSpPr/>
          <p:nvPr/>
        </p:nvSpPr>
        <p:spPr>
          <a:xfrm>
            <a:off x="825500" y="3200400"/>
            <a:ext cx="76200" cy="5334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8BA11EE-4EFE-0E99-B7BB-1664C508633B}"/>
              </a:ext>
            </a:extLst>
          </p:cNvPr>
          <p:cNvSpPr txBox="1"/>
          <p:nvPr/>
        </p:nvSpPr>
        <p:spPr>
          <a:xfrm>
            <a:off x="1028700" y="3327400"/>
            <a:ext cx="165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语音能力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976E8C7-26DB-5623-F5D8-D1F71D963AE4}"/>
              </a:ext>
            </a:extLst>
          </p:cNvPr>
          <p:cNvSpPr txBox="1"/>
          <p:nvPr/>
        </p:nvSpPr>
        <p:spPr>
          <a:xfrm>
            <a:off x="3429000" y="3302000"/>
            <a:ext cx="304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依赖浏览器支持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43F3E60-D0F3-7532-BAF6-67A4430224E9}"/>
              </a:ext>
            </a:extLst>
          </p:cNvPr>
          <p:cNvSpPr txBox="1"/>
          <p:nvPr/>
        </p:nvSpPr>
        <p:spPr>
          <a:xfrm>
            <a:off x="7112000" y="3302000"/>
            <a:ext cx="3937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F6F8FF"/>
                </a:solidFill>
                <a:latin typeface="Microsoft YaHei" panose="020B0503020204020204" pitchFamily="34" charset="-122"/>
              </a:rPr>
              <a:t>加入纠错、语速和自动朗读配置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A63414C-0BC5-4995-AC18-8E5075F9F65F}"/>
              </a:ext>
            </a:extLst>
          </p:cNvPr>
          <p:cNvSpPr/>
          <p:nvPr/>
        </p:nvSpPr>
        <p:spPr>
          <a:xfrm>
            <a:off x="825500" y="3987800"/>
            <a:ext cx="2032000" cy="5334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2FBE5AC-0FCE-EBC1-361C-44ED93A58421}"/>
              </a:ext>
            </a:extLst>
          </p:cNvPr>
          <p:cNvSpPr/>
          <p:nvPr/>
        </p:nvSpPr>
        <p:spPr>
          <a:xfrm>
            <a:off x="825500" y="3987800"/>
            <a:ext cx="76200" cy="5334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13ADE7A-BD15-964D-74F8-854267C6EC37}"/>
              </a:ext>
            </a:extLst>
          </p:cNvPr>
          <p:cNvSpPr txBox="1"/>
          <p:nvPr/>
        </p:nvSpPr>
        <p:spPr>
          <a:xfrm>
            <a:off x="1028700" y="4114800"/>
            <a:ext cx="165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后端结构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DDCCE0B-87DE-7EC7-97A3-A3D586D84F6C}"/>
              </a:ext>
            </a:extLst>
          </p:cNvPr>
          <p:cNvSpPr txBox="1"/>
          <p:nvPr/>
        </p:nvSpPr>
        <p:spPr>
          <a:xfrm>
            <a:off x="3429000" y="4089400"/>
            <a:ext cx="304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逻辑集中在 </a:t>
            </a:r>
            <a:r>
              <a:rPr lang="en-US" altLang="zh-CN" sz="1000">
                <a:solidFill>
                  <a:srgbClr val="B2C0E1"/>
                </a:solidFill>
                <a:latin typeface="Microsoft YaHei" panose="020B0503020204020204" pitchFamily="34" charset="-122"/>
              </a:rPr>
              <a:t>app.py</a:t>
            </a:r>
            <a:endParaRPr lang="zh-CN" altLang="en-US" sz="1000">
              <a:solidFill>
                <a:srgbClr val="B2C0E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CF9CB74-A7D9-B997-C0E9-546A28FDDF6B}"/>
              </a:ext>
            </a:extLst>
          </p:cNvPr>
          <p:cNvSpPr txBox="1"/>
          <p:nvPr/>
        </p:nvSpPr>
        <p:spPr>
          <a:xfrm>
            <a:off x="7112000" y="4089400"/>
            <a:ext cx="3937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F6F8FF"/>
                </a:solidFill>
                <a:latin typeface="Microsoft YaHei" panose="020B0503020204020204" pitchFamily="34" charset="-122"/>
              </a:rPr>
              <a:t>拆分 </a:t>
            </a:r>
            <a:r>
              <a:rPr lang="en-US" altLang="zh-CN" sz="1000" b="1">
                <a:solidFill>
                  <a:srgbClr val="F6F8FF"/>
                </a:solidFill>
                <a:latin typeface="Microsoft YaHei" panose="020B0503020204020204" pitchFamily="34" charset="-122"/>
              </a:rPr>
              <a:t>services / utils / config</a:t>
            </a:r>
            <a:endParaRPr lang="zh-CN" altLang="en-US" sz="1000" b="1">
              <a:solidFill>
                <a:srgbClr val="F6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C9B08E6-6900-5468-6723-CBF58D59D9FF}"/>
              </a:ext>
            </a:extLst>
          </p:cNvPr>
          <p:cNvSpPr/>
          <p:nvPr/>
        </p:nvSpPr>
        <p:spPr>
          <a:xfrm>
            <a:off x="825500" y="4775200"/>
            <a:ext cx="2032000" cy="5334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C9840CA-F857-A434-36EE-8C075CAC3D9C}"/>
              </a:ext>
            </a:extLst>
          </p:cNvPr>
          <p:cNvSpPr/>
          <p:nvPr/>
        </p:nvSpPr>
        <p:spPr>
          <a:xfrm>
            <a:off x="825500" y="4775200"/>
            <a:ext cx="76200" cy="533400"/>
          </a:xfrm>
          <a:prstGeom prst="rect">
            <a:avLst/>
          </a:prstGeom>
          <a:solidFill>
            <a:srgbClr val="FFB4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BAA8FB0-A4BE-2034-A628-D6B2242BB91F}"/>
              </a:ext>
            </a:extLst>
          </p:cNvPr>
          <p:cNvSpPr txBox="1"/>
          <p:nvPr/>
        </p:nvSpPr>
        <p:spPr>
          <a:xfrm>
            <a:off x="1028700" y="4902200"/>
            <a:ext cx="165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部署形态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3482DD1-7D38-F9C1-B093-F84D36CD14CE}"/>
              </a:ext>
            </a:extLst>
          </p:cNvPr>
          <p:cNvSpPr txBox="1"/>
          <p:nvPr/>
        </p:nvSpPr>
        <p:spPr>
          <a:xfrm>
            <a:off x="3429000" y="4876800"/>
            <a:ext cx="304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本地开发模式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F75EC5F-B7E1-8371-6954-55AAE62B11BC}"/>
              </a:ext>
            </a:extLst>
          </p:cNvPr>
          <p:cNvSpPr txBox="1"/>
          <p:nvPr/>
        </p:nvSpPr>
        <p:spPr>
          <a:xfrm>
            <a:off x="7112000" y="4876800"/>
            <a:ext cx="3937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F6F8FF"/>
                </a:solidFill>
                <a:latin typeface="Microsoft YaHei" panose="020B0503020204020204" pitchFamily="34" charset="-122"/>
              </a:rPr>
              <a:t>增加生产配置、日志和部署脚本</a:t>
            </a:r>
          </a:p>
        </p:txBody>
      </p:sp>
    </p:spTree>
    <p:extLst>
      <p:ext uri="{BB962C8B-B14F-4D97-AF65-F5344CB8AC3E}">
        <p14:creationId xmlns:p14="http://schemas.microsoft.com/office/powerpoint/2010/main" val="1659074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0CD2131-80C5-B7D0-2ED0-34AAA67CF6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AC47C5C-CBF2-0A2D-B022-3B84906205EF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4DDB89B-AD79-2816-FCF9-8FCF3B152648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7AE35E2-F53C-33AD-1372-8E59A64FEA86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926724-9F73-447E-CE48-24431B5297F8}"/>
              </a:ext>
            </a:extLst>
          </p:cNvPr>
          <p:cNvSpPr txBox="1"/>
          <p:nvPr/>
        </p:nvSpPr>
        <p:spPr>
          <a:xfrm>
            <a:off x="698500" y="381000"/>
            <a:ext cx="965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F6F8FF"/>
                </a:solidFill>
                <a:latin typeface="Microsoft YaHei" panose="020B0503020204020204" pitchFamily="34" charset="-122"/>
              </a:rPr>
              <a:t>下季度计划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91D65D-BC46-5A99-1BED-5B25047D7A3A}"/>
              </a:ext>
            </a:extLst>
          </p:cNvPr>
          <p:cNvSpPr txBox="1"/>
          <p:nvPr/>
        </p:nvSpPr>
        <p:spPr>
          <a:xfrm>
            <a:off x="723900" y="927100"/>
            <a:ext cx="965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围绕“更智能、更稳定、更可展示、更可扩展”推进迭代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DA0DB9-4749-9F7B-7170-7B84BAA62CDA}"/>
              </a:ext>
            </a:extLst>
          </p:cNvPr>
          <p:cNvSpPr/>
          <p:nvPr/>
        </p:nvSpPr>
        <p:spPr>
          <a:xfrm>
            <a:off x="723900" y="1346200"/>
            <a:ext cx="11684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4E7624-BF52-6819-656A-168E1A3C4647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FCAD48-44B5-0067-896C-5E4B9B06AC30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62480B6-8A3E-4029-1039-442032B73E0F}"/>
              </a:ext>
            </a:extLst>
          </p:cNvPr>
          <p:cNvSpPr/>
          <p:nvPr/>
        </p:nvSpPr>
        <p:spPr>
          <a:xfrm>
            <a:off x="787400" y="1803400"/>
            <a:ext cx="2387600" cy="3175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EA481B-DEBB-BB49-B6E3-8A4ADAE17632}"/>
              </a:ext>
            </a:extLst>
          </p:cNvPr>
          <p:cNvSpPr/>
          <p:nvPr/>
        </p:nvSpPr>
        <p:spPr>
          <a:xfrm>
            <a:off x="787400" y="1803400"/>
            <a:ext cx="76200" cy="31750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DF2B12D-0E1C-C991-9FD6-2FF59A594E1C}"/>
              </a:ext>
            </a:extLst>
          </p:cNvPr>
          <p:cNvSpPr txBox="1"/>
          <p:nvPr/>
        </p:nvSpPr>
        <p:spPr>
          <a:xfrm>
            <a:off x="990600" y="1930400"/>
            <a:ext cx="20066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体验增强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FA6341-F37F-B721-4AB2-3C76655F913D}"/>
              </a:ext>
            </a:extLst>
          </p:cNvPr>
          <p:cNvSpPr txBox="1"/>
          <p:nvPr/>
        </p:nvSpPr>
        <p:spPr>
          <a:xfrm>
            <a:off x="990600" y="2336800"/>
            <a:ext cx="20320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完善长期记忆
自动朗读开关
优化默认指令
增强错误提示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B5903E2-F611-5AD8-D66F-B57FC3412D6E}"/>
              </a:ext>
            </a:extLst>
          </p:cNvPr>
          <p:cNvSpPr/>
          <p:nvPr/>
        </p:nvSpPr>
        <p:spPr>
          <a:xfrm>
            <a:off x="3556000" y="1803400"/>
            <a:ext cx="2387600" cy="3175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50C286-0B81-2210-5A43-28C1F84F0919}"/>
              </a:ext>
            </a:extLst>
          </p:cNvPr>
          <p:cNvSpPr/>
          <p:nvPr/>
        </p:nvSpPr>
        <p:spPr>
          <a:xfrm>
            <a:off x="3556000" y="1803400"/>
            <a:ext cx="76200" cy="31750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4D90AA3-1D8C-96E6-422B-E9A49FE600BC}"/>
              </a:ext>
            </a:extLst>
          </p:cNvPr>
          <p:cNvSpPr txBox="1"/>
          <p:nvPr/>
        </p:nvSpPr>
        <p:spPr>
          <a:xfrm>
            <a:off x="3759200" y="1930400"/>
            <a:ext cx="20066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能力扩展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1539431-CCD3-2566-5749-D27EDB81C2F5}"/>
              </a:ext>
            </a:extLst>
          </p:cNvPr>
          <p:cNvSpPr txBox="1"/>
          <p:nvPr/>
        </p:nvSpPr>
        <p:spPr>
          <a:xfrm>
            <a:off x="3759200" y="2336800"/>
            <a:ext cx="20320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日程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备忘录
图片历史与下载
音乐收藏
联网搜索入口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6E1FCED-A4D9-AB1B-08EC-EF7F273E9520}"/>
              </a:ext>
            </a:extLst>
          </p:cNvPr>
          <p:cNvSpPr/>
          <p:nvPr/>
        </p:nvSpPr>
        <p:spPr>
          <a:xfrm>
            <a:off x="6324600" y="1803400"/>
            <a:ext cx="2387600" cy="3175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58C5878-C7D1-DB3F-1CC4-9E8EC8D65D0F}"/>
              </a:ext>
            </a:extLst>
          </p:cNvPr>
          <p:cNvSpPr/>
          <p:nvPr/>
        </p:nvSpPr>
        <p:spPr>
          <a:xfrm>
            <a:off x="6324600" y="1803400"/>
            <a:ext cx="76200" cy="31750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8CD8DA-767F-AF22-FE63-03850E0801DC}"/>
              </a:ext>
            </a:extLst>
          </p:cNvPr>
          <p:cNvSpPr txBox="1"/>
          <p:nvPr/>
        </p:nvSpPr>
        <p:spPr>
          <a:xfrm>
            <a:off x="6527800" y="1930400"/>
            <a:ext cx="20066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工程优化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17784FA-FF07-6613-28BF-70F0990BA4D2}"/>
              </a:ext>
            </a:extLst>
          </p:cNvPr>
          <p:cNvSpPr txBox="1"/>
          <p:nvPr/>
        </p:nvSpPr>
        <p:spPr>
          <a:xfrm>
            <a:off x="6527800" y="2336800"/>
            <a:ext cx="20320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后端模块化
统一响应结构
日志和错误码
生产环境配置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051371B-D593-0F64-DB3D-0070FDA791E3}"/>
              </a:ext>
            </a:extLst>
          </p:cNvPr>
          <p:cNvSpPr/>
          <p:nvPr/>
        </p:nvSpPr>
        <p:spPr>
          <a:xfrm>
            <a:off x="9093200" y="1803400"/>
            <a:ext cx="2387600" cy="3175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204349-C131-EEF7-F657-D1A0C2736A09}"/>
              </a:ext>
            </a:extLst>
          </p:cNvPr>
          <p:cNvSpPr/>
          <p:nvPr/>
        </p:nvSpPr>
        <p:spPr>
          <a:xfrm>
            <a:off x="9093200" y="1803400"/>
            <a:ext cx="76200" cy="31750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5C0850F-45FC-2B87-E111-F1CE0A5BCEF8}"/>
              </a:ext>
            </a:extLst>
          </p:cNvPr>
          <p:cNvSpPr txBox="1"/>
          <p:nvPr/>
        </p:nvSpPr>
        <p:spPr>
          <a:xfrm>
            <a:off x="9296400" y="1930400"/>
            <a:ext cx="20066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部署展示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1DE6A6B-BC2A-2423-39E3-92668C6EE9E5}"/>
              </a:ext>
            </a:extLst>
          </p:cNvPr>
          <p:cNvSpPr txBox="1"/>
          <p:nvPr/>
        </p:nvSpPr>
        <p:spPr>
          <a:xfrm>
            <a:off x="9296400" y="2336800"/>
            <a:ext cx="20320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或云部署
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Nginx / HTTPS
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演示脚本
答辩材料完善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B2A2500-D5FA-2B1C-1CDD-54CA1F5B0647}"/>
              </a:ext>
            </a:extLst>
          </p:cNvPr>
          <p:cNvSpPr txBox="1"/>
          <p:nvPr/>
        </p:nvSpPr>
        <p:spPr>
          <a:xfrm>
            <a:off x="1143000" y="5664200"/>
            <a:ext cx="990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F6F8FF"/>
                </a:solidFill>
                <a:latin typeface="Microsoft YaHei" panose="020B0503020204020204" pitchFamily="34" charset="-122"/>
              </a:rPr>
              <a:t>阶段目标：从本地 </a:t>
            </a:r>
            <a:r>
              <a:rPr lang="en-US" altLang="zh-CN" sz="1400" b="1">
                <a:solidFill>
                  <a:srgbClr val="F6F8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00" b="1">
                <a:solidFill>
                  <a:srgbClr val="F6F8FF"/>
                </a:solidFill>
                <a:latin typeface="Microsoft YaHei" panose="020B0503020204020204" pitchFamily="34" charset="-122"/>
              </a:rPr>
              <a:t>助手原型，升级为可持续迭代、可部署展示的智能应用平台。</a:t>
            </a:r>
          </a:p>
        </p:txBody>
      </p:sp>
    </p:spTree>
    <p:extLst>
      <p:ext uri="{BB962C8B-B14F-4D97-AF65-F5344CB8AC3E}">
        <p14:creationId xmlns:p14="http://schemas.microsoft.com/office/powerpoint/2010/main" val="207896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D0CBD9A-C10B-A33D-32C1-F7A5ECB166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F9CCA02-8EDA-DF0E-B2CA-7813DEFE2373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1CA303-911A-B2D8-44C1-D3E899F16F9D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703D7CB-DF83-5812-8D5F-D383250A01FC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1C5781-AE89-80C7-E303-6874217B236B}"/>
              </a:ext>
            </a:extLst>
          </p:cNvPr>
          <p:cNvSpPr txBox="1"/>
          <p:nvPr/>
        </p:nvSpPr>
        <p:spPr>
          <a:xfrm>
            <a:off x="698500" y="381000"/>
            <a:ext cx="965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F6F8FF"/>
                </a:solidFill>
                <a:latin typeface="Microsoft YaHei" panose="020B0503020204020204" pitchFamily="34" charset="-122"/>
              </a:rPr>
              <a:t>建议现场演示路径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FCADA6-458E-22BB-B6EB-A5761DD790F0}"/>
              </a:ext>
            </a:extLst>
          </p:cNvPr>
          <p:cNvSpPr txBox="1"/>
          <p:nvPr/>
        </p:nvSpPr>
        <p:spPr>
          <a:xfrm>
            <a:off x="723900" y="927100"/>
            <a:ext cx="965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用一条完整用户路径展示小文智能 </a:t>
            </a:r>
            <a:r>
              <a:rPr lang="en-US" altLang="zh-CN" sz="1000">
                <a:solidFill>
                  <a:srgbClr val="B2C0E1"/>
                </a:solidFill>
                <a:latin typeface="Microsoft YaHei" panose="020B0503020204020204" pitchFamily="34" charset="-122"/>
              </a:rPr>
              <a:t>APP </a:t>
            </a:r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的能力闭环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5F6266-000E-657F-F7CE-00FA8341177C}"/>
              </a:ext>
            </a:extLst>
          </p:cNvPr>
          <p:cNvSpPr/>
          <p:nvPr/>
        </p:nvSpPr>
        <p:spPr>
          <a:xfrm>
            <a:off x="723900" y="1346200"/>
            <a:ext cx="11684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6F12F4-09A3-05A3-18B4-3DE2EBD91491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7E7053-AE4E-87A8-40CC-D384CB4C74AD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8D4B48C-FE05-6C6E-158B-B1FE7AAF56CD}"/>
              </a:ext>
            </a:extLst>
          </p:cNvPr>
          <p:cNvSpPr/>
          <p:nvPr/>
        </p:nvSpPr>
        <p:spPr>
          <a:xfrm>
            <a:off x="863600" y="1727200"/>
            <a:ext cx="31115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3833C4-FA53-7A7E-8A88-1DE55CB1CE42}"/>
              </a:ext>
            </a:extLst>
          </p:cNvPr>
          <p:cNvSpPr/>
          <p:nvPr/>
        </p:nvSpPr>
        <p:spPr>
          <a:xfrm>
            <a:off x="863600" y="1727200"/>
            <a:ext cx="76200" cy="11176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D85099-CB48-F5FB-CDC7-2B2394970724}"/>
              </a:ext>
            </a:extLst>
          </p:cNvPr>
          <p:cNvSpPr txBox="1"/>
          <p:nvPr/>
        </p:nvSpPr>
        <p:spPr>
          <a:xfrm>
            <a:off x="1066800" y="18542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语音唤醒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39AA17F-D652-04C4-105D-97C074627606}"/>
              </a:ext>
            </a:extLst>
          </p:cNvPr>
          <p:cNvSpPr txBox="1"/>
          <p:nvPr/>
        </p:nvSpPr>
        <p:spPr>
          <a:xfrm>
            <a:off x="1066800" y="22606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“小文小文”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68A5950-D0ED-9B14-C2A8-9B224492B805}"/>
              </a:ext>
            </a:extLst>
          </p:cNvPr>
          <p:cNvSpPr/>
          <p:nvPr/>
        </p:nvSpPr>
        <p:spPr>
          <a:xfrm>
            <a:off x="4495800" y="1727200"/>
            <a:ext cx="31115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7F56942-C620-40F7-5957-13464996AD1C}"/>
              </a:ext>
            </a:extLst>
          </p:cNvPr>
          <p:cNvSpPr/>
          <p:nvPr/>
        </p:nvSpPr>
        <p:spPr>
          <a:xfrm>
            <a:off x="4495800" y="1727200"/>
            <a:ext cx="76200" cy="11176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D69CFB9-0011-4803-87C5-00801AA09FEC}"/>
              </a:ext>
            </a:extLst>
          </p:cNvPr>
          <p:cNvSpPr txBox="1"/>
          <p:nvPr/>
        </p:nvSpPr>
        <p:spPr>
          <a:xfrm>
            <a:off x="4699000" y="18542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生活查询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B98D9C8-5F0B-924C-6134-5C4464616F27}"/>
              </a:ext>
            </a:extLst>
          </p:cNvPr>
          <p:cNvSpPr txBox="1"/>
          <p:nvPr/>
        </p:nvSpPr>
        <p:spPr>
          <a:xfrm>
            <a:off x="4699000" y="22606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承德天气怎么样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255AB83-96D9-4C90-1F55-40F1B10680DF}"/>
              </a:ext>
            </a:extLst>
          </p:cNvPr>
          <p:cNvSpPr/>
          <p:nvPr/>
        </p:nvSpPr>
        <p:spPr>
          <a:xfrm>
            <a:off x="8128000" y="1727200"/>
            <a:ext cx="31115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748F215-FB47-5B6E-289B-19EC63A4C02D}"/>
              </a:ext>
            </a:extLst>
          </p:cNvPr>
          <p:cNvSpPr/>
          <p:nvPr/>
        </p:nvSpPr>
        <p:spPr>
          <a:xfrm>
            <a:off x="8128000" y="1727200"/>
            <a:ext cx="76200" cy="11176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D7171B4-BDA7-0864-1E4B-F950A7C6C03B}"/>
              </a:ext>
            </a:extLst>
          </p:cNvPr>
          <p:cNvSpPr txBox="1"/>
          <p:nvPr/>
        </p:nvSpPr>
        <p:spPr>
          <a:xfrm>
            <a:off x="8331200" y="18542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连续对话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B0F4280-ADC1-0665-2D6F-7A57B7E4A706}"/>
              </a:ext>
            </a:extLst>
          </p:cNvPr>
          <p:cNvSpPr txBox="1"/>
          <p:nvPr/>
        </p:nvSpPr>
        <p:spPr>
          <a:xfrm>
            <a:off x="8331200" y="22606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承德美食 → 这些在哪吃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197F0F9-8D3A-4FCD-3735-CB5C71781793}"/>
              </a:ext>
            </a:extLst>
          </p:cNvPr>
          <p:cNvSpPr/>
          <p:nvPr/>
        </p:nvSpPr>
        <p:spPr>
          <a:xfrm>
            <a:off x="863600" y="3378200"/>
            <a:ext cx="31115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75A26C3-54C4-FA45-8C33-F5F503545D5D}"/>
              </a:ext>
            </a:extLst>
          </p:cNvPr>
          <p:cNvSpPr/>
          <p:nvPr/>
        </p:nvSpPr>
        <p:spPr>
          <a:xfrm>
            <a:off x="863600" y="3378200"/>
            <a:ext cx="76200" cy="11176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106CE02-0A76-D07B-1FBE-4EDE233A0706}"/>
              </a:ext>
            </a:extLst>
          </p:cNvPr>
          <p:cNvSpPr txBox="1"/>
          <p:nvPr/>
        </p:nvSpPr>
        <p:spPr>
          <a:xfrm>
            <a:off x="1066800" y="35052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音乐播放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4E9B8FB-98EC-B447-C419-21E6567BCE7D}"/>
              </a:ext>
            </a:extLst>
          </p:cNvPr>
          <p:cNvSpPr txBox="1"/>
          <p:nvPr/>
        </p:nvSpPr>
        <p:spPr>
          <a:xfrm>
            <a:off x="1066800" y="39116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播放稻香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F4B0AE1-0885-4292-E234-B533ED439C72}"/>
              </a:ext>
            </a:extLst>
          </p:cNvPr>
          <p:cNvSpPr/>
          <p:nvPr/>
        </p:nvSpPr>
        <p:spPr>
          <a:xfrm>
            <a:off x="4495800" y="3378200"/>
            <a:ext cx="31115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43A9DE1-BAFC-70AE-DE24-9B1C6D63AE77}"/>
              </a:ext>
            </a:extLst>
          </p:cNvPr>
          <p:cNvSpPr/>
          <p:nvPr/>
        </p:nvSpPr>
        <p:spPr>
          <a:xfrm>
            <a:off x="4495800" y="3378200"/>
            <a:ext cx="76200" cy="1117600"/>
          </a:xfrm>
          <a:prstGeom prst="rect">
            <a:avLst/>
          </a:prstGeom>
          <a:solidFill>
            <a:srgbClr val="FFB4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ED584F5-8B10-B457-CD48-121CCF395DFC}"/>
              </a:ext>
            </a:extLst>
          </p:cNvPr>
          <p:cNvSpPr txBox="1"/>
          <p:nvPr/>
        </p:nvSpPr>
        <p:spPr>
          <a:xfrm>
            <a:off x="4699000" y="35052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创作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5AC01D9-33B6-1BFD-3685-39A3460EC5D4}"/>
              </a:ext>
            </a:extLst>
          </p:cNvPr>
          <p:cNvSpPr txBox="1"/>
          <p:nvPr/>
        </p:nvSpPr>
        <p:spPr>
          <a:xfrm>
            <a:off x="4699000" y="39116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画一只水彩小猫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AB149BF6-E919-6473-2C48-DAD8471E56FB}"/>
              </a:ext>
            </a:extLst>
          </p:cNvPr>
          <p:cNvSpPr/>
          <p:nvPr/>
        </p:nvSpPr>
        <p:spPr>
          <a:xfrm>
            <a:off x="8128000" y="3378200"/>
            <a:ext cx="31115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28F92FD-3749-27B7-991A-23DB48A308B7}"/>
              </a:ext>
            </a:extLst>
          </p:cNvPr>
          <p:cNvSpPr/>
          <p:nvPr/>
        </p:nvSpPr>
        <p:spPr>
          <a:xfrm>
            <a:off x="8128000" y="3378200"/>
            <a:ext cx="76200" cy="1117600"/>
          </a:xfrm>
          <a:prstGeom prst="rect">
            <a:avLst/>
          </a:prstGeom>
          <a:solidFill>
            <a:srgbClr val="FF5C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9EFB695-8106-0A50-5A24-06129AEC5989}"/>
              </a:ext>
            </a:extLst>
          </p:cNvPr>
          <p:cNvSpPr txBox="1"/>
          <p:nvPr/>
        </p:nvSpPr>
        <p:spPr>
          <a:xfrm>
            <a:off x="8331200" y="35052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桌面控制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196C854-4C5B-85F1-FC63-3E037EC7D10F}"/>
              </a:ext>
            </a:extLst>
          </p:cNvPr>
          <p:cNvSpPr txBox="1"/>
          <p:nvPr/>
        </p:nvSpPr>
        <p:spPr>
          <a:xfrm>
            <a:off x="8331200" y="39116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打开计算器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AA2109F-F1FB-60DA-CD0B-9E6CAA9F5051}"/>
              </a:ext>
            </a:extLst>
          </p:cNvPr>
          <p:cNvSpPr txBox="1"/>
          <p:nvPr/>
        </p:nvSpPr>
        <p:spPr>
          <a:xfrm>
            <a:off x="1079500" y="5664200"/>
            <a:ext cx="10033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F6F8FF"/>
                </a:solidFill>
                <a:latin typeface="Microsoft YaHei" panose="020B0503020204020204" pitchFamily="34" charset="-122"/>
              </a:rPr>
              <a:t>演示重点：让观众看到小文可以理解指令、调用能力、展示结果，而不只是聊天。</a:t>
            </a:r>
          </a:p>
        </p:txBody>
      </p:sp>
    </p:spTree>
    <p:extLst>
      <p:ext uri="{BB962C8B-B14F-4D97-AF65-F5344CB8AC3E}">
        <p14:creationId xmlns:p14="http://schemas.microsoft.com/office/powerpoint/2010/main" val="621895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1E7759-15D9-8A61-CC75-37A50814D8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E0C74FA-E9BA-3ADE-302A-3AB943F07C85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F5BFF82-1B15-5A2B-7A36-ECFDB7742A01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452C75A-E001-828A-8236-C9A7F2A94327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D75491-586E-3C41-1B51-241F21786245}"/>
              </a:ext>
            </a:extLst>
          </p:cNvPr>
          <p:cNvSpPr txBox="1"/>
          <p:nvPr/>
        </p:nvSpPr>
        <p:spPr>
          <a:xfrm>
            <a:off x="1016000" y="1587500"/>
            <a:ext cx="10160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4000" b="1">
                <a:solidFill>
                  <a:srgbClr val="F6F8FF"/>
                </a:solidFill>
                <a:latin typeface="Microsoft YaHei" panose="020B0503020204020204" pitchFamily="34" charset="-122"/>
              </a:rPr>
              <a:t>感谢聆听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3D3831-0362-A123-0481-8C614DF288B1}"/>
              </a:ext>
            </a:extLst>
          </p:cNvPr>
          <p:cNvSpPr txBox="1"/>
          <p:nvPr/>
        </p:nvSpPr>
        <p:spPr>
          <a:xfrm>
            <a:off x="1524000" y="2603500"/>
            <a:ext cx="914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600">
                <a:solidFill>
                  <a:srgbClr val="B2C0E1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1600">
                <a:solidFill>
                  <a:srgbClr val="B2C0E1"/>
                </a:solidFill>
                <a:latin typeface="Microsoft YaHei" panose="020B0503020204020204" pitchFamily="34" charset="-122"/>
              </a:rPr>
              <a:t>APP </a:t>
            </a:r>
            <a:r>
              <a:rPr lang="zh-CN" altLang="en-US" sz="1600">
                <a:solidFill>
                  <a:srgbClr val="B2C0E1"/>
                </a:solidFill>
                <a:latin typeface="Microsoft YaHei" panose="020B0503020204020204" pitchFamily="34" charset="-122"/>
              </a:rPr>
              <a:t>将继续向更自然、更稳定、更具执行力的个人 </a:t>
            </a:r>
            <a:r>
              <a:rPr lang="en-US" altLang="zh-CN" sz="160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600">
                <a:solidFill>
                  <a:srgbClr val="B2C0E1"/>
                </a:solidFill>
                <a:latin typeface="Microsoft YaHei" panose="020B0503020204020204" pitchFamily="34" charset="-122"/>
              </a:rPr>
              <a:t>助手演进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1E97AB3-2436-DC50-4AC5-D3D9C56131E4}"/>
              </a:ext>
            </a:extLst>
          </p:cNvPr>
          <p:cNvSpPr/>
          <p:nvPr/>
        </p:nvSpPr>
        <p:spPr>
          <a:xfrm>
            <a:off x="2413000" y="3581400"/>
            <a:ext cx="1524000" cy="355600"/>
          </a:xfrm>
          <a:prstGeom prst="roundRect">
            <a:avLst/>
          </a:prstGeom>
          <a:solidFill>
            <a:srgbClr val="3ADCFF">
              <a:alpha val="85000"/>
            </a:srgbClr>
          </a:solidFill>
          <a:ln>
            <a:solidFill>
              <a:srgbClr val="3AD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796831-5E5D-DFB6-ABA1-247899E8EBF3}"/>
              </a:ext>
            </a:extLst>
          </p:cNvPr>
          <p:cNvSpPr txBox="1"/>
          <p:nvPr/>
        </p:nvSpPr>
        <p:spPr>
          <a:xfrm>
            <a:off x="2463800" y="36576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能听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445D890-8FDA-9D32-7D97-BC13BF5160FF}"/>
              </a:ext>
            </a:extLst>
          </p:cNvPr>
          <p:cNvSpPr/>
          <p:nvPr/>
        </p:nvSpPr>
        <p:spPr>
          <a:xfrm>
            <a:off x="4127500" y="3581400"/>
            <a:ext cx="1524000" cy="355600"/>
          </a:xfrm>
          <a:prstGeom prst="roundRect">
            <a:avLst/>
          </a:prstGeom>
          <a:solidFill>
            <a:srgbClr val="488EFF">
              <a:alpha val="85000"/>
            </a:srgbClr>
          </a:solidFill>
          <a:ln>
            <a:solidFill>
              <a:srgbClr val="488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BF8E071-A28C-34D6-CC82-CF0978204966}"/>
              </a:ext>
            </a:extLst>
          </p:cNvPr>
          <p:cNvSpPr txBox="1"/>
          <p:nvPr/>
        </p:nvSpPr>
        <p:spPr>
          <a:xfrm>
            <a:off x="4178300" y="36576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能说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360F485-D80A-485F-0B67-1604A436E4A6}"/>
              </a:ext>
            </a:extLst>
          </p:cNvPr>
          <p:cNvSpPr/>
          <p:nvPr/>
        </p:nvSpPr>
        <p:spPr>
          <a:xfrm>
            <a:off x="5842000" y="3581400"/>
            <a:ext cx="1524000" cy="355600"/>
          </a:xfrm>
          <a:prstGeom prst="roundRect">
            <a:avLst/>
          </a:prstGeom>
          <a:solidFill>
            <a:srgbClr val="9B5CFF">
              <a:alpha val="85000"/>
            </a:srgbClr>
          </a:solidFill>
          <a:ln>
            <a:solidFill>
              <a:srgbClr val="9B5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2ED20A0-1012-2D5F-13A7-F34E2FCF5DBE}"/>
              </a:ext>
            </a:extLst>
          </p:cNvPr>
          <p:cNvSpPr txBox="1"/>
          <p:nvPr/>
        </p:nvSpPr>
        <p:spPr>
          <a:xfrm>
            <a:off x="5892800" y="36576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能聊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0DDDF48-B352-135D-DB1F-C572D5EC6818}"/>
              </a:ext>
            </a:extLst>
          </p:cNvPr>
          <p:cNvSpPr/>
          <p:nvPr/>
        </p:nvSpPr>
        <p:spPr>
          <a:xfrm>
            <a:off x="7556500" y="3581400"/>
            <a:ext cx="1524000" cy="355600"/>
          </a:xfrm>
          <a:prstGeom prst="roundRect">
            <a:avLst/>
          </a:prstGeom>
          <a:solidFill>
            <a:srgbClr val="FF5CB4">
              <a:alpha val="85000"/>
            </a:srgbClr>
          </a:solidFill>
          <a:ln>
            <a:solidFill>
              <a:srgbClr val="FF5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DA1410-C516-F165-17E9-C27E35DD625C}"/>
              </a:ext>
            </a:extLst>
          </p:cNvPr>
          <p:cNvSpPr txBox="1"/>
          <p:nvPr/>
        </p:nvSpPr>
        <p:spPr>
          <a:xfrm>
            <a:off x="7607300" y="36576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能画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9ACC2AE-91DE-FA6C-D1F8-233C155939FF}"/>
              </a:ext>
            </a:extLst>
          </p:cNvPr>
          <p:cNvSpPr/>
          <p:nvPr/>
        </p:nvSpPr>
        <p:spPr>
          <a:xfrm>
            <a:off x="9271000" y="3581400"/>
            <a:ext cx="1524000" cy="355600"/>
          </a:xfrm>
          <a:prstGeom prst="roundRect">
            <a:avLst/>
          </a:prstGeom>
          <a:solidFill>
            <a:srgbClr val="4CE6AA">
              <a:alpha val="85000"/>
            </a:srgbClr>
          </a:solidFill>
          <a:ln>
            <a:solidFill>
              <a:srgbClr val="4CE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4B145B-8DFD-59F7-05D7-48D8775A903D}"/>
              </a:ext>
            </a:extLst>
          </p:cNvPr>
          <p:cNvSpPr txBox="1"/>
          <p:nvPr/>
        </p:nvSpPr>
        <p:spPr>
          <a:xfrm>
            <a:off x="9321800" y="36576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能开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4E89D42-AC44-212B-2D47-2905C106B02D}"/>
              </a:ext>
            </a:extLst>
          </p:cNvPr>
          <p:cNvSpPr txBox="1"/>
          <p:nvPr/>
        </p:nvSpPr>
        <p:spPr>
          <a:xfrm>
            <a:off x="4445000" y="4851400"/>
            <a:ext cx="330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3ADCFF"/>
                </a:solidFill>
                <a:latin typeface="Microsoft YaHei" panose="020B0503020204020204" pitchFamily="34" charset="-122"/>
              </a:rPr>
              <a:t>Q&amp;A</a:t>
            </a:r>
            <a:endParaRPr lang="zh-CN" altLang="en-US" sz="28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9D69A1D-6B54-E362-F7C5-F50590E10BBD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0FC645D-7BD1-9429-B35A-C7F1D42B64D6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7419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959</Words>
  <Application>Microsoft Office PowerPoint</Application>
  <PresentationFormat>宽屏</PresentationFormat>
  <Paragraphs>159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肥色的橘猫 肥色的橘猫</dc:creator>
  <cp:lastModifiedBy>肥色的橘猫 肥色的橘猫</cp:lastModifiedBy>
  <cp:revision>1</cp:revision>
  <dcterms:created xsi:type="dcterms:W3CDTF">2026-05-06T07:15:12Z</dcterms:created>
  <dcterms:modified xsi:type="dcterms:W3CDTF">2026-05-06T07:27:23Z</dcterms:modified>
</cp:coreProperties>
</file>