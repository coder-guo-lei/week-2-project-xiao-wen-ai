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509760" y="-457200"/>
            <a:ext cx="2926080" cy="2926080"/>
          </a:xfrm>
          <a:prstGeom prst="ellipse">
            <a:avLst/>
          </a:prstGeom>
          <a:solidFill>
            <a:srgbClr val="9B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731520" y="4754880"/>
            <a:ext cx="2468880" cy="2468880"/>
          </a:xfrm>
          <a:prstGeom prst="ellipse">
            <a:avLst/>
          </a:prstGeom>
          <a:solidFill>
            <a:srgbClr val="4A9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4754880" y="1005840"/>
            <a:ext cx="1371600" cy="1371600"/>
          </a:xfrm>
          <a:prstGeom prst="ellipse">
            <a:avLst/>
          </a:prstGeom>
          <a:solidFill>
            <a:srgbClr val="3AD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320040" y="548640"/>
            <a:ext cx="11567160" cy="0"/>
          </a:xfrm>
          <a:prstGeom prst="line">
            <a:avLst/>
          </a:prstGeom>
          <a:ln w="4445">
            <a:solidFill>
              <a:srgbClr val="2837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320040" y="1261872"/>
            <a:ext cx="11567160" cy="0"/>
          </a:xfrm>
          <a:prstGeom prst="line">
            <a:avLst/>
          </a:prstGeom>
          <a:ln w="4445">
            <a:solidFill>
              <a:srgbClr val="2837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320040" y="1975104"/>
            <a:ext cx="11567160" cy="0"/>
          </a:xfrm>
          <a:prstGeom prst="line">
            <a:avLst/>
          </a:prstGeom>
          <a:ln w="4445">
            <a:solidFill>
              <a:srgbClr val="2837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320040" y="2688336"/>
            <a:ext cx="11567160" cy="0"/>
          </a:xfrm>
          <a:prstGeom prst="line">
            <a:avLst/>
          </a:prstGeom>
          <a:ln w="4445">
            <a:solidFill>
              <a:srgbClr val="2837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320040" y="3401568"/>
            <a:ext cx="11567160" cy="0"/>
          </a:xfrm>
          <a:prstGeom prst="line">
            <a:avLst/>
          </a:prstGeom>
          <a:ln w="4445">
            <a:solidFill>
              <a:srgbClr val="2837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320040" y="4114800"/>
            <a:ext cx="11567160" cy="0"/>
          </a:xfrm>
          <a:prstGeom prst="line">
            <a:avLst/>
          </a:prstGeom>
          <a:ln w="4445">
            <a:solidFill>
              <a:srgbClr val="2837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320040" y="4828031"/>
            <a:ext cx="11567160" cy="0"/>
          </a:xfrm>
          <a:prstGeom prst="line">
            <a:avLst/>
          </a:prstGeom>
          <a:ln w="4445">
            <a:solidFill>
              <a:srgbClr val="2837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320040" y="5541264"/>
            <a:ext cx="11567160" cy="0"/>
          </a:xfrm>
          <a:prstGeom prst="line">
            <a:avLst/>
          </a:prstGeom>
          <a:ln w="4445">
            <a:solidFill>
              <a:srgbClr val="2837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Oval 13"/>
          <p:cNvSpPr/>
          <p:nvPr/>
        </p:nvSpPr>
        <p:spPr>
          <a:xfrm>
            <a:off x="8458200" y="1600200"/>
            <a:ext cx="2377440" cy="2377440"/>
          </a:xfrm>
          <a:prstGeom prst="ellipse">
            <a:avLst/>
          </a:prstGeom>
          <a:noFill/>
          <a:ln w="25400">
            <a:solidFill>
              <a:srgbClr val="3AD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709660" y="1851660"/>
            <a:ext cx="1874519" cy="1874519"/>
          </a:xfrm>
          <a:prstGeom prst="ellipse">
            <a:avLst/>
          </a:prstGeom>
          <a:noFill/>
          <a:ln w="25400">
            <a:solidFill>
              <a:srgbClr val="9B5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961120" y="2103120"/>
            <a:ext cx="1371600" cy="1371600"/>
          </a:xfrm>
          <a:prstGeom prst="ellipse">
            <a:avLst/>
          </a:prstGeom>
          <a:noFill/>
          <a:ln w="25400">
            <a:solidFill>
              <a:srgbClr val="4A9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89720" y="2331720"/>
            <a:ext cx="914400" cy="914400"/>
          </a:xfrm>
          <a:prstGeom prst="ellipse">
            <a:avLst/>
          </a:prstGeom>
          <a:solidFill>
            <a:srgbClr val="3ADCFF"/>
          </a:solidFill>
          <a:ln w="12700">
            <a:solidFill>
              <a:srgbClr val="F8F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13232" y="1078992"/>
            <a:ext cx="71323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200" b="1">
                <a:solidFill>
                  <a:srgbClr val="3ADCFF"/>
                </a:solidFill>
                <a:latin typeface="Microsoft YaHei"/>
              </a:defRPr>
            </a:pPr>
            <a:r>
              <a:t>AI VOICE ASSISTANT · PROJECT REPORT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1536192"/>
            <a:ext cx="713232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3800" b="1">
                <a:solidFill>
                  <a:srgbClr val="F8FAFF"/>
                </a:solidFill>
                <a:latin typeface="Microsoft YaHei"/>
              </a:defRPr>
            </a:pPr>
            <a:r>
              <a:t>小文智能 APP 项目汇报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2359152"/>
            <a:ext cx="68580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600" b="0">
                <a:solidFill>
                  <a:srgbClr val="AEBEE1"/>
                </a:solidFill>
                <a:latin typeface="Microsoft YaHei"/>
              </a:defRPr>
            </a:pPr>
            <a:r>
              <a:t>集 AI 对话、语音交互、天气查询、音乐播放、文生图、数据可视化与桌面控制于一体的智能助手原型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49808" y="3090672"/>
            <a:ext cx="1444752" cy="329184"/>
          </a:xfrm>
          <a:prstGeom prst="roundRect">
            <a:avLst/>
          </a:prstGeom>
          <a:solidFill>
            <a:srgbClr val="4A90FF"/>
          </a:solidFill>
          <a:ln w="12700">
            <a:solidFill>
              <a:srgbClr val="4A9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95528" y="3118103"/>
            <a:ext cx="1353312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50" b="1">
                <a:solidFill>
                  <a:srgbClr val="F8FAFF"/>
                </a:solidFill>
                <a:latin typeface="Microsoft YaHei"/>
              </a:defRPr>
            </a:pPr>
            <a:r>
              <a:t>React + Vite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414016" y="3090672"/>
            <a:ext cx="1444752" cy="329184"/>
          </a:xfrm>
          <a:prstGeom prst="roundRect">
            <a:avLst/>
          </a:prstGeom>
          <a:solidFill>
            <a:srgbClr val="4CE6AA"/>
          </a:solidFill>
          <a:ln w="12700">
            <a:solidFill>
              <a:srgbClr val="4CE6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459736" y="3118103"/>
            <a:ext cx="1353312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50" b="1">
                <a:solidFill>
                  <a:srgbClr val="F8FAFF"/>
                </a:solidFill>
                <a:latin typeface="Microsoft YaHei"/>
              </a:defRPr>
            </a:pPr>
            <a:r>
              <a:t>Flask API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078224" y="3090672"/>
            <a:ext cx="1444752" cy="329184"/>
          </a:xfrm>
          <a:prstGeom prst="roundRect">
            <a:avLst/>
          </a:prstGeom>
          <a:solidFill>
            <a:srgbClr val="9B5CFF"/>
          </a:solidFill>
          <a:ln w="12700">
            <a:solidFill>
              <a:srgbClr val="9B5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123944" y="3118103"/>
            <a:ext cx="1353312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50" b="1">
                <a:solidFill>
                  <a:srgbClr val="F8FAFF"/>
                </a:solidFill>
                <a:latin typeface="Microsoft YaHei"/>
              </a:defRPr>
            </a:pPr>
            <a:r>
              <a:t>DashScope / DeepSeek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742432" y="3090672"/>
            <a:ext cx="1444752" cy="329184"/>
          </a:xfrm>
          <a:prstGeom prst="roundRect">
            <a:avLst/>
          </a:prstGeom>
          <a:solidFill>
            <a:srgbClr val="3ADCFF"/>
          </a:solidFill>
          <a:ln w="12700">
            <a:solidFill>
              <a:srgbClr val="3AD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788152" y="3118103"/>
            <a:ext cx="1353312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50" b="1">
                <a:solidFill>
                  <a:srgbClr val="F8FAFF"/>
                </a:solidFill>
                <a:latin typeface="Microsoft YaHei"/>
              </a:defRPr>
            </a:pPr>
            <a:r>
              <a:t>SVG + zhdate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808" y="5715000"/>
            <a:ext cx="36576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100" b="0">
                <a:solidFill>
                  <a:srgbClr val="96A6D2"/>
                </a:solidFill>
                <a:latin typeface="Microsoft YaHei"/>
              </a:defRPr>
            </a:pPr>
            <a:r>
              <a:t>汇报人：刘汉文    日期：2026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6437376"/>
            <a:ext cx="54864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800" b="0">
                <a:solidFill>
                  <a:srgbClr val="8296C3"/>
                </a:solidFill>
                <a:latin typeface="Microsoft YaHei"/>
              </a:defRPr>
            </a:pPr>
            <a:r>
              <a:t>小文智能 APP · AI Voice Assistant Project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201400" y="6419088"/>
            <a:ext cx="50292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defRPr sz="1000" b="1">
                <a:solidFill>
                  <a:srgbClr val="3ADCFF"/>
                </a:solidFill>
                <a:latin typeface="Microsoft YaHei"/>
              </a:defRPr>
            </a:pPr>
            <a: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509760" y="-457200"/>
            <a:ext cx="2926080" cy="2926080"/>
          </a:xfrm>
          <a:prstGeom prst="ellipse">
            <a:avLst/>
          </a:prstGeom>
          <a:solidFill>
            <a:srgbClr val="9B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731520" y="4754880"/>
            <a:ext cx="2468880" cy="2468880"/>
          </a:xfrm>
          <a:prstGeom prst="ellipse">
            <a:avLst/>
          </a:prstGeom>
          <a:solidFill>
            <a:srgbClr val="4A9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4754880" y="1005840"/>
            <a:ext cx="1371600" cy="1371600"/>
          </a:xfrm>
          <a:prstGeom prst="ellipse">
            <a:avLst/>
          </a:prstGeom>
          <a:solidFill>
            <a:srgbClr val="3AD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320040" y="548640"/>
            <a:ext cx="11567160" cy="0"/>
          </a:xfrm>
          <a:prstGeom prst="line">
            <a:avLst/>
          </a:prstGeom>
          <a:ln w="4445">
            <a:solidFill>
              <a:srgbClr val="2837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320040" y="1261872"/>
            <a:ext cx="11567160" cy="0"/>
          </a:xfrm>
          <a:prstGeom prst="line">
            <a:avLst/>
          </a:prstGeom>
          <a:ln w="4445">
            <a:solidFill>
              <a:srgbClr val="2837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320040" y="1975104"/>
            <a:ext cx="11567160" cy="0"/>
          </a:xfrm>
          <a:prstGeom prst="line">
            <a:avLst/>
          </a:prstGeom>
          <a:ln w="4445">
            <a:solidFill>
              <a:srgbClr val="2837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320040" y="2688336"/>
            <a:ext cx="11567160" cy="0"/>
          </a:xfrm>
          <a:prstGeom prst="line">
            <a:avLst/>
          </a:prstGeom>
          <a:ln w="4445">
            <a:solidFill>
              <a:srgbClr val="2837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320040" y="3401568"/>
            <a:ext cx="11567160" cy="0"/>
          </a:xfrm>
          <a:prstGeom prst="line">
            <a:avLst/>
          </a:prstGeom>
          <a:ln w="4445">
            <a:solidFill>
              <a:srgbClr val="2837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320040" y="4114800"/>
            <a:ext cx="11567160" cy="0"/>
          </a:xfrm>
          <a:prstGeom prst="line">
            <a:avLst/>
          </a:prstGeom>
          <a:ln w="4445">
            <a:solidFill>
              <a:srgbClr val="2837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320040" y="4828031"/>
            <a:ext cx="11567160" cy="0"/>
          </a:xfrm>
          <a:prstGeom prst="line">
            <a:avLst/>
          </a:prstGeom>
          <a:ln w="4445">
            <a:solidFill>
              <a:srgbClr val="2837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320040" y="5541264"/>
            <a:ext cx="11567160" cy="0"/>
          </a:xfrm>
          <a:prstGeom prst="line">
            <a:avLst/>
          </a:prstGeom>
          <a:ln w="4445">
            <a:solidFill>
              <a:srgbClr val="2837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40080" y="384048"/>
            <a:ext cx="7955279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2800" b="1">
                <a:solidFill>
                  <a:srgbClr val="F8FAFF"/>
                </a:solidFill>
                <a:latin typeface="Microsoft YaHei"/>
              </a:defRPr>
            </a:pPr>
            <a:r>
              <a:t>目录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932688"/>
            <a:ext cx="877824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150" b="0">
                <a:solidFill>
                  <a:srgbClr val="AEBEE1"/>
                </a:solidFill>
                <a:latin typeface="Microsoft YaHei"/>
              </a:defRPr>
            </a:pPr>
            <a:r>
              <a:t>从项目定位到落地实现，再到问题复盘与后续规划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" y="1298448"/>
            <a:ext cx="1097280" cy="45720"/>
          </a:xfrm>
          <a:prstGeom prst="rect">
            <a:avLst/>
          </a:prstGeom>
          <a:solidFill>
            <a:srgbClr val="3AD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6437376"/>
            <a:ext cx="54864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800" b="0">
                <a:solidFill>
                  <a:srgbClr val="8296C3"/>
                </a:solidFill>
                <a:latin typeface="Microsoft YaHei"/>
              </a:defRPr>
            </a:pPr>
            <a:r>
              <a:t>小文智能 APP · AI Voice Assistant Project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201400" y="6419088"/>
            <a:ext cx="50292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defRPr sz="1000" b="1">
                <a:solidFill>
                  <a:srgbClr val="3ADCFF"/>
                </a:solidFill>
                <a:latin typeface="Microsoft YaHei"/>
              </a:defRPr>
            </a:pPr>
            <a:r>
              <a:t>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1572768"/>
            <a:ext cx="5029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500" b="1">
                <a:solidFill>
                  <a:srgbClr val="3ADCFF"/>
                </a:solidFill>
                <a:latin typeface="Microsoft YaHei"/>
              </a:defRPr>
            </a:pPr>
            <a:r>
              <a:t>01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08760" y="1572768"/>
            <a:ext cx="45720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600" b="1">
                <a:solidFill>
                  <a:srgbClr val="F8FAFF"/>
                </a:solidFill>
                <a:latin typeface="Microsoft YaHei"/>
              </a:defRPr>
            </a:pPr>
            <a:r>
              <a:t>项目定位与应用场景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417320" y="1956816"/>
            <a:ext cx="9372600" cy="0"/>
          </a:xfrm>
          <a:prstGeom prst="line">
            <a:avLst/>
          </a:prstGeom>
          <a:ln w="6350">
            <a:solidFill>
              <a:srgbClr val="3749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822960" y="2286000"/>
            <a:ext cx="5029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500" b="1">
                <a:solidFill>
                  <a:srgbClr val="3ADCFF"/>
                </a:solidFill>
                <a:latin typeface="Microsoft YaHei"/>
              </a:defRPr>
            </a:pPr>
            <a:r>
              <a:t>02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08760" y="2286000"/>
            <a:ext cx="45720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600" b="1">
                <a:solidFill>
                  <a:srgbClr val="F8FAFF"/>
                </a:solidFill>
                <a:latin typeface="Microsoft YaHei"/>
              </a:defRPr>
            </a:pPr>
            <a:r>
              <a:t>应用方式、方法与核心数据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1417320" y="2670048"/>
            <a:ext cx="9372600" cy="0"/>
          </a:xfrm>
          <a:prstGeom prst="line">
            <a:avLst/>
          </a:prstGeom>
          <a:ln w="6350">
            <a:solidFill>
              <a:srgbClr val="3749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822960" y="2999232"/>
            <a:ext cx="5029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500" b="1">
                <a:solidFill>
                  <a:srgbClr val="3ADCFF"/>
                </a:solidFill>
                <a:latin typeface="Microsoft YaHei"/>
              </a:defRPr>
            </a:pPr>
            <a:r>
              <a:t>03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08760" y="2999232"/>
            <a:ext cx="45720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600" b="1">
                <a:solidFill>
                  <a:srgbClr val="F8FAFF"/>
                </a:solidFill>
                <a:latin typeface="Microsoft YaHei"/>
              </a:defRPr>
            </a:pPr>
            <a:r>
              <a:t>系统架构与技术实现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1417320" y="3383280"/>
            <a:ext cx="9372600" cy="0"/>
          </a:xfrm>
          <a:prstGeom prst="line">
            <a:avLst/>
          </a:prstGeom>
          <a:ln w="6350">
            <a:solidFill>
              <a:srgbClr val="3749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822960" y="3712463"/>
            <a:ext cx="5029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500" b="1">
                <a:solidFill>
                  <a:srgbClr val="3ADCFF"/>
                </a:solidFill>
                <a:latin typeface="Microsoft YaHei"/>
              </a:defRPr>
            </a:pPr>
            <a:r>
              <a:t>04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08760" y="3712463"/>
            <a:ext cx="45720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600" b="1">
                <a:solidFill>
                  <a:srgbClr val="F8FAFF"/>
                </a:solidFill>
                <a:latin typeface="Microsoft YaHei"/>
              </a:defRPr>
            </a:pPr>
            <a:r>
              <a:t>工作亮点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1417320" y="4096511"/>
            <a:ext cx="9372600" cy="0"/>
          </a:xfrm>
          <a:prstGeom prst="line">
            <a:avLst/>
          </a:prstGeom>
          <a:ln w="6350">
            <a:solidFill>
              <a:srgbClr val="3749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822960" y="4425696"/>
            <a:ext cx="5029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500" b="1">
                <a:solidFill>
                  <a:srgbClr val="3ADCFF"/>
                </a:solidFill>
                <a:latin typeface="Microsoft YaHei"/>
              </a:defRPr>
            </a:pPr>
            <a:r>
              <a:t>05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08760" y="4425696"/>
            <a:ext cx="45720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600" b="1">
                <a:solidFill>
                  <a:srgbClr val="F8FAFF"/>
                </a:solidFill>
                <a:latin typeface="Microsoft YaHei"/>
              </a:defRPr>
            </a:pPr>
            <a:r>
              <a:t>问题与改进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1417320" y="4809744"/>
            <a:ext cx="9372600" cy="0"/>
          </a:xfrm>
          <a:prstGeom prst="line">
            <a:avLst/>
          </a:prstGeom>
          <a:ln w="6350">
            <a:solidFill>
              <a:srgbClr val="3749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822960" y="5138928"/>
            <a:ext cx="5029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500" b="1">
                <a:solidFill>
                  <a:srgbClr val="3ADCFF"/>
                </a:solidFill>
                <a:latin typeface="Microsoft YaHei"/>
              </a:defRPr>
            </a:pPr>
            <a:r>
              <a:t>06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508760" y="5138928"/>
            <a:ext cx="45720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600" b="1">
                <a:solidFill>
                  <a:srgbClr val="F8FAFF"/>
                </a:solidFill>
                <a:latin typeface="Microsoft YaHei"/>
              </a:defRPr>
            </a:pPr>
            <a:r>
              <a:t>下季度计划与感谢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1417320" y="5522976"/>
            <a:ext cx="9372600" cy="0"/>
          </a:xfrm>
          <a:prstGeom prst="line">
            <a:avLst/>
          </a:prstGeom>
          <a:ln w="6350">
            <a:solidFill>
              <a:srgbClr val="3749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509760" y="-457200"/>
            <a:ext cx="2926080" cy="2926080"/>
          </a:xfrm>
          <a:prstGeom prst="ellipse">
            <a:avLst/>
          </a:prstGeom>
          <a:solidFill>
            <a:srgbClr val="9B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731520" y="4754880"/>
            <a:ext cx="2468880" cy="2468880"/>
          </a:xfrm>
          <a:prstGeom prst="ellipse">
            <a:avLst/>
          </a:prstGeom>
          <a:solidFill>
            <a:srgbClr val="4A9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4754880" y="1005840"/>
            <a:ext cx="1371600" cy="1371600"/>
          </a:xfrm>
          <a:prstGeom prst="ellipse">
            <a:avLst/>
          </a:prstGeom>
          <a:solidFill>
            <a:srgbClr val="3AD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320040" y="548640"/>
            <a:ext cx="11567160" cy="0"/>
          </a:xfrm>
          <a:prstGeom prst="line">
            <a:avLst/>
          </a:prstGeom>
          <a:ln w="4445">
            <a:solidFill>
              <a:srgbClr val="2837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320040" y="1261872"/>
            <a:ext cx="11567160" cy="0"/>
          </a:xfrm>
          <a:prstGeom prst="line">
            <a:avLst/>
          </a:prstGeom>
          <a:ln w="4445">
            <a:solidFill>
              <a:srgbClr val="2837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320040" y="1975104"/>
            <a:ext cx="11567160" cy="0"/>
          </a:xfrm>
          <a:prstGeom prst="line">
            <a:avLst/>
          </a:prstGeom>
          <a:ln w="4445">
            <a:solidFill>
              <a:srgbClr val="2837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320040" y="2688336"/>
            <a:ext cx="11567160" cy="0"/>
          </a:xfrm>
          <a:prstGeom prst="line">
            <a:avLst/>
          </a:prstGeom>
          <a:ln w="4445">
            <a:solidFill>
              <a:srgbClr val="2837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320040" y="3401568"/>
            <a:ext cx="11567160" cy="0"/>
          </a:xfrm>
          <a:prstGeom prst="line">
            <a:avLst/>
          </a:prstGeom>
          <a:ln w="4445">
            <a:solidFill>
              <a:srgbClr val="2837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320040" y="4114800"/>
            <a:ext cx="11567160" cy="0"/>
          </a:xfrm>
          <a:prstGeom prst="line">
            <a:avLst/>
          </a:prstGeom>
          <a:ln w="4445">
            <a:solidFill>
              <a:srgbClr val="2837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320040" y="4828031"/>
            <a:ext cx="11567160" cy="0"/>
          </a:xfrm>
          <a:prstGeom prst="line">
            <a:avLst/>
          </a:prstGeom>
          <a:ln w="4445">
            <a:solidFill>
              <a:srgbClr val="2837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320040" y="5541264"/>
            <a:ext cx="11567160" cy="0"/>
          </a:xfrm>
          <a:prstGeom prst="line">
            <a:avLst/>
          </a:prstGeom>
          <a:ln w="4445">
            <a:solidFill>
              <a:srgbClr val="2837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40080" y="384048"/>
            <a:ext cx="7955279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2800" b="1">
                <a:solidFill>
                  <a:srgbClr val="F8FAFF"/>
                </a:solidFill>
                <a:latin typeface="Microsoft YaHei"/>
              </a:defRPr>
            </a:pPr>
            <a:r>
              <a:t>项目定位：面向个人桌面的 AI 智能助手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932688"/>
            <a:ext cx="877824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150" b="0">
                <a:solidFill>
                  <a:srgbClr val="AEBEE1"/>
                </a:solidFill>
                <a:latin typeface="Microsoft YaHei"/>
              </a:defRPr>
            </a:pPr>
            <a:r>
              <a:t>通过自然语言和语音交互，把 AI 能力转化为日常可用的应用入口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" y="1298448"/>
            <a:ext cx="1097280" cy="45720"/>
          </a:xfrm>
          <a:prstGeom prst="rect">
            <a:avLst/>
          </a:prstGeom>
          <a:solidFill>
            <a:srgbClr val="3AD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6437376"/>
            <a:ext cx="54864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800" b="0">
                <a:solidFill>
                  <a:srgbClr val="8296C3"/>
                </a:solidFill>
                <a:latin typeface="Microsoft YaHei"/>
              </a:defRPr>
            </a:pPr>
            <a:r>
              <a:t>小文智能 APP · AI Voice Assistant Project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201400" y="6419088"/>
            <a:ext cx="50292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defRPr sz="1000" b="1">
                <a:solidFill>
                  <a:srgbClr val="3ADCFF"/>
                </a:solidFill>
                <a:latin typeface="Microsoft YaHei"/>
              </a:defRPr>
            </a:pPr>
            <a:r>
              <a:t>03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5800" y="1554480"/>
            <a:ext cx="3429000" cy="1417320"/>
          </a:xfrm>
          <a:prstGeom prst="roundRect">
            <a:avLst/>
          </a:prstGeom>
          <a:solidFill>
            <a:srgbClr val="161F3E"/>
          </a:solidFill>
          <a:ln w="12700">
            <a:solidFill>
              <a:srgbClr val="465A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85800" y="1554480"/>
            <a:ext cx="73152" cy="1417320"/>
          </a:xfrm>
          <a:prstGeom prst="rect">
            <a:avLst/>
          </a:prstGeom>
          <a:solidFill>
            <a:srgbClr val="3AD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86968" y="1664207"/>
            <a:ext cx="3081528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300" b="1">
                <a:solidFill>
                  <a:srgbClr val="F8FAFF"/>
                </a:solidFill>
                <a:latin typeface="Microsoft YaHei"/>
              </a:defRPr>
            </a:pPr>
            <a:r>
              <a:t>用户侧价值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6968" y="2057400"/>
            <a:ext cx="304495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019">
                <a:solidFill>
                  <a:srgbClr val="AEBEE1"/>
                </a:solidFill>
                <a:latin typeface="Microsoft YaHei"/>
              </a:defRPr>
            </a:pPr>
            <a:r>
              <a:t>一句话完成查询、播放、生成、翻译和打开应用</a:t>
            </a:r>
          </a:p>
          <a:p>
            <a:pPr>
              <a:spcAft>
                <a:spcPts val="300"/>
              </a:spcAft>
              <a:defRPr sz="1019">
                <a:solidFill>
                  <a:srgbClr val="AEBEE1"/>
                </a:solidFill>
                <a:latin typeface="Microsoft YaHei"/>
              </a:defRPr>
            </a:pPr>
            <a:r>
              <a:t>降低操作门槛，强化语音助手体验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389120" y="1554480"/>
            <a:ext cx="3429000" cy="1417320"/>
          </a:xfrm>
          <a:prstGeom prst="roundRect">
            <a:avLst/>
          </a:prstGeom>
          <a:solidFill>
            <a:srgbClr val="161F3E"/>
          </a:solidFill>
          <a:ln w="12700">
            <a:solidFill>
              <a:srgbClr val="465A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389120" y="1554480"/>
            <a:ext cx="73152" cy="1417320"/>
          </a:xfrm>
          <a:prstGeom prst="rect">
            <a:avLst/>
          </a:prstGeom>
          <a:solidFill>
            <a:srgbClr val="9B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90288" y="1664207"/>
            <a:ext cx="3081528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300" b="1">
                <a:solidFill>
                  <a:srgbClr val="F8FAFF"/>
                </a:solidFill>
                <a:latin typeface="Microsoft YaHei"/>
              </a:defRPr>
            </a:pPr>
            <a:r>
              <a:t>产品侧价值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90288" y="2057400"/>
            <a:ext cx="304495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019">
                <a:solidFill>
                  <a:srgbClr val="AEBEE1"/>
                </a:solidFill>
                <a:latin typeface="Microsoft YaHei"/>
              </a:defRPr>
            </a:pPr>
            <a:r>
              <a:t>将多个 AI 与生活服务能力汇聚到统一界面</a:t>
            </a:r>
          </a:p>
          <a:p>
            <a:pPr>
              <a:spcAft>
                <a:spcPts val="300"/>
              </a:spcAft>
              <a:defRPr sz="1019">
                <a:solidFill>
                  <a:srgbClr val="AEBEE1"/>
                </a:solidFill>
                <a:latin typeface="Microsoft YaHei"/>
              </a:defRPr>
            </a:pPr>
            <a:r>
              <a:t>形成可演示、可扩展、可迭代的 App 原型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92440" y="1554480"/>
            <a:ext cx="3429000" cy="1417320"/>
          </a:xfrm>
          <a:prstGeom prst="roundRect">
            <a:avLst/>
          </a:prstGeom>
          <a:solidFill>
            <a:srgbClr val="161F3E"/>
          </a:solidFill>
          <a:ln w="12700">
            <a:solidFill>
              <a:srgbClr val="465A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092440" y="1554480"/>
            <a:ext cx="73152" cy="1417320"/>
          </a:xfrm>
          <a:prstGeom prst="rect">
            <a:avLst/>
          </a:prstGeom>
          <a:solidFill>
            <a:srgbClr val="4CE6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93608" y="1664207"/>
            <a:ext cx="3081528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300" b="1">
                <a:solidFill>
                  <a:srgbClr val="F8FAFF"/>
                </a:solidFill>
                <a:latin typeface="Microsoft YaHei"/>
              </a:defRPr>
            </a:pPr>
            <a:r>
              <a:t>技术侧价值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93608" y="2057400"/>
            <a:ext cx="304495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019">
                <a:solidFill>
                  <a:srgbClr val="AEBEE1"/>
                </a:solidFill>
                <a:latin typeface="Microsoft YaHei"/>
              </a:defRPr>
            </a:pPr>
            <a:r>
              <a:t>覆盖前端组件化、后端 API、模型调用、异步任务</a:t>
            </a:r>
          </a:p>
          <a:p>
            <a:pPr>
              <a:spcAft>
                <a:spcPts val="300"/>
              </a:spcAft>
              <a:defRPr sz="1019">
                <a:solidFill>
                  <a:srgbClr val="AEBEE1"/>
                </a:solidFill>
                <a:latin typeface="Microsoft YaHei"/>
              </a:defRPr>
            </a:pPr>
            <a:r>
              <a:t>适合作为课程设计、项目展示和 AI 应用样板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3657600"/>
            <a:ext cx="1078992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900" b="1">
                <a:solidFill>
                  <a:srgbClr val="F8FAFF"/>
                </a:solidFill>
                <a:latin typeface="Microsoft YaHei"/>
              </a:defRPr>
            </a:pPr>
            <a:r>
              <a:t>核心定位：不是单一聊天机器人，而是一个可执行任务的 AI 智能应用入口。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51560" y="4370832"/>
            <a:ext cx="2148840" cy="868680"/>
          </a:xfrm>
          <a:prstGeom prst="roundRect">
            <a:avLst/>
          </a:prstGeom>
          <a:solidFill>
            <a:srgbClr val="161F3E"/>
          </a:solidFill>
          <a:ln w="12700">
            <a:solidFill>
              <a:srgbClr val="465A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051560" y="4370832"/>
            <a:ext cx="73152" cy="868680"/>
          </a:xfrm>
          <a:prstGeom prst="rect">
            <a:avLst/>
          </a:prstGeom>
          <a:solidFill>
            <a:srgbClr val="4A9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252728" y="4480560"/>
            <a:ext cx="1801368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300" b="1">
                <a:solidFill>
                  <a:srgbClr val="F8FAFF"/>
                </a:solidFill>
                <a:latin typeface="Microsoft YaHei"/>
              </a:defRPr>
            </a:pPr>
            <a:r>
              <a:t>生活助手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52728" y="4873752"/>
            <a:ext cx="1764792" cy="274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019">
                <a:solidFill>
                  <a:srgbClr val="AEBEE1"/>
                </a:solidFill>
                <a:latin typeface="Microsoft YaHei"/>
              </a:defRPr>
            </a:pPr>
            <a:r>
              <a:t>天气 / 音乐 / 问答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703320" y="4370832"/>
            <a:ext cx="2148840" cy="868680"/>
          </a:xfrm>
          <a:prstGeom prst="roundRect">
            <a:avLst/>
          </a:prstGeom>
          <a:solidFill>
            <a:srgbClr val="161F3E"/>
          </a:solidFill>
          <a:ln w="12700">
            <a:solidFill>
              <a:srgbClr val="465A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703320" y="4370832"/>
            <a:ext cx="73152" cy="868680"/>
          </a:xfrm>
          <a:prstGeom prst="rect">
            <a:avLst/>
          </a:prstGeom>
          <a:solidFill>
            <a:srgbClr val="9B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904487" y="4480560"/>
            <a:ext cx="1801368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300" b="1">
                <a:solidFill>
                  <a:srgbClr val="F8FAFF"/>
                </a:solidFill>
                <a:latin typeface="Microsoft YaHei"/>
              </a:defRPr>
            </a:pPr>
            <a:r>
              <a:t>创作助手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904487" y="4873752"/>
            <a:ext cx="1764792" cy="274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019">
                <a:solidFill>
                  <a:srgbClr val="AEBEE1"/>
                </a:solidFill>
                <a:latin typeface="Microsoft YaHei"/>
              </a:defRPr>
            </a:pPr>
            <a:r>
              <a:t>AI 对话 / 文生图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355079" y="4370832"/>
            <a:ext cx="2148840" cy="868680"/>
          </a:xfrm>
          <a:prstGeom prst="roundRect">
            <a:avLst/>
          </a:prstGeom>
          <a:solidFill>
            <a:srgbClr val="161F3E"/>
          </a:solidFill>
          <a:ln w="12700">
            <a:solidFill>
              <a:srgbClr val="465A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355079" y="4370832"/>
            <a:ext cx="73152" cy="868680"/>
          </a:xfrm>
          <a:prstGeom prst="rect">
            <a:avLst/>
          </a:prstGeom>
          <a:solidFill>
            <a:srgbClr val="3AD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556247" y="4480560"/>
            <a:ext cx="1801368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300" b="1">
                <a:solidFill>
                  <a:srgbClr val="F8FAFF"/>
                </a:solidFill>
                <a:latin typeface="Microsoft YaHei"/>
              </a:defRPr>
            </a:pPr>
            <a:r>
              <a:t>数据助手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56247" y="4873752"/>
            <a:ext cx="1764792" cy="274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019">
                <a:solidFill>
                  <a:srgbClr val="AEBEE1"/>
                </a:solidFill>
                <a:latin typeface="Microsoft YaHei"/>
              </a:defRPr>
            </a:pPr>
            <a:r>
              <a:t>文本/文件生成图表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006840" y="4370832"/>
            <a:ext cx="2148840" cy="868680"/>
          </a:xfrm>
          <a:prstGeom prst="roundRect">
            <a:avLst/>
          </a:prstGeom>
          <a:solidFill>
            <a:srgbClr val="161F3E"/>
          </a:solidFill>
          <a:ln w="12700">
            <a:solidFill>
              <a:srgbClr val="465A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9006840" y="4370832"/>
            <a:ext cx="73152" cy="868680"/>
          </a:xfrm>
          <a:prstGeom prst="rect">
            <a:avLst/>
          </a:prstGeom>
          <a:solidFill>
            <a:srgbClr val="4CE6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208008" y="4480560"/>
            <a:ext cx="1801368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300" b="1">
                <a:solidFill>
                  <a:srgbClr val="F8FAFF"/>
                </a:solidFill>
                <a:latin typeface="Microsoft YaHei"/>
              </a:defRPr>
            </a:pPr>
            <a:r>
              <a:t>桌面助手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208008" y="4873752"/>
            <a:ext cx="1764792" cy="274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019">
                <a:solidFill>
                  <a:srgbClr val="AEBEE1"/>
                </a:solidFill>
                <a:latin typeface="Microsoft YaHei"/>
              </a:defRPr>
            </a:pPr>
            <a:r>
              <a:t>打开应用 / 快捷操作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509760" y="-457200"/>
            <a:ext cx="2926080" cy="2926080"/>
          </a:xfrm>
          <a:prstGeom prst="ellipse">
            <a:avLst/>
          </a:prstGeom>
          <a:solidFill>
            <a:srgbClr val="9B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731520" y="4754880"/>
            <a:ext cx="2468880" cy="2468880"/>
          </a:xfrm>
          <a:prstGeom prst="ellipse">
            <a:avLst/>
          </a:prstGeom>
          <a:solidFill>
            <a:srgbClr val="4A9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4754880" y="1005840"/>
            <a:ext cx="1371600" cy="1371600"/>
          </a:xfrm>
          <a:prstGeom prst="ellipse">
            <a:avLst/>
          </a:prstGeom>
          <a:solidFill>
            <a:srgbClr val="3AD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320040" y="548640"/>
            <a:ext cx="11567160" cy="0"/>
          </a:xfrm>
          <a:prstGeom prst="line">
            <a:avLst/>
          </a:prstGeom>
          <a:ln w="4445">
            <a:solidFill>
              <a:srgbClr val="2837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320040" y="1261872"/>
            <a:ext cx="11567160" cy="0"/>
          </a:xfrm>
          <a:prstGeom prst="line">
            <a:avLst/>
          </a:prstGeom>
          <a:ln w="4445">
            <a:solidFill>
              <a:srgbClr val="2837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320040" y="1975104"/>
            <a:ext cx="11567160" cy="0"/>
          </a:xfrm>
          <a:prstGeom prst="line">
            <a:avLst/>
          </a:prstGeom>
          <a:ln w="4445">
            <a:solidFill>
              <a:srgbClr val="2837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320040" y="2688336"/>
            <a:ext cx="11567160" cy="0"/>
          </a:xfrm>
          <a:prstGeom prst="line">
            <a:avLst/>
          </a:prstGeom>
          <a:ln w="4445">
            <a:solidFill>
              <a:srgbClr val="2837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320040" y="3401568"/>
            <a:ext cx="11567160" cy="0"/>
          </a:xfrm>
          <a:prstGeom prst="line">
            <a:avLst/>
          </a:prstGeom>
          <a:ln w="4445">
            <a:solidFill>
              <a:srgbClr val="2837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320040" y="4114800"/>
            <a:ext cx="11567160" cy="0"/>
          </a:xfrm>
          <a:prstGeom prst="line">
            <a:avLst/>
          </a:prstGeom>
          <a:ln w="4445">
            <a:solidFill>
              <a:srgbClr val="2837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320040" y="4828031"/>
            <a:ext cx="11567160" cy="0"/>
          </a:xfrm>
          <a:prstGeom prst="line">
            <a:avLst/>
          </a:prstGeom>
          <a:ln w="4445">
            <a:solidFill>
              <a:srgbClr val="2837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320040" y="5541264"/>
            <a:ext cx="11567160" cy="0"/>
          </a:xfrm>
          <a:prstGeom prst="line">
            <a:avLst/>
          </a:prstGeom>
          <a:ln w="4445">
            <a:solidFill>
              <a:srgbClr val="2837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40080" y="384048"/>
            <a:ext cx="7955279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2800" b="1">
                <a:solidFill>
                  <a:srgbClr val="F8FAFF"/>
                </a:solidFill>
                <a:latin typeface="Microsoft YaHei"/>
              </a:defRPr>
            </a:pPr>
            <a:r>
              <a:t>应用方式、实现方法与核心数据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932688"/>
            <a:ext cx="877824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150" b="0">
                <a:solidFill>
                  <a:srgbClr val="AEBEE1"/>
                </a:solidFill>
                <a:latin typeface="Microsoft YaHei"/>
              </a:defRPr>
            </a:pPr>
            <a:r>
              <a:t>用户一句自然语言指令，系统自动完成意图识别、能力调用和结果展示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" y="1298448"/>
            <a:ext cx="1097280" cy="45720"/>
          </a:xfrm>
          <a:prstGeom prst="rect">
            <a:avLst/>
          </a:prstGeom>
          <a:solidFill>
            <a:srgbClr val="3AD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6437376"/>
            <a:ext cx="54864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800" b="0">
                <a:solidFill>
                  <a:srgbClr val="8296C3"/>
                </a:solidFill>
                <a:latin typeface="Microsoft YaHei"/>
              </a:defRPr>
            </a:pPr>
            <a:r>
              <a:t>小文智能 APP · AI Voice Assistant Project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201400" y="6419088"/>
            <a:ext cx="50292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defRPr sz="1000" b="1">
                <a:solidFill>
                  <a:srgbClr val="3ADCFF"/>
                </a:solidFill>
                <a:latin typeface="Microsoft YaHei"/>
              </a:defRPr>
            </a:pPr>
            <a:r>
              <a:t>04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7240" y="1481328"/>
            <a:ext cx="2331720" cy="1024128"/>
          </a:xfrm>
          <a:prstGeom prst="roundRect">
            <a:avLst/>
          </a:prstGeom>
          <a:solidFill>
            <a:srgbClr val="161F3E"/>
          </a:solidFill>
          <a:ln w="12700">
            <a:solidFill>
              <a:srgbClr val="465A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77240" y="1481328"/>
            <a:ext cx="73152" cy="1024128"/>
          </a:xfrm>
          <a:prstGeom prst="rect">
            <a:avLst/>
          </a:prstGeom>
          <a:solidFill>
            <a:srgbClr val="3AD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78408" y="1591056"/>
            <a:ext cx="1984248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300" b="1">
                <a:solidFill>
                  <a:srgbClr val="F8FAFF"/>
                </a:solidFill>
                <a:latin typeface="Microsoft YaHei"/>
              </a:defRPr>
            </a:pPr>
            <a:r>
              <a:t>输入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8408" y="1984248"/>
            <a:ext cx="1947672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019">
                <a:solidFill>
                  <a:srgbClr val="AEBEE1"/>
                </a:solidFill>
                <a:latin typeface="Microsoft YaHei"/>
              </a:defRPr>
            </a:pPr>
            <a:r>
              <a:t>文字 / 语音 / 文件 / 示例指令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566160" y="1481328"/>
            <a:ext cx="2331720" cy="1024128"/>
          </a:xfrm>
          <a:prstGeom prst="roundRect">
            <a:avLst/>
          </a:prstGeom>
          <a:solidFill>
            <a:srgbClr val="161F3E"/>
          </a:solidFill>
          <a:ln w="12700">
            <a:solidFill>
              <a:srgbClr val="465A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566160" y="1481328"/>
            <a:ext cx="73152" cy="1024128"/>
          </a:xfrm>
          <a:prstGeom prst="rect">
            <a:avLst/>
          </a:prstGeom>
          <a:solidFill>
            <a:srgbClr val="4A9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767328" y="1591056"/>
            <a:ext cx="1984248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300" b="1">
                <a:solidFill>
                  <a:srgbClr val="F8FAFF"/>
                </a:solidFill>
                <a:latin typeface="Microsoft YaHei"/>
              </a:defRPr>
            </a:pPr>
            <a:r>
              <a:t>识别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767328" y="1984248"/>
            <a:ext cx="1947672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019">
                <a:solidFill>
                  <a:srgbClr val="AEBEE1"/>
                </a:solidFill>
                <a:latin typeface="Microsoft YaHei"/>
              </a:defRPr>
            </a:pPr>
            <a:r>
              <a:t>关键词规则 + 模式判断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355079" y="1481328"/>
            <a:ext cx="2331720" cy="1024128"/>
          </a:xfrm>
          <a:prstGeom prst="roundRect">
            <a:avLst/>
          </a:prstGeom>
          <a:solidFill>
            <a:srgbClr val="161F3E"/>
          </a:solidFill>
          <a:ln w="12700">
            <a:solidFill>
              <a:srgbClr val="465A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355079" y="1481328"/>
            <a:ext cx="73152" cy="1024128"/>
          </a:xfrm>
          <a:prstGeom prst="rect">
            <a:avLst/>
          </a:prstGeom>
          <a:solidFill>
            <a:srgbClr val="9B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56247" y="1591056"/>
            <a:ext cx="1984248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300" b="1">
                <a:solidFill>
                  <a:srgbClr val="F8FAFF"/>
                </a:solidFill>
                <a:latin typeface="Microsoft YaHei"/>
              </a:defRPr>
            </a:pPr>
            <a:r>
              <a:t>调用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56247" y="1984248"/>
            <a:ext cx="1947672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019">
                <a:solidFill>
                  <a:srgbClr val="AEBEE1"/>
                </a:solidFill>
                <a:latin typeface="Microsoft YaHei"/>
              </a:defRPr>
            </a:pPr>
            <a:r>
              <a:t>AI / 天气 / 音乐 / 图片 / 图表 / 本机应用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143999" y="1481328"/>
            <a:ext cx="2331720" cy="1024128"/>
          </a:xfrm>
          <a:prstGeom prst="roundRect">
            <a:avLst/>
          </a:prstGeom>
          <a:solidFill>
            <a:srgbClr val="161F3E"/>
          </a:solidFill>
          <a:ln w="12700">
            <a:solidFill>
              <a:srgbClr val="465A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143999" y="1481328"/>
            <a:ext cx="73152" cy="1024128"/>
          </a:xfrm>
          <a:prstGeom prst="rect">
            <a:avLst/>
          </a:prstGeom>
          <a:solidFill>
            <a:srgbClr val="4CE6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345167" y="1591056"/>
            <a:ext cx="1984248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300" b="1">
                <a:solidFill>
                  <a:srgbClr val="F8FAFF"/>
                </a:solidFill>
                <a:latin typeface="Microsoft YaHei"/>
              </a:defRPr>
            </a:pPr>
            <a:r>
              <a:t>反馈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345167" y="1984248"/>
            <a:ext cx="1947672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019">
                <a:solidFill>
                  <a:srgbClr val="AEBEE1"/>
                </a:solidFill>
                <a:latin typeface="Microsoft YaHei"/>
              </a:defRPr>
            </a:pPr>
            <a:r>
              <a:t>卡片展示 + 图表 + 日志 + 朗读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68680" y="3154680"/>
            <a:ext cx="2148840" cy="932688"/>
          </a:xfrm>
          <a:prstGeom prst="roundRect">
            <a:avLst/>
          </a:prstGeom>
          <a:solidFill>
            <a:srgbClr val="1E2B56"/>
          </a:solidFill>
          <a:ln w="15240">
            <a:solidFill>
              <a:srgbClr val="3AD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60120" y="3264408"/>
            <a:ext cx="196596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2200" b="1">
                <a:solidFill>
                  <a:srgbClr val="3ADCFF"/>
                </a:solidFill>
                <a:latin typeface="Microsoft YaHei"/>
              </a:defRPr>
            </a:pPr>
            <a:r>
              <a:t>15+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0120" y="3721608"/>
            <a:ext cx="196596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50" b="0">
                <a:solidFill>
                  <a:srgbClr val="AEBEE1"/>
                </a:solidFill>
                <a:latin typeface="Microsoft YaHei"/>
              </a:defRPr>
            </a:pPr>
            <a:r>
              <a:t>已实现核心功能点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3337560" y="3154680"/>
            <a:ext cx="2148840" cy="932688"/>
          </a:xfrm>
          <a:prstGeom prst="roundRect">
            <a:avLst/>
          </a:prstGeom>
          <a:solidFill>
            <a:srgbClr val="1E2B56"/>
          </a:solidFill>
          <a:ln w="15240">
            <a:solidFill>
              <a:srgbClr val="4CE6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429000" y="3264408"/>
            <a:ext cx="196596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2200" b="1">
                <a:solidFill>
                  <a:srgbClr val="4CE6AA"/>
                </a:solidFill>
                <a:latin typeface="Microsoft YaHei"/>
              </a:defRPr>
            </a:pPr>
            <a:r>
              <a:t>4+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429000" y="3721608"/>
            <a:ext cx="196596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50" b="0">
                <a:solidFill>
                  <a:srgbClr val="AEBEE1"/>
                </a:solidFill>
                <a:latin typeface="Microsoft YaHei"/>
              </a:defRPr>
            </a:pPr>
            <a:r>
              <a:t>后端核心 API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806440" y="3154680"/>
            <a:ext cx="2148840" cy="932688"/>
          </a:xfrm>
          <a:prstGeom prst="roundRect">
            <a:avLst/>
          </a:prstGeom>
          <a:solidFill>
            <a:srgbClr val="1E2B56"/>
          </a:solidFill>
          <a:ln w="15240">
            <a:solidFill>
              <a:srgbClr val="9B5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897879" y="3264408"/>
            <a:ext cx="196596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2200" b="1">
                <a:solidFill>
                  <a:srgbClr val="9B5CFF"/>
                </a:solidFill>
                <a:latin typeface="Microsoft YaHei"/>
              </a:defRPr>
            </a:pPr>
            <a:r>
              <a:t>12+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897879" y="3721608"/>
            <a:ext cx="196596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50" b="0">
                <a:solidFill>
                  <a:srgbClr val="AEBEE1"/>
                </a:solidFill>
                <a:latin typeface="Microsoft YaHei"/>
              </a:defRPr>
            </a:pPr>
            <a:r>
              <a:t>前端组件模块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275320" y="3154680"/>
            <a:ext cx="2148840" cy="932688"/>
          </a:xfrm>
          <a:prstGeom prst="roundRect">
            <a:avLst/>
          </a:prstGeom>
          <a:solidFill>
            <a:srgbClr val="1E2B56"/>
          </a:solidFill>
          <a:ln w="15240">
            <a:solidFill>
              <a:srgbClr val="FFB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366760" y="3264408"/>
            <a:ext cx="196596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2200" b="1">
                <a:solidFill>
                  <a:srgbClr val="FFB45A"/>
                </a:solidFill>
                <a:latin typeface="Microsoft YaHei"/>
              </a:defRPr>
            </a:pPr>
            <a:r>
              <a:t>80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366760" y="3721608"/>
            <a:ext cx="196596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50" b="0">
                <a:solidFill>
                  <a:srgbClr val="AEBEE1"/>
                </a:solidFill>
                <a:latin typeface="Microsoft YaHei"/>
              </a:defRPr>
            </a:pPr>
            <a:r>
              <a:t>单图表最大数据点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68680" y="4645152"/>
            <a:ext cx="3429000" cy="1005840"/>
          </a:xfrm>
          <a:prstGeom prst="roundRect">
            <a:avLst/>
          </a:prstGeom>
          <a:solidFill>
            <a:srgbClr val="161F3E"/>
          </a:solidFill>
          <a:ln w="12700">
            <a:solidFill>
              <a:srgbClr val="465A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868680" y="4645152"/>
            <a:ext cx="73152" cy="1005840"/>
          </a:xfrm>
          <a:prstGeom prst="rect">
            <a:avLst/>
          </a:prstGeom>
          <a:solidFill>
            <a:srgbClr val="4A9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069848" y="4754880"/>
            <a:ext cx="3081528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300" b="1">
                <a:solidFill>
                  <a:srgbClr val="F8FAFF"/>
                </a:solidFill>
                <a:latin typeface="Microsoft YaHei"/>
              </a:defRPr>
            </a:pPr>
            <a:r>
              <a:t>前端实现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69848" y="5148072"/>
            <a:ext cx="30449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019">
                <a:solidFill>
                  <a:srgbClr val="AEBEE1"/>
                </a:solidFill>
                <a:latin typeface="Microsoft YaHei"/>
              </a:defRPr>
            </a:pPr>
            <a:r>
              <a:t>React + Vite</a:t>
            </a:r>
          </a:p>
          <a:p>
            <a:pPr>
              <a:spcAft>
                <a:spcPts val="300"/>
              </a:spcAft>
              <a:defRPr sz="1019">
                <a:solidFill>
                  <a:srgbClr val="AEBEE1"/>
                </a:solidFill>
                <a:latin typeface="Microsoft YaHei"/>
              </a:defRPr>
            </a:pPr>
            <a:r>
              <a:t>组件化界面 + localStorage 状态持久化</a:t>
            </a:r>
          </a:p>
          <a:p>
            <a:pPr>
              <a:spcAft>
                <a:spcPts val="300"/>
              </a:spcAft>
              <a:defRPr sz="1019">
                <a:solidFill>
                  <a:srgbClr val="AEBEE1"/>
                </a:solidFill>
                <a:latin typeface="Microsoft YaHei"/>
              </a:defRPr>
            </a:pPr>
            <a:r>
              <a:t>Web Speech API 语音识别与朗读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4480560" y="4645152"/>
            <a:ext cx="3429000" cy="1005840"/>
          </a:xfrm>
          <a:prstGeom prst="roundRect">
            <a:avLst/>
          </a:prstGeom>
          <a:solidFill>
            <a:srgbClr val="161F3E"/>
          </a:solidFill>
          <a:ln w="12700">
            <a:solidFill>
              <a:srgbClr val="465A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4480560" y="4645152"/>
            <a:ext cx="73152" cy="1005840"/>
          </a:xfrm>
          <a:prstGeom prst="rect">
            <a:avLst/>
          </a:prstGeom>
          <a:solidFill>
            <a:srgbClr val="4CE6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681728" y="4754880"/>
            <a:ext cx="3081528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300" b="1">
                <a:solidFill>
                  <a:srgbClr val="F8FAFF"/>
                </a:solidFill>
                <a:latin typeface="Microsoft YaHei"/>
              </a:defRPr>
            </a:pPr>
            <a:r>
              <a:t>后端实现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681728" y="5148072"/>
            <a:ext cx="30449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019">
                <a:solidFill>
                  <a:srgbClr val="AEBEE1"/>
                </a:solidFill>
                <a:latin typeface="Microsoft YaHei"/>
              </a:defRPr>
            </a:pPr>
            <a:r>
              <a:t>Flask + Flask-CORS</a:t>
            </a:r>
          </a:p>
          <a:p>
            <a:pPr>
              <a:spcAft>
                <a:spcPts val="300"/>
              </a:spcAft>
              <a:defRPr sz="1019">
                <a:solidFill>
                  <a:srgbClr val="AEBEE1"/>
                </a:solidFill>
                <a:latin typeface="Microsoft YaHei"/>
              </a:defRPr>
            </a:pPr>
            <a:r>
              <a:t>统一 /api/send-task 指令入口</a:t>
            </a:r>
          </a:p>
          <a:p>
            <a:pPr>
              <a:spcAft>
                <a:spcPts val="300"/>
              </a:spcAft>
              <a:defRPr sz="1019">
                <a:solidFill>
                  <a:srgbClr val="AEBEE1"/>
                </a:solidFill>
                <a:latin typeface="Microsoft YaHei"/>
              </a:defRPr>
            </a:pPr>
            <a:r>
              <a:t>requests 调用第三方服务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8092440" y="4645152"/>
            <a:ext cx="3246120" cy="1005840"/>
          </a:xfrm>
          <a:prstGeom prst="roundRect">
            <a:avLst/>
          </a:prstGeom>
          <a:solidFill>
            <a:srgbClr val="161F3E"/>
          </a:solidFill>
          <a:ln w="12700">
            <a:solidFill>
              <a:srgbClr val="465A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8092440" y="4645152"/>
            <a:ext cx="73152" cy="1005840"/>
          </a:xfrm>
          <a:prstGeom prst="rect">
            <a:avLst/>
          </a:prstGeom>
          <a:solidFill>
            <a:srgbClr val="9B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293608" y="4754880"/>
            <a:ext cx="2898648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300" b="1">
                <a:solidFill>
                  <a:srgbClr val="F8FAFF"/>
                </a:solidFill>
                <a:latin typeface="Microsoft YaHei"/>
              </a:defRPr>
            </a:pPr>
            <a:r>
              <a:t>数据实现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293608" y="5148072"/>
            <a:ext cx="286207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019">
                <a:solidFill>
                  <a:srgbClr val="AEBEE1"/>
                </a:solidFill>
                <a:latin typeface="Microsoft YaHei"/>
              </a:defRPr>
            </a:pPr>
            <a:r>
              <a:t>文本正则解析 + CSV / Excel 文件读取</a:t>
            </a:r>
          </a:p>
          <a:p>
            <a:pPr>
              <a:spcAft>
                <a:spcPts val="300"/>
              </a:spcAft>
              <a:defRPr sz="1019">
                <a:solidFill>
                  <a:srgbClr val="AEBEE1"/>
                </a:solidFill>
                <a:latin typeface="Microsoft YaHei"/>
              </a:defRPr>
            </a:pPr>
            <a:r>
              <a:t>SVG 折线图 / 柱状图</a:t>
            </a:r>
          </a:p>
          <a:p>
            <a:pPr>
              <a:spcAft>
                <a:spcPts val="300"/>
              </a:spcAft>
              <a:defRPr sz="1019">
                <a:solidFill>
                  <a:srgbClr val="AEBEE1"/>
                </a:solidFill>
                <a:latin typeface="Microsoft YaHei"/>
              </a:defRPr>
            </a:pPr>
            <a:r>
              <a:t>摘要统计与表格预览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509760" y="-457200"/>
            <a:ext cx="2926080" cy="2926080"/>
          </a:xfrm>
          <a:prstGeom prst="ellipse">
            <a:avLst/>
          </a:prstGeom>
          <a:solidFill>
            <a:srgbClr val="9B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731520" y="4754880"/>
            <a:ext cx="2468880" cy="2468880"/>
          </a:xfrm>
          <a:prstGeom prst="ellipse">
            <a:avLst/>
          </a:prstGeom>
          <a:solidFill>
            <a:srgbClr val="4A9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4754880" y="1005840"/>
            <a:ext cx="1371600" cy="1371600"/>
          </a:xfrm>
          <a:prstGeom prst="ellipse">
            <a:avLst/>
          </a:prstGeom>
          <a:solidFill>
            <a:srgbClr val="3AD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320040" y="548640"/>
            <a:ext cx="11567160" cy="0"/>
          </a:xfrm>
          <a:prstGeom prst="line">
            <a:avLst/>
          </a:prstGeom>
          <a:ln w="4445">
            <a:solidFill>
              <a:srgbClr val="2837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320040" y="1261872"/>
            <a:ext cx="11567160" cy="0"/>
          </a:xfrm>
          <a:prstGeom prst="line">
            <a:avLst/>
          </a:prstGeom>
          <a:ln w="4445">
            <a:solidFill>
              <a:srgbClr val="2837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320040" y="1975104"/>
            <a:ext cx="11567160" cy="0"/>
          </a:xfrm>
          <a:prstGeom prst="line">
            <a:avLst/>
          </a:prstGeom>
          <a:ln w="4445">
            <a:solidFill>
              <a:srgbClr val="2837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320040" y="2688336"/>
            <a:ext cx="11567160" cy="0"/>
          </a:xfrm>
          <a:prstGeom prst="line">
            <a:avLst/>
          </a:prstGeom>
          <a:ln w="4445">
            <a:solidFill>
              <a:srgbClr val="2837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320040" y="3401568"/>
            <a:ext cx="11567160" cy="0"/>
          </a:xfrm>
          <a:prstGeom prst="line">
            <a:avLst/>
          </a:prstGeom>
          <a:ln w="4445">
            <a:solidFill>
              <a:srgbClr val="2837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320040" y="4114800"/>
            <a:ext cx="11567160" cy="0"/>
          </a:xfrm>
          <a:prstGeom prst="line">
            <a:avLst/>
          </a:prstGeom>
          <a:ln w="4445">
            <a:solidFill>
              <a:srgbClr val="2837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320040" y="4828031"/>
            <a:ext cx="11567160" cy="0"/>
          </a:xfrm>
          <a:prstGeom prst="line">
            <a:avLst/>
          </a:prstGeom>
          <a:ln w="4445">
            <a:solidFill>
              <a:srgbClr val="2837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320040" y="5541264"/>
            <a:ext cx="11567160" cy="0"/>
          </a:xfrm>
          <a:prstGeom prst="line">
            <a:avLst/>
          </a:prstGeom>
          <a:ln w="4445">
            <a:solidFill>
              <a:srgbClr val="2837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40080" y="384048"/>
            <a:ext cx="7955279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2800" b="1">
                <a:solidFill>
                  <a:srgbClr val="F8FAFF"/>
                </a:solidFill>
                <a:latin typeface="Microsoft YaHei"/>
              </a:defRPr>
            </a:pPr>
            <a:r>
              <a:t>系统架构：前后端分离 + 多服务能力编排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932688"/>
            <a:ext cx="877824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150" b="0">
                <a:solidFill>
                  <a:srgbClr val="AEBEE1"/>
                </a:solidFill>
                <a:latin typeface="Microsoft YaHei"/>
              </a:defRPr>
            </a:pPr>
            <a:r>
              <a:t>以统一指令入口连接多个 AI 与工具服务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" y="1298448"/>
            <a:ext cx="1097280" cy="45720"/>
          </a:xfrm>
          <a:prstGeom prst="rect">
            <a:avLst/>
          </a:prstGeom>
          <a:solidFill>
            <a:srgbClr val="3AD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6437376"/>
            <a:ext cx="54864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800" b="0">
                <a:solidFill>
                  <a:srgbClr val="8296C3"/>
                </a:solidFill>
                <a:latin typeface="Microsoft YaHei"/>
              </a:defRPr>
            </a:pPr>
            <a:r>
              <a:t>小文智能 APP · AI Voice Assistant Project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201400" y="6419088"/>
            <a:ext cx="50292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defRPr sz="1000" b="1">
                <a:solidFill>
                  <a:srgbClr val="3ADCFF"/>
                </a:solidFill>
                <a:latin typeface="Microsoft YaHei"/>
              </a:defRPr>
            </a:pPr>
            <a:r>
              <a:t>05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5800" y="1508760"/>
            <a:ext cx="2395728" cy="3520440"/>
          </a:xfrm>
          <a:prstGeom prst="roundRect">
            <a:avLst/>
          </a:prstGeom>
          <a:solidFill>
            <a:srgbClr val="161F3E"/>
          </a:solidFill>
          <a:ln w="12700">
            <a:solidFill>
              <a:srgbClr val="465A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85800" y="1508760"/>
            <a:ext cx="73152" cy="3520440"/>
          </a:xfrm>
          <a:prstGeom prst="rect">
            <a:avLst/>
          </a:prstGeom>
          <a:solidFill>
            <a:srgbClr val="3AD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86968" y="1618488"/>
            <a:ext cx="2048256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300" b="1">
                <a:solidFill>
                  <a:srgbClr val="F8FAFF"/>
                </a:solidFill>
                <a:latin typeface="Microsoft YaHei"/>
              </a:defRPr>
            </a:pPr>
            <a:r>
              <a:t>用户交互层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6968" y="2011680"/>
            <a:ext cx="201168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019">
                <a:solidFill>
                  <a:srgbClr val="AEBEE1"/>
                </a:solidFill>
                <a:latin typeface="Microsoft YaHei"/>
              </a:defRPr>
            </a:pPr>
            <a:r>
              <a:t>文字输入</a:t>
            </a:r>
          </a:p>
          <a:p>
            <a:pPr>
              <a:spcAft>
                <a:spcPts val="300"/>
              </a:spcAft>
              <a:defRPr sz="1019">
                <a:solidFill>
                  <a:srgbClr val="AEBEE1"/>
                </a:solidFill>
                <a:latin typeface="Microsoft YaHei"/>
              </a:defRPr>
            </a:pPr>
            <a:r>
              <a:t>语音识别</a:t>
            </a:r>
          </a:p>
          <a:p>
            <a:pPr>
              <a:spcAft>
                <a:spcPts val="300"/>
              </a:spcAft>
              <a:defRPr sz="1019">
                <a:solidFill>
                  <a:srgbClr val="AEBEE1"/>
                </a:solidFill>
                <a:latin typeface="Microsoft YaHei"/>
              </a:defRPr>
            </a:pPr>
            <a:r>
              <a:t>文件上传</a:t>
            </a:r>
          </a:p>
          <a:p>
            <a:pPr>
              <a:spcAft>
                <a:spcPts val="300"/>
              </a:spcAft>
              <a:defRPr sz="1019">
                <a:solidFill>
                  <a:srgbClr val="AEBEE1"/>
                </a:solidFill>
                <a:latin typeface="Microsoft YaHei"/>
              </a:defRPr>
            </a:pPr>
            <a:r>
              <a:t>示例指令</a:t>
            </a:r>
          </a:p>
          <a:p>
            <a:pPr>
              <a:spcAft>
                <a:spcPts val="300"/>
              </a:spcAft>
              <a:defRPr sz="1019">
                <a:solidFill>
                  <a:srgbClr val="AEBEE1"/>
                </a:solidFill>
                <a:latin typeface="Microsoft YaHei"/>
              </a:defRPr>
            </a:pPr>
            <a:r>
              <a:t>划词工具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520440" y="1508760"/>
            <a:ext cx="2395728" cy="3520440"/>
          </a:xfrm>
          <a:prstGeom prst="roundRect">
            <a:avLst/>
          </a:prstGeom>
          <a:solidFill>
            <a:srgbClr val="161F3E"/>
          </a:solidFill>
          <a:ln w="12700">
            <a:solidFill>
              <a:srgbClr val="465A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520440" y="1508760"/>
            <a:ext cx="73152" cy="3520440"/>
          </a:xfrm>
          <a:prstGeom prst="rect">
            <a:avLst/>
          </a:prstGeom>
          <a:solidFill>
            <a:srgbClr val="4A9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721608" y="1618488"/>
            <a:ext cx="2048256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300" b="1">
                <a:solidFill>
                  <a:srgbClr val="F8FAFF"/>
                </a:solidFill>
                <a:latin typeface="Microsoft YaHei"/>
              </a:defRPr>
            </a:pPr>
            <a:r>
              <a:t>前端展示层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721608" y="2011680"/>
            <a:ext cx="201168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019">
                <a:solidFill>
                  <a:srgbClr val="AEBEE1"/>
                </a:solidFill>
                <a:latin typeface="Microsoft YaHei"/>
              </a:defRPr>
            </a:pPr>
            <a:r>
              <a:t>ChatPanel</a:t>
            </a:r>
          </a:p>
          <a:p>
            <a:pPr>
              <a:spcAft>
                <a:spcPts val="300"/>
              </a:spcAft>
              <a:defRPr sz="1019">
                <a:solidFill>
                  <a:srgbClr val="AEBEE1"/>
                </a:solidFill>
                <a:latin typeface="Microsoft YaHei"/>
              </a:defRPr>
            </a:pPr>
            <a:r>
              <a:t>WeatherCard</a:t>
            </a:r>
          </a:p>
          <a:p>
            <a:pPr>
              <a:spcAft>
                <a:spcPts val="300"/>
              </a:spcAft>
              <a:defRPr sz="1019">
                <a:solidFill>
                  <a:srgbClr val="AEBEE1"/>
                </a:solidFill>
                <a:latin typeface="Microsoft YaHei"/>
              </a:defRPr>
            </a:pPr>
            <a:r>
              <a:t>MusicPlayer</a:t>
            </a:r>
          </a:p>
          <a:p>
            <a:pPr>
              <a:spcAft>
                <a:spcPts val="300"/>
              </a:spcAft>
              <a:defRPr sz="1019">
                <a:solidFill>
                  <a:srgbClr val="AEBEE1"/>
                </a:solidFill>
                <a:latin typeface="Microsoft YaHei"/>
              </a:defRPr>
            </a:pPr>
            <a:r>
              <a:t>ImagePreview</a:t>
            </a:r>
          </a:p>
          <a:p>
            <a:pPr>
              <a:spcAft>
                <a:spcPts val="300"/>
              </a:spcAft>
              <a:defRPr sz="1019">
                <a:solidFill>
                  <a:srgbClr val="AEBEE1"/>
                </a:solidFill>
                <a:latin typeface="Microsoft YaHei"/>
              </a:defRPr>
            </a:pPr>
            <a:r>
              <a:t>ChartPanel / XiaowenBot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355080" y="1508760"/>
            <a:ext cx="2395728" cy="3520440"/>
          </a:xfrm>
          <a:prstGeom prst="roundRect">
            <a:avLst/>
          </a:prstGeom>
          <a:solidFill>
            <a:srgbClr val="161F3E"/>
          </a:solidFill>
          <a:ln w="12700">
            <a:solidFill>
              <a:srgbClr val="465A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355080" y="1508760"/>
            <a:ext cx="73152" cy="3520440"/>
          </a:xfrm>
          <a:prstGeom prst="rect">
            <a:avLst/>
          </a:prstGeom>
          <a:solidFill>
            <a:srgbClr val="4CE6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56248" y="1618488"/>
            <a:ext cx="2048256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300" b="1">
                <a:solidFill>
                  <a:srgbClr val="F8FAFF"/>
                </a:solidFill>
                <a:latin typeface="Microsoft YaHei"/>
              </a:defRPr>
            </a:pPr>
            <a:r>
              <a:t>后端调度层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56248" y="2011680"/>
            <a:ext cx="201168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019">
                <a:solidFill>
                  <a:srgbClr val="AEBEE1"/>
                </a:solidFill>
                <a:latin typeface="Microsoft YaHei"/>
              </a:defRPr>
            </a:pPr>
            <a:r>
              <a:t>Flask API</a:t>
            </a:r>
          </a:p>
          <a:p>
            <a:pPr>
              <a:spcAft>
                <a:spcPts val="300"/>
              </a:spcAft>
              <a:defRPr sz="1019">
                <a:solidFill>
                  <a:srgbClr val="AEBEE1"/>
                </a:solidFill>
                <a:latin typeface="Microsoft YaHei"/>
              </a:defRPr>
            </a:pPr>
            <a:r>
              <a:t>parse_command</a:t>
            </a:r>
          </a:p>
          <a:p>
            <a:pPr>
              <a:spcAft>
                <a:spcPts val="300"/>
              </a:spcAft>
              <a:defRPr sz="1019">
                <a:solidFill>
                  <a:srgbClr val="AEBEE1"/>
                </a:solidFill>
                <a:latin typeface="Microsoft YaHei"/>
              </a:defRPr>
            </a:pPr>
            <a:r>
              <a:t>图表解析</a:t>
            </a:r>
          </a:p>
          <a:p>
            <a:pPr>
              <a:spcAft>
                <a:spcPts val="300"/>
              </a:spcAft>
              <a:defRPr sz="1019">
                <a:solidFill>
                  <a:srgbClr val="AEBEE1"/>
                </a:solidFill>
                <a:latin typeface="Microsoft YaHei"/>
              </a:defRPr>
            </a:pPr>
            <a:r>
              <a:t>时间与农历注入</a:t>
            </a:r>
          </a:p>
          <a:p>
            <a:pPr>
              <a:spcAft>
                <a:spcPts val="300"/>
              </a:spcAft>
              <a:defRPr sz="1019">
                <a:solidFill>
                  <a:srgbClr val="AEBEE1"/>
                </a:solidFill>
                <a:latin typeface="Microsoft YaHei"/>
              </a:defRPr>
            </a:pPr>
            <a:r>
              <a:t>白名单应用启动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189720" y="1508760"/>
            <a:ext cx="2395728" cy="3520440"/>
          </a:xfrm>
          <a:prstGeom prst="roundRect">
            <a:avLst/>
          </a:prstGeom>
          <a:solidFill>
            <a:srgbClr val="161F3E"/>
          </a:solidFill>
          <a:ln w="12700">
            <a:solidFill>
              <a:srgbClr val="465A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189720" y="1508760"/>
            <a:ext cx="73152" cy="3520440"/>
          </a:xfrm>
          <a:prstGeom prst="rect">
            <a:avLst/>
          </a:prstGeom>
          <a:solidFill>
            <a:srgbClr val="9B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390888" y="1618488"/>
            <a:ext cx="2048256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300" b="1">
                <a:solidFill>
                  <a:srgbClr val="F8FAFF"/>
                </a:solidFill>
                <a:latin typeface="Microsoft YaHei"/>
              </a:defRPr>
            </a:pPr>
            <a:r>
              <a:t>外部能力层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390888" y="2011680"/>
            <a:ext cx="201168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019">
                <a:solidFill>
                  <a:srgbClr val="AEBEE1"/>
                </a:solidFill>
                <a:latin typeface="Microsoft YaHei"/>
              </a:defRPr>
            </a:pPr>
            <a:r>
              <a:t>DashScope / DeepSeek</a:t>
            </a:r>
          </a:p>
          <a:p>
            <a:pPr>
              <a:spcAft>
                <a:spcPts val="300"/>
              </a:spcAft>
              <a:defRPr sz="1019">
                <a:solidFill>
                  <a:srgbClr val="AEBEE1"/>
                </a:solidFill>
                <a:latin typeface="Microsoft YaHei"/>
              </a:defRPr>
            </a:pPr>
            <a:r>
              <a:t>文生图 / VL</a:t>
            </a:r>
          </a:p>
          <a:p>
            <a:pPr>
              <a:spcAft>
                <a:spcPts val="300"/>
              </a:spcAft>
              <a:defRPr sz="1019">
                <a:solidFill>
                  <a:srgbClr val="AEBEE1"/>
                </a:solidFill>
                <a:latin typeface="Microsoft YaHei"/>
              </a:defRPr>
            </a:pPr>
            <a:r>
              <a:t>高德天气</a:t>
            </a:r>
          </a:p>
          <a:p>
            <a:pPr>
              <a:spcAft>
                <a:spcPts val="300"/>
              </a:spcAft>
              <a:defRPr sz="1019">
                <a:solidFill>
                  <a:srgbClr val="AEBEE1"/>
                </a:solidFill>
                <a:latin typeface="Microsoft YaHei"/>
              </a:defRPr>
            </a:pPr>
            <a:r>
              <a:t>网易云搜索</a:t>
            </a:r>
          </a:p>
          <a:p>
            <a:pPr>
              <a:spcAft>
                <a:spcPts val="300"/>
              </a:spcAft>
              <a:defRPr sz="1019">
                <a:solidFill>
                  <a:srgbClr val="AEBEE1"/>
                </a:solidFill>
                <a:latin typeface="Microsoft YaHei"/>
              </a:defRPr>
            </a:pPr>
            <a:r>
              <a:t>Windows 应用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4400" y="5623560"/>
            <a:ext cx="1051560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500" b="1">
                <a:solidFill>
                  <a:srgbClr val="F8FAFF"/>
                </a:solidFill>
                <a:latin typeface="Microsoft YaHei"/>
              </a:defRPr>
            </a:pPr>
            <a:r>
              <a:t>设计思路：前端负责体验和展示，后端负责安全调度与第三方能力调用，统一返回 type 字段驱动页面组件切换。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509760" y="-457200"/>
            <a:ext cx="2926080" cy="2926080"/>
          </a:xfrm>
          <a:prstGeom prst="ellipse">
            <a:avLst/>
          </a:prstGeom>
          <a:solidFill>
            <a:srgbClr val="9B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731520" y="4754880"/>
            <a:ext cx="2468880" cy="2468880"/>
          </a:xfrm>
          <a:prstGeom prst="ellipse">
            <a:avLst/>
          </a:prstGeom>
          <a:solidFill>
            <a:srgbClr val="4A9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4754880" y="1005840"/>
            <a:ext cx="1371600" cy="1371600"/>
          </a:xfrm>
          <a:prstGeom prst="ellipse">
            <a:avLst/>
          </a:prstGeom>
          <a:solidFill>
            <a:srgbClr val="3AD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320040" y="548640"/>
            <a:ext cx="11567160" cy="0"/>
          </a:xfrm>
          <a:prstGeom prst="line">
            <a:avLst/>
          </a:prstGeom>
          <a:ln w="4445">
            <a:solidFill>
              <a:srgbClr val="2837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320040" y="1261872"/>
            <a:ext cx="11567160" cy="0"/>
          </a:xfrm>
          <a:prstGeom prst="line">
            <a:avLst/>
          </a:prstGeom>
          <a:ln w="4445">
            <a:solidFill>
              <a:srgbClr val="2837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320040" y="1975104"/>
            <a:ext cx="11567160" cy="0"/>
          </a:xfrm>
          <a:prstGeom prst="line">
            <a:avLst/>
          </a:prstGeom>
          <a:ln w="4445">
            <a:solidFill>
              <a:srgbClr val="2837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320040" y="2688336"/>
            <a:ext cx="11567160" cy="0"/>
          </a:xfrm>
          <a:prstGeom prst="line">
            <a:avLst/>
          </a:prstGeom>
          <a:ln w="4445">
            <a:solidFill>
              <a:srgbClr val="2837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320040" y="3401568"/>
            <a:ext cx="11567160" cy="0"/>
          </a:xfrm>
          <a:prstGeom prst="line">
            <a:avLst/>
          </a:prstGeom>
          <a:ln w="4445">
            <a:solidFill>
              <a:srgbClr val="2837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320040" y="4114800"/>
            <a:ext cx="11567160" cy="0"/>
          </a:xfrm>
          <a:prstGeom prst="line">
            <a:avLst/>
          </a:prstGeom>
          <a:ln w="4445">
            <a:solidFill>
              <a:srgbClr val="2837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320040" y="4828031"/>
            <a:ext cx="11567160" cy="0"/>
          </a:xfrm>
          <a:prstGeom prst="line">
            <a:avLst/>
          </a:prstGeom>
          <a:ln w="4445">
            <a:solidFill>
              <a:srgbClr val="2837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320040" y="5541264"/>
            <a:ext cx="11567160" cy="0"/>
          </a:xfrm>
          <a:prstGeom prst="line">
            <a:avLst/>
          </a:prstGeom>
          <a:ln w="4445">
            <a:solidFill>
              <a:srgbClr val="2837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40080" y="384048"/>
            <a:ext cx="7955279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2800" b="1">
                <a:solidFill>
                  <a:srgbClr val="F8FAFF"/>
                </a:solidFill>
                <a:latin typeface="Microsoft YaHei"/>
              </a:defRPr>
            </a:pPr>
            <a:r>
              <a:t>工作亮点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932688"/>
            <a:ext cx="877824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150" b="0">
                <a:solidFill>
                  <a:srgbClr val="AEBEE1"/>
                </a:solidFill>
                <a:latin typeface="Microsoft YaHei"/>
              </a:defRPr>
            </a:pPr>
            <a:r>
              <a:t>能执行任务 + 时间与农历可信（服务端注入事实，减少模型编造）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" y="1298448"/>
            <a:ext cx="1097280" cy="45720"/>
          </a:xfrm>
          <a:prstGeom prst="rect">
            <a:avLst/>
          </a:prstGeom>
          <a:solidFill>
            <a:srgbClr val="3AD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6437376"/>
            <a:ext cx="54864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800" b="0">
                <a:solidFill>
                  <a:srgbClr val="8296C3"/>
                </a:solidFill>
                <a:latin typeface="Microsoft YaHei"/>
              </a:defRPr>
            </a:pPr>
            <a:r>
              <a:t>小文智能 APP · AI Voice Assistant Project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201400" y="6419088"/>
            <a:ext cx="50292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defRPr sz="1000" b="1">
                <a:solidFill>
                  <a:srgbClr val="3ADCFF"/>
                </a:solidFill>
                <a:latin typeface="Microsoft YaHei"/>
              </a:defRPr>
            </a:pPr>
            <a:r>
              <a:t>06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1444752"/>
            <a:ext cx="5166360" cy="1078992"/>
          </a:xfrm>
          <a:prstGeom prst="roundRect">
            <a:avLst/>
          </a:prstGeom>
          <a:solidFill>
            <a:srgbClr val="161F3E"/>
          </a:solidFill>
          <a:ln w="12700">
            <a:solidFill>
              <a:srgbClr val="465A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1520" y="1444752"/>
            <a:ext cx="73152" cy="1078992"/>
          </a:xfrm>
          <a:prstGeom prst="rect">
            <a:avLst/>
          </a:prstGeom>
          <a:solidFill>
            <a:srgbClr val="3AD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2688" y="1554480"/>
            <a:ext cx="4818888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300" b="1">
                <a:solidFill>
                  <a:srgbClr val="F8FAFF"/>
                </a:solidFill>
                <a:latin typeface="Microsoft YaHei"/>
              </a:defRPr>
            </a:pPr>
            <a:r>
              <a:t>01 多轮对话能力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2688" y="1947672"/>
            <a:ext cx="4782312" cy="4846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019">
                <a:solidFill>
                  <a:srgbClr val="AEBEE1"/>
                </a:solidFill>
                <a:latin typeface="Microsoft YaHei"/>
              </a:defRPr>
            </a:pPr>
            <a:r>
              <a:t>支持连续追问：先问承德美食，再追问这些在哪能吃到。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309359" y="1444752"/>
            <a:ext cx="5166360" cy="1078992"/>
          </a:xfrm>
          <a:prstGeom prst="roundRect">
            <a:avLst/>
          </a:prstGeom>
          <a:solidFill>
            <a:srgbClr val="161F3E"/>
          </a:solidFill>
          <a:ln w="12700">
            <a:solidFill>
              <a:srgbClr val="465A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309359" y="1444752"/>
            <a:ext cx="73152" cy="1078992"/>
          </a:xfrm>
          <a:prstGeom prst="rect">
            <a:avLst/>
          </a:prstGeom>
          <a:solidFill>
            <a:srgbClr val="4A9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10527" y="1554480"/>
            <a:ext cx="4818888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300" b="1">
                <a:solidFill>
                  <a:srgbClr val="F8FAFF"/>
                </a:solidFill>
                <a:latin typeface="Microsoft YaHei"/>
              </a:defRPr>
            </a:pPr>
            <a:r>
              <a:t>02 AI 多能力集成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10527" y="1947672"/>
            <a:ext cx="4782312" cy="4846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019">
                <a:solidFill>
                  <a:srgbClr val="AEBEE1"/>
                </a:solidFill>
                <a:latin typeface="Microsoft YaHei"/>
              </a:defRPr>
            </a:pPr>
            <a:r>
              <a:t>DashScope 为主、DeepSeek 可选兜底；文生图、翻译、天气、音乐、图表统一入口。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31520" y="2862072"/>
            <a:ext cx="5166360" cy="1078992"/>
          </a:xfrm>
          <a:prstGeom prst="roundRect">
            <a:avLst/>
          </a:prstGeom>
          <a:solidFill>
            <a:srgbClr val="161F3E"/>
          </a:solidFill>
          <a:ln w="12700">
            <a:solidFill>
              <a:srgbClr val="465A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31520" y="2862072"/>
            <a:ext cx="73152" cy="1078992"/>
          </a:xfrm>
          <a:prstGeom prst="rect">
            <a:avLst/>
          </a:prstGeom>
          <a:solidFill>
            <a:srgbClr val="9B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2688" y="2971800"/>
            <a:ext cx="4818888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300" b="1">
                <a:solidFill>
                  <a:srgbClr val="F8FAFF"/>
                </a:solidFill>
                <a:latin typeface="Microsoft YaHei"/>
              </a:defRPr>
            </a:pPr>
            <a:r>
              <a:t>03 数据可视化能力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2688" y="3364991"/>
            <a:ext cx="4782312" cy="4846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019">
                <a:solidFill>
                  <a:srgbClr val="AEBEE1"/>
                </a:solidFill>
                <a:latin typeface="Microsoft YaHei"/>
              </a:defRPr>
            </a:pPr>
            <a:r>
              <a:t>文本或 CSV / Excel 自动生成折线图、柱状图；无数据时可演示数据兜底。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309359" y="2862072"/>
            <a:ext cx="5166360" cy="1078992"/>
          </a:xfrm>
          <a:prstGeom prst="roundRect">
            <a:avLst/>
          </a:prstGeom>
          <a:solidFill>
            <a:srgbClr val="161F3E"/>
          </a:solidFill>
          <a:ln w="12700">
            <a:solidFill>
              <a:srgbClr val="465A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309359" y="2862072"/>
            <a:ext cx="73152" cy="1078992"/>
          </a:xfrm>
          <a:prstGeom prst="rect">
            <a:avLst/>
          </a:prstGeom>
          <a:solidFill>
            <a:srgbClr val="4CE6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10527" y="2971800"/>
            <a:ext cx="4818888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300" b="1">
                <a:solidFill>
                  <a:srgbClr val="F8FAFF"/>
                </a:solidFill>
                <a:latin typeface="Microsoft YaHei"/>
              </a:defRPr>
            </a:pPr>
            <a:r>
              <a:t>04 时间与农历可信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10527" y="3364991"/>
            <a:ext cx="4782312" cy="4846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019">
                <a:solidFill>
                  <a:srgbClr val="AEBEE1"/>
                </a:solidFill>
                <a:latin typeface="Microsoft YaHei"/>
              </a:defRPr>
            </a:pPr>
            <a:r>
              <a:t>LOCAL_TIMEZONE + zhdate：公历「此刻」与农历锚点写入提示，阴历生日换算有据可查。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31520" y="4279392"/>
            <a:ext cx="5166360" cy="1078992"/>
          </a:xfrm>
          <a:prstGeom prst="roundRect">
            <a:avLst/>
          </a:prstGeom>
          <a:solidFill>
            <a:srgbClr val="161F3E"/>
          </a:solidFill>
          <a:ln w="12700">
            <a:solidFill>
              <a:srgbClr val="465A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31520" y="4279392"/>
            <a:ext cx="73152" cy="1078992"/>
          </a:xfrm>
          <a:prstGeom prst="rect">
            <a:avLst/>
          </a:prstGeom>
          <a:solidFill>
            <a:srgbClr val="FFB4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32688" y="4389120"/>
            <a:ext cx="4818888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300" b="1">
                <a:solidFill>
                  <a:srgbClr val="F8FAFF"/>
                </a:solidFill>
                <a:latin typeface="Microsoft YaHei"/>
              </a:defRPr>
            </a:pPr>
            <a:r>
              <a:t>05 异步文生图体验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32688" y="4782312"/>
            <a:ext cx="4782312" cy="4846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019">
                <a:solidFill>
                  <a:srgbClr val="AEBEE1"/>
                </a:solidFill>
                <a:latin typeface="Microsoft YaHei"/>
              </a:defRPr>
            </a:pPr>
            <a:r>
              <a:t>任务提交后轮询状态，前端展示生成进度。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309359" y="4279392"/>
            <a:ext cx="5166360" cy="1078992"/>
          </a:xfrm>
          <a:prstGeom prst="roundRect">
            <a:avLst/>
          </a:prstGeom>
          <a:solidFill>
            <a:srgbClr val="161F3E"/>
          </a:solidFill>
          <a:ln w="12700">
            <a:solidFill>
              <a:srgbClr val="465A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309359" y="4279392"/>
            <a:ext cx="73152" cy="1078992"/>
          </a:xfrm>
          <a:prstGeom prst="rect">
            <a:avLst/>
          </a:prstGeom>
          <a:solidFill>
            <a:srgbClr val="FF5C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510527" y="4389120"/>
            <a:ext cx="4818888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300" b="1">
                <a:solidFill>
                  <a:srgbClr val="F8FAFF"/>
                </a:solidFill>
                <a:latin typeface="Microsoft YaHei"/>
              </a:defRPr>
            </a:pPr>
            <a:r>
              <a:t>06 安全桌面控制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510527" y="4782312"/>
            <a:ext cx="4782312" cy="4846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019">
                <a:solidFill>
                  <a:srgbClr val="AEBEE1"/>
                </a:solidFill>
                <a:latin typeface="Microsoft YaHei"/>
              </a:defRPr>
            </a:pPr>
            <a:r>
              <a:t>白名单启动本机应用；组件化与 Hook 拆分便于扩展。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509760" y="-457200"/>
            <a:ext cx="2926080" cy="2926080"/>
          </a:xfrm>
          <a:prstGeom prst="ellipse">
            <a:avLst/>
          </a:prstGeom>
          <a:solidFill>
            <a:srgbClr val="9B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731520" y="4754880"/>
            <a:ext cx="2468880" cy="2468880"/>
          </a:xfrm>
          <a:prstGeom prst="ellipse">
            <a:avLst/>
          </a:prstGeom>
          <a:solidFill>
            <a:srgbClr val="4A9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4754880" y="1005840"/>
            <a:ext cx="1371600" cy="1371600"/>
          </a:xfrm>
          <a:prstGeom prst="ellipse">
            <a:avLst/>
          </a:prstGeom>
          <a:solidFill>
            <a:srgbClr val="3AD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320040" y="548640"/>
            <a:ext cx="11567160" cy="0"/>
          </a:xfrm>
          <a:prstGeom prst="line">
            <a:avLst/>
          </a:prstGeom>
          <a:ln w="4445">
            <a:solidFill>
              <a:srgbClr val="2837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320040" y="1261872"/>
            <a:ext cx="11567160" cy="0"/>
          </a:xfrm>
          <a:prstGeom prst="line">
            <a:avLst/>
          </a:prstGeom>
          <a:ln w="4445">
            <a:solidFill>
              <a:srgbClr val="2837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320040" y="1975104"/>
            <a:ext cx="11567160" cy="0"/>
          </a:xfrm>
          <a:prstGeom prst="line">
            <a:avLst/>
          </a:prstGeom>
          <a:ln w="4445">
            <a:solidFill>
              <a:srgbClr val="2837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320040" y="2688336"/>
            <a:ext cx="11567160" cy="0"/>
          </a:xfrm>
          <a:prstGeom prst="line">
            <a:avLst/>
          </a:prstGeom>
          <a:ln w="4445">
            <a:solidFill>
              <a:srgbClr val="2837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320040" y="3401568"/>
            <a:ext cx="11567160" cy="0"/>
          </a:xfrm>
          <a:prstGeom prst="line">
            <a:avLst/>
          </a:prstGeom>
          <a:ln w="4445">
            <a:solidFill>
              <a:srgbClr val="2837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320040" y="4114800"/>
            <a:ext cx="11567160" cy="0"/>
          </a:xfrm>
          <a:prstGeom prst="line">
            <a:avLst/>
          </a:prstGeom>
          <a:ln w="4445">
            <a:solidFill>
              <a:srgbClr val="2837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320040" y="4828031"/>
            <a:ext cx="11567160" cy="0"/>
          </a:xfrm>
          <a:prstGeom prst="line">
            <a:avLst/>
          </a:prstGeom>
          <a:ln w="4445">
            <a:solidFill>
              <a:srgbClr val="2837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320040" y="5541264"/>
            <a:ext cx="11567160" cy="0"/>
          </a:xfrm>
          <a:prstGeom prst="line">
            <a:avLst/>
          </a:prstGeom>
          <a:ln w="4445">
            <a:solidFill>
              <a:srgbClr val="2837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40080" y="384048"/>
            <a:ext cx="7955279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2800" b="1">
                <a:solidFill>
                  <a:srgbClr val="F8FAFF"/>
                </a:solidFill>
                <a:latin typeface="Microsoft YaHei"/>
              </a:defRPr>
            </a:pPr>
            <a:r>
              <a:t>问题与改进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932688"/>
            <a:ext cx="877824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150" b="0">
                <a:solidFill>
                  <a:srgbClr val="AEBEE1"/>
                </a:solidFill>
                <a:latin typeface="Microsoft YaHei"/>
              </a:defRPr>
            </a:pPr>
            <a:r>
              <a:t>当前版本已能演示核心能力，但仍需要从稳定性、智能化和工程化继续提升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" y="1298448"/>
            <a:ext cx="1097280" cy="45720"/>
          </a:xfrm>
          <a:prstGeom prst="rect">
            <a:avLst/>
          </a:prstGeom>
          <a:solidFill>
            <a:srgbClr val="3AD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6437376"/>
            <a:ext cx="54864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800" b="0">
                <a:solidFill>
                  <a:srgbClr val="8296C3"/>
                </a:solidFill>
                <a:latin typeface="Microsoft YaHei"/>
              </a:defRPr>
            </a:pPr>
            <a:r>
              <a:t>小文智能 APP · AI Voice Assistant Project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201400" y="6419088"/>
            <a:ext cx="50292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defRPr sz="1000" b="1">
                <a:solidFill>
                  <a:srgbClr val="3ADCFF"/>
                </a:solidFill>
                <a:latin typeface="Microsoft YaHei"/>
              </a:defRPr>
            </a:pPr>
            <a:r>
              <a:t>07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7240" y="1600200"/>
            <a:ext cx="2103120" cy="530352"/>
          </a:xfrm>
          <a:prstGeom prst="roundRect">
            <a:avLst/>
          </a:prstGeom>
          <a:solidFill>
            <a:srgbClr val="161F3E"/>
          </a:solidFill>
          <a:ln w="12700">
            <a:solidFill>
              <a:srgbClr val="465A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77240" y="1600200"/>
            <a:ext cx="73152" cy="530352"/>
          </a:xfrm>
          <a:prstGeom prst="rect">
            <a:avLst/>
          </a:prstGeom>
          <a:solidFill>
            <a:srgbClr val="3AD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78408" y="1709928"/>
            <a:ext cx="1755648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300" b="1">
                <a:solidFill>
                  <a:srgbClr val="F8FAFF"/>
                </a:solidFill>
                <a:latin typeface="Microsoft YaHei"/>
              </a:defRPr>
            </a:pPr>
            <a:r>
              <a:t>意图识别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8408" y="2103120"/>
            <a:ext cx="1719072" cy="-640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019">
                <a:solidFill>
                  <a:srgbClr val="AEBEE1"/>
                </a:solidFill>
                <a:latin typeface="Microsoft YaHei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3154680" y="1673352"/>
            <a:ext cx="283464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100" b="0">
                <a:solidFill>
                  <a:srgbClr val="AEBEE1"/>
                </a:solidFill>
                <a:latin typeface="Microsoft YaHei"/>
              </a:defRPr>
            </a:pPr>
            <a:r>
              <a:t>关键词规则为主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1673352"/>
            <a:ext cx="484632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100" b="0">
                <a:solidFill>
                  <a:srgbClr val="AEBEE1"/>
                </a:solidFill>
                <a:latin typeface="Microsoft YaHei"/>
              </a:defRPr>
            </a:pPr>
            <a:r>
              <a:t>引入大模型意图分类，减少误判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77240" y="2386584"/>
            <a:ext cx="2103120" cy="530352"/>
          </a:xfrm>
          <a:prstGeom prst="roundRect">
            <a:avLst/>
          </a:prstGeom>
          <a:solidFill>
            <a:srgbClr val="161F3E"/>
          </a:solidFill>
          <a:ln w="12700">
            <a:solidFill>
              <a:srgbClr val="465A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77240" y="2386584"/>
            <a:ext cx="73152" cy="530352"/>
          </a:xfrm>
          <a:prstGeom prst="rect">
            <a:avLst/>
          </a:prstGeom>
          <a:solidFill>
            <a:srgbClr val="4A9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78408" y="2496312"/>
            <a:ext cx="1755648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300" b="1">
                <a:solidFill>
                  <a:srgbClr val="F8FAFF"/>
                </a:solidFill>
                <a:latin typeface="Microsoft YaHei"/>
              </a:defRPr>
            </a:pPr>
            <a:r>
              <a:t>图表能力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8408" y="2889504"/>
            <a:ext cx="1719072" cy="-640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019">
                <a:solidFill>
                  <a:srgbClr val="AEBEE1"/>
                </a:solidFill>
                <a:latin typeface="Microsoft YaHei"/>
              </a:defRPr>
            </a:pPr>
          </a:p>
        </p:txBody>
      </p:sp>
      <p:sp>
        <p:nvSpPr>
          <p:cNvPr id="29" name="TextBox 28"/>
          <p:cNvSpPr txBox="1"/>
          <p:nvPr/>
        </p:nvSpPr>
        <p:spPr>
          <a:xfrm>
            <a:off x="3154680" y="2459736"/>
            <a:ext cx="283464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100" b="0">
                <a:solidFill>
                  <a:srgbClr val="AEBEE1"/>
                </a:solidFill>
                <a:latin typeface="Microsoft YaHei"/>
              </a:defRPr>
            </a:pPr>
            <a:r>
              <a:t>当前单系列为主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2459736"/>
            <a:ext cx="484632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100" b="0">
                <a:solidFill>
                  <a:srgbClr val="AEBEE1"/>
                </a:solidFill>
                <a:latin typeface="Microsoft YaHei"/>
              </a:defRPr>
            </a:pPr>
            <a:r>
              <a:t>扩展多系列、饼图和导出图片/PDF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77240" y="3172968"/>
            <a:ext cx="2103120" cy="530352"/>
          </a:xfrm>
          <a:prstGeom prst="roundRect">
            <a:avLst/>
          </a:prstGeom>
          <a:solidFill>
            <a:srgbClr val="161F3E"/>
          </a:solidFill>
          <a:ln w="12700">
            <a:solidFill>
              <a:srgbClr val="465A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77240" y="3172968"/>
            <a:ext cx="73152" cy="530352"/>
          </a:xfrm>
          <a:prstGeom prst="rect">
            <a:avLst/>
          </a:prstGeom>
          <a:solidFill>
            <a:srgbClr val="9B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78408" y="3282696"/>
            <a:ext cx="1755648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300" b="1">
                <a:solidFill>
                  <a:srgbClr val="F8FAFF"/>
                </a:solidFill>
                <a:latin typeface="Microsoft YaHei"/>
              </a:defRPr>
            </a:pPr>
            <a:r>
              <a:t>音乐播放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78408" y="3675887"/>
            <a:ext cx="1719072" cy="-640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019">
                <a:solidFill>
                  <a:srgbClr val="AEBEE1"/>
                </a:solidFill>
                <a:latin typeface="Microsoft YaHei"/>
              </a:defRPr>
            </a:pPr>
          </a:p>
        </p:txBody>
      </p:sp>
      <p:sp>
        <p:nvSpPr>
          <p:cNvPr id="35" name="TextBox 34"/>
          <p:cNvSpPr txBox="1"/>
          <p:nvPr/>
        </p:nvSpPr>
        <p:spPr>
          <a:xfrm>
            <a:off x="3154680" y="3246120"/>
            <a:ext cx="283464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100" b="0">
                <a:solidFill>
                  <a:srgbClr val="AEBEE1"/>
                </a:solidFill>
                <a:latin typeface="Microsoft YaHei"/>
              </a:defRPr>
            </a:pPr>
            <a:r>
              <a:t>受版权和外链限制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0" y="3246120"/>
            <a:ext cx="484632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100" b="0">
                <a:solidFill>
                  <a:srgbClr val="AEBEE1"/>
                </a:solidFill>
                <a:latin typeface="Microsoft YaHei"/>
              </a:defRPr>
            </a:pPr>
            <a:r>
              <a:t>增加多结果选择、合法音乐源和失败重试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77240" y="3959352"/>
            <a:ext cx="2103120" cy="530352"/>
          </a:xfrm>
          <a:prstGeom prst="roundRect">
            <a:avLst/>
          </a:prstGeom>
          <a:solidFill>
            <a:srgbClr val="161F3E"/>
          </a:solidFill>
          <a:ln w="12700">
            <a:solidFill>
              <a:srgbClr val="465A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77240" y="3959352"/>
            <a:ext cx="73152" cy="530352"/>
          </a:xfrm>
          <a:prstGeom prst="rect">
            <a:avLst/>
          </a:prstGeom>
          <a:solidFill>
            <a:srgbClr val="4CE6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78408" y="4069080"/>
            <a:ext cx="1755648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300" b="1">
                <a:solidFill>
                  <a:srgbClr val="F8FAFF"/>
                </a:solidFill>
                <a:latin typeface="Microsoft YaHei"/>
              </a:defRPr>
            </a:pPr>
            <a:r>
              <a:t>时间与农历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78408" y="4462272"/>
            <a:ext cx="1719072" cy="-640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019">
                <a:solidFill>
                  <a:srgbClr val="AEBEE1"/>
                </a:solidFill>
                <a:latin typeface="Microsoft YaHei"/>
              </a:defRPr>
            </a:pPr>
          </a:p>
        </p:txBody>
      </p:sp>
      <p:sp>
        <p:nvSpPr>
          <p:cNvPr id="41" name="TextBox 40"/>
          <p:cNvSpPr txBox="1"/>
          <p:nvPr/>
        </p:nvSpPr>
        <p:spPr>
          <a:xfrm>
            <a:off x="3154680" y="4032504"/>
            <a:ext cx="283464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100" b="0">
                <a:solidFill>
                  <a:srgbClr val="AEBEE1"/>
                </a:solidFill>
                <a:latin typeface="Microsoft YaHei"/>
              </a:defRPr>
            </a:pPr>
            <a:r>
              <a:t>模型易编造日期 / 阴历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00800" y="4032504"/>
            <a:ext cx="484632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100" b="0">
                <a:solidFill>
                  <a:srgbClr val="AEBEE1"/>
                </a:solidFill>
                <a:latin typeface="Microsoft YaHei"/>
              </a:defRPr>
            </a:pPr>
            <a:r>
              <a:t>已接入服务端注入 + zhdate；持续校验闰月等边界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777240" y="4745736"/>
            <a:ext cx="2103120" cy="530352"/>
          </a:xfrm>
          <a:prstGeom prst="roundRect">
            <a:avLst/>
          </a:prstGeom>
          <a:solidFill>
            <a:srgbClr val="161F3E"/>
          </a:solidFill>
          <a:ln w="12700">
            <a:solidFill>
              <a:srgbClr val="465A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777240" y="4745736"/>
            <a:ext cx="73152" cy="530352"/>
          </a:xfrm>
          <a:prstGeom prst="rect">
            <a:avLst/>
          </a:prstGeom>
          <a:solidFill>
            <a:srgbClr val="FFB4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78408" y="4855464"/>
            <a:ext cx="1755648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300" b="1">
                <a:solidFill>
                  <a:srgbClr val="F8FAFF"/>
                </a:solidFill>
                <a:latin typeface="Microsoft YaHei"/>
              </a:defRPr>
            </a:pPr>
            <a:r>
              <a:t>后端结构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78408" y="5248655"/>
            <a:ext cx="1719072" cy="-640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019">
                <a:solidFill>
                  <a:srgbClr val="AEBEE1"/>
                </a:solidFill>
                <a:latin typeface="Microsoft YaHei"/>
              </a:defRPr>
            </a:pPr>
          </a:p>
        </p:txBody>
      </p:sp>
      <p:sp>
        <p:nvSpPr>
          <p:cNvPr id="47" name="TextBox 46"/>
          <p:cNvSpPr txBox="1"/>
          <p:nvPr/>
        </p:nvSpPr>
        <p:spPr>
          <a:xfrm>
            <a:off x="3154680" y="4818888"/>
            <a:ext cx="283464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100" b="0">
                <a:solidFill>
                  <a:srgbClr val="AEBEE1"/>
                </a:solidFill>
                <a:latin typeface="Microsoft YaHei"/>
              </a:defRPr>
            </a:pPr>
            <a:r>
              <a:t>功能集中在 app.py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400800" y="4818888"/>
            <a:ext cx="484632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100" b="0">
                <a:solidFill>
                  <a:srgbClr val="AEBEE1"/>
                </a:solidFill>
                <a:latin typeface="Microsoft YaHei"/>
              </a:defRPr>
            </a:pPr>
            <a:r>
              <a:t>拆分 services、utils、config 模块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777240" y="5532120"/>
            <a:ext cx="2103120" cy="530352"/>
          </a:xfrm>
          <a:prstGeom prst="roundRect">
            <a:avLst/>
          </a:prstGeom>
          <a:solidFill>
            <a:srgbClr val="161F3E"/>
          </a:solidFill>
          <a:ln w="12700">
            <a:solidFill>
              <a:srgbClr val="465A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777240" y="5532120"/>
            <a:ext cx="73152" cy="530352"/>
          </a:xfrm>
          <a:prstGeom prst="rect">
            <a:avLst/>
          </a:prstGeom>
          <a:solidFill>
            <a:srgbClr val="FF5C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78408" y="5641848"/>
            <a:ext cx="1755648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300" b="1">
                <a:solidFill>
                  <a:srgbClr val="F8FAFF"/>
                </a:solidFill>
                <a:latin typeface="Microsoft YaHei"/>
              </a:defRPr>
            </a:pPr>
            <a:r>
              <a:t>部署形态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78408" y="6035040"/>
            <a:ext cx="1719072" cy="-640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019">
                <a:solidFill>
                  <a:srgbClr val="AEBEE1"/>
                </a:solidFill>
                <a:latin typeface="Microsoft YaHei"/>
              </a:defRPr>
            </a:pPr>
          </a:p>
        </p:txBody>
      </p:sp>
      <p:sp>
        <p:nvSpPr>
          <p:cNvPr id="53" name="TextBox 52"/>
          <p:cNvSpPr txBox="1"/>
          <p:nvPr/>
        </p:nvSpPr>
        <p:spPr>
          <a:xfrm>
            <a:off x="3154680" y="5605272"/>
            <a:ext cx="283464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100" b="0">
                <a:solidFill>
                  <a:srgbClr val="AEBEE1"/>
                </a:solidFill>
                <a:latin typeface="Microsoft YaHei"/>
              </a:defRPr>
            </a:pPr>
            <a:r>
              <a:t>本地开发模式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400800" y="5605272"/>
            <a:ext cx="484632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100" b="0">
                <a:solidFill>
                  <a:srgbClr val="AEBEE1"/>
                </a:solidFill>
                <a:latin typeface="Microsoft YaHei"/>
              </a:defRPr>
            </a:pPr>
            <a:r>
              <a:t>关闭 debug，增加生产配置和日志监控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509760" y="-457200"/>
            <a:ext cx="2926080" cy="2926080"/>
          </a:xfrm>
          <a:prstGeom prst="ellipse">
            <a:avLst/>
          </a:prstGeom>
          <a:solidFill>
            <a:srgbClr val="9B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731520" y="4754880"/>
            <a:ext cx="2468880" cy="2468880"/>
          </a:xfrm>
          <a:prstGeom prst="ellipse">
            <a:avLst/>
          </a:prstGeom>
          <a:solidFill>
            <a:srgbClr val="4A9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4754880" y="1005840"/>
            <a:ext cx="1371600" cy="1371600"/>
          </a:xfrm>
          <a:prstGeom prst="ellipse">
            <a:avLst/>
          </a:prstGeom>
          <a:solidFill>
            <a:srgbClr val="3AD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320040" y="548640"/>
            <a:ext cx="11567160" cy="0"/>
          </a:xfrm>
          <a:prstGeom prst="line">
            <a:avLst/>
          </a:prstGeom>
          <a:ln w="4445">
            <a:solidFill>
              <a:srgbClr val="2837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320040" y="1261872"/>
            <a:ext cx="11567160" cy="0"/>
          </a:xfrm>
          <a:prstGeom prst="line">
            <a:avLst/>
          </a:prstGeom>
          <a:ln w="4445">
            <a:solidFill>
              <a:srgbClr val="2837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320040" y="1975104"/>
            <a:ext cx="11567160" cy="0"/>
          </a:xfrm>
          <a:prstGeom prst="line">
            <a:avLst/>
          </a:prstGeom>
          <a:ln w="4445">
            <a:solidFill>
              <a:srgbClr val="2837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320040" y="2688336"/>
            <a:ext cx="11567160" cy="0"/>
          </a:xfrm>
          <a:prstGeom prst="line">
            <a:avLst/>
          </a:prstGeom>
          <a:ln w="4445">
            <a:solidFill>
              <a:srgbClr val="2837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320040" y="3401568"/>
            <a:ext cx="11567160" cy="0"/>
          </a:xfrm>
          <a:prstGeom prst="line">
            <a:avLst/>
          </a:prstGeom>
          <a:ln w="4445">
            <a:solidFill>
              <a:srgbClr val="2837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320040" y="4114800"/>
            <a:ext cx="11567160" cy="0"/>
          </a:xfrm>
          <a:prstGeom prst="line">
            <a:avLst/>
          </a:prstGeom>
          <a:ln w="4445">
            <a:solidFill>
              <a:srgbClr val="2837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320040" y="4828031"/>
            <a:ext cx="11567160" cy="0"/>
          </a:xfrm>
          <a:prstGeom prst="line">
            <a:avLst/>
          </a:prstGeom>
          <a:ln w="4445">
            <a:solidFill>
              <a:srgbClr val="2837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320040" y="5541264"/>
            <a:ext cx="11567160" cy="0"/>
          </a:xfrm>
          <a:prstGeom prst="line">
            <a:avLst/>
          </a:prstGeom>
          <a:ln w="4445">
            <a:solidFill>
              <a:srgbClr val="2837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40080" y="384048"/>
            <a:ext cx="7955279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2800" b="1">
                <a:solidFill>
                  <a:srgbClr val="F8FAFF"/>
                </a:solidFill>
                <a:latin typeface="Microsoft YaHei"/>
              </a:defRPr>
            </a:pPr>
            <a:r>
              <a:t>下季度计划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932688"/>
            <a:ext cx="877824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150" b="0">
                <a:solidFill>
                  <a:srgbClr val="AEBEE1"/>
                </a:solidFill>
                <a:latin typeface="Microsoft YaHei"/>
              </a:defRPr>
            </a:pPr>
            <a:r>
              <a:t>围绕“更智能、更稳定、更可展示、更可扩展”推进下一阶段迭代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" y="1298448"/>
            <a:ext cx="1097280" cy="45720"/>
          </a:xfrm>
          <a:prstGeom prst="rect">
            <a:avLst/>
          </a:prstGeom>
          <a:solidFill>
            <a:srgbClr val="3AD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6437376"/>
            <a:ext cx="54864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800" b="0">
                <a:solidFill>
                  <a:srgbClr val="8296C3"/>
                </a:solidFill>
                <a:latin typeface="Microsoft YaHei"/>
              </a:defRPr>
            </a:pPr>
            <a:r>
              <a:t>小文智能 APP · AI Voice Assistant Project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201400" y="6419088"/>
            <a:ext cx="50292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defRPr sz="1000" b="1">
                <a:solidFill>
                  <a:srgbClr val="3ADCFF"/>
                </a:solidFill>
                <a:latin typeface="Microsoft YaHei"/>
              </a:defRPr>
            </a:pPr>
            <a:r>
              <a:t>08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1600200"/>
            <a:ext cx="2423160" cy="3337560"/>
          </a:xfrm>
          <a:prstGeom prst="roundRect">
            <a:avLst/>
          </a:prstGeom>
          <a:solidFill>
            <a:srgbClr val="161F3E"/>
          </a:solidFill>
          <a:ln w="12700">
            <a:solidFill>
              <a:srgbClr val="465A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1520" y="1600200"/>
            <a:ext cx="73152" cy="3337560"/>
          </a:xfrm>
          <a:prstGeom prst="rect">
            <a:avLst/>
          </a:prstGeom>
          <a:solidFill>
            <a:srgbClr val="3AD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2688" y="1709928"/>
            <a:ext cx="2075688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300" b="1">
                <a:solidFill>
                  <a:srgbClr val="F8FAFF"/>
                </a:solidFill>
                <a:latin typeface="Microsoft YaHei"/>
              </a:defRPr>
            </a:pPr>
            <a:r>
              <a:t>第 1 阶段</a:t>
            </a:r>
            <a:br/>
            <a:r>
              <a:t>体验增强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2688" y="2103120"/>
            <a:ext cx="2039112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019">
                <a:solidFill>
                  <a:srgbClr val="AEBEE1"/>
                </a:solidFill>
                <a:latin typeface="Microsoft YaHei"/>
              </a:defRPr>
            </a:pPr>
            <a:r>
              <a:t>完善多轮记忆</a:t>
            </a:r>
          </a:p>
          <a:p>
            <a:pPr>
              <a:spcAft>
                <a:spcPts val="300"/>
              </a:spcAft>
              <a:defRPr sz="1019">
                <a:solidFill>
                  <a:srgbClr val="AEBEE1"/>
                </a:solidFill>
                <a:latin typeface="Microsoft YaHei"/>
              </a:defRPr>
            </a:pPr>
            <a:r>
              <a:t>自动朗读开关</a:t>
            </a:r>
          </a:p>
          <a:p>
            <a:pPr>
              <a:spcAft>
                <a:spcPts val="300"/>
              </a:spcAft>
              <a:defRPr sz="1019">
                <a:solidFill>
                  <a:srgbClr val="AEBEE1"/>
                </a:solidFill>
                <a:latin typeface="Microsoft YaHei"/>
              </a:defRPr>
            </a:pPr>
            <a:r>
              <a:t>优化默认示例</a:t>
            </a:r>
          </a:p>
          <a:p>
            <a:pPr>
              <a:spcAft>
                <a:spcPts val="300"/>
              </a:spcAft>
              <a:defRPr sz="1019">
                <a:solidFill>
                  <a:srgbClr val="AEBEE1"/>
                </a:solidFill>
                <a:latin typeface="Microsoft YaHei"/>
              </a:defRPr>
            </a:pPr>
            <a:r>
              <a:t>增强错误提示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520439" y="1600200"/>
            <a:ext cx="2423160" cy="3337560"/>
          </a:xfrm>
          <a:prstGeom prst="roundRect">
            <a:avLst/>
          </a:prstGeom>
          <a:solidFill>
            <a:srgbClr val="161F3E"/>
          </a:solidFill>
          <a:ln w="12700">
            <a:solidFill>
              <a:srgbClr val="465A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520439" y="1600200"/>
            <a:ext cx="73152" cy="3337560"/>
          </a:xfrm>
          <a:prstGeom prst="rect">
            <a:avLst/>
          </a:prstGeom>
          <a:solidFill>
            <a:srgbClr val="9B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721607" y="1709928"/>
            <a:ext cx="2075688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300" b="1">
                <a:solidFill>
                  <a:srgbClr val="F8FAFF"/>
                </a:solidFill>
                <a:latin typeface="Microsoft YaHei"/>
              </a:defRPr>
            </a:pPr>
            <a:r>
              <a:t>第 2 阶段</a:t>
            </a:r>
            <a:br/>
            <a:r>
              <a:t>能力扩展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721607" y="2103120"/>
            <a:ext cx="2039112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019">
                <a:solidFill>
                  <a:srgbClr val="AEBEE1"/>
                </a:solidFill>
                <a:latin typeface="Microsoft YaHei"/>
              </a:defRPr>
            </a:pPr>
            <a:r>
              <a:t>日程 / 备忘录</a:t>
            </a:r>
          </a:p>
          <a:p>
            <a:pPr>
              <a:spcAft>
                <a:spcPts val="300"/>
              </a:spcAft>
              <a:defRPr sz="1019">
                <a:solidFill>
                  <a:srgbClr val="AEBEE1"/>
                </a:solidFill>
                <a:latin typeface="Microsoft YaHei"/>
              </a:defRPr>
            </a:pPr>
            <a:r>
              <a:t>图片历史与下载</a:t>
            </a:r>
          </a:p>
          <a:p>
            <a:pPr>
              <a:spcAft>
                <a:spcPts val="300"/>
              </a:spcAft>
              <a:defRPr sz="1019">
                <a:solidFill>
                  <a:srgbClr val="AEBEE1"/>
                </a:solidFill>
                <a:latin typeface="Microsoft YaHei"/>
              </a:defRPr>
            </a:pPr>
            <a:r>
              <a:t>多系列图表</a:t>
            </a:r>
          </a:p>
          <a:p>
            <a:pPr>
              <a:spcAft>
                <a:spcPts val="300"/>
              </a:spcAft>
              <a:defRPr sz="1019">
                <a:solidFill>
                  <a:srgbClr val="AEBEE1"/>
                </a:solidFill>
                <a:latin typeface="Microsoft YaHei"/>
              </a:defRPr>
            </a:pPr>
            <a:r>
              <a:t>联网搜索入口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309359" y="1600200"/>
            <a:ext cx="2423160" cy="3337560"/>
          </a:xfrm>
          <a:prstGeom prst="roundRect">
            <a:avLst/>
          </a:prstGeom>
          <a:solidFill>
            <a:srgbClr val="161F3E"/>
          </a:solidFill>
          <a:ln w="12700">
            <a:solidFill>
              <a:srgbClr val="465A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309359" y="1600200"/>
            <a:ext cx="73152" cy="3337560"/>
          </a:xfrm>
          <a:prstGeom prst="rect">
            <a:avLst/>
          </a:prstGeom>
          <a:solidFill>
            <a:srgbClr val="4CE6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10527" y="1709928"/>
            <a:ext cx="2075688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300" b="1">
                <a:solidFill>
                  <a:srgbClr val="F8FAFF"/>
                </a:solidFill>
                <a:latin typeface="Microsoft YaHei"/>
              </a:defRPr>
            </a:pPr>
            <a:r>
              <a:t>第 3 阶段</a:t>
            </a:r>
            <a:br/>
            <a:r>
              <a:t>工程优化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10527" y="2103120"/>
            <a:ext cx="2039112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019">
                <a:solidFill>
                  <a:srgbClr val="AEBEE1"/>
                </a:solidFill>
                <a:latin typeface="Microsoft YaHei"/>
              </a:defRPr>
            </a:pPr>
            <a:r>
              <a:t>后端服务模块化</a:t>
            </a:r>
          </a:p>
          <a:p>
            <a:pPr>
              <a:spcAft>
                <a:spcPts val="300"/>
              </a:spcAft>
              <a:defRPr sz="1019">
                <a:solidFill>
                  <a:srgbClr val="AEBEE1"/>
                </a:solidFill>
                <a:latin typeface="Microsoft YaHei"/>
              </a:defRPr>
            </a:pPr>
            <a:r>
              <a:t>图表服务拆分</a:t>
            </a:r>
          </a:p>
          <a:p>
            <a:pPr>
              <a:spcAft>
                <a:spcPts val="300"/>
              </a:spcAft>
              <a:defRPr sz="1019">
                <a:solidFill>
                  <a:srgbClr val="AEBEE1"/>
                </a:solidFill>
                <a:latin typeface="Microsoft YaHei"/>
              </a:defRPr>
            </a:pPr>
            <a:r>
              <a:t>日志和错误码</a:t>
            </a:r>
          </a:p>
          <a:p>
            <a:pPr>
              <a:spcAft>
                <a:spcPts val="300"/>
              </a:spcAft>
              <a:defRPr sz="1019">
                <a:solidFill>
                  <a:srgbClr val="AEBEE1"/>
                </a:solidFill>
                <a:latin typeface="Microsoft YaHei"/>
              </a:defRPr>
            </a:pPr>
            <a:r>
              <a:t>生产环境配置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098280" y="1600200"/>
            <a:ext cx="2423160" cy="3337560"/>
          </a:xfrm>
          <a:prstGeom prst="roundRect">
            <a:avLst/>
          </a:prstGeom>
          <a:solidFill>
            <a:srgbClr val="161F3E"/>
          </a:solidFill>
          <a:ln w="12700">
            <a:solidFill>
              <a:srgbClr val="465A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098280" y="1600200"/>
            <a:ext cx="73152" cy="3337560"/>
          </a:xfrm>
          <a:prstGeom prst="rect">
            <a:avLst/>
          </a:prstGeom>
          <a:solidFill>
            <a:srgbClr val="FFB4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299448" y="1709928"/>
            <a:ext cx="2075688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300" b="1">
                <a:solidFill>
                  <a:srgbClr val="F8FAFF"/>
                </a:solidFill>
                <a:latin typeface="Microsoft YaHei"/>
              </a:defRPr>
            </a:pPr>
            <a:r>
              <a:t>第 4 阶段</a:t>
            </a:r>
            <a:br/>
            <a:r>
              <a:t>部署展示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299448" y="2103120"/>
            <a:ext cx="2039112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019">
                <a:solidFill>
                  <a:srgbClr val="AEBEE1"/>
                </a:solidFill>
                <a:latin typeface="Microsoft YaHei"/>
              </a:defRPr>
            </a:pPr>
            <a:r>
              <a:t>Docker 或云部署</a:t>
            </a:r>
          </a:p>
          <a:p>
            <a:pPr>
              <a:spcAft>
                <a:spcPts val="300"/>
              </a:spcAft>
              <a:defRPr sz="1019">
                <a:solidFill>
                  <a:srgbClr val="AEBEE1"/>
                </a:solidFill>
                <a:latin typeface="Microsoft YaHei"/>
              </a:defRPr>
            </a:pPr>
            <a:r>
              <a:t>HTTPS / Nginx</a:t>
            </a:r>
          </a:p>
          <a:p>
            <a:pPr>
              <a:spcAft>
                <a:spcPts val="300"/>
              </a:spcAft>
              <a:defRPr sz="1019">
                <a:solidFill>
                  <a:srgbClr val="AEBEE1"/>
                </a:solidFill>
                <a:latin typeface="Microsoft YaHei"/>
              </a:defRPr>
            </a:pPr>
            <a:r>
              <a:t>演示脚本</a:t>
            </a:r>
          </a:p>
          <a:p>
            <a:pPr>
              <a:spcAft>
                <a:spcPts val="300"/>
              </a:spcAft>
              <a:defRPr sz="1019">
                <a:solidFill>
                  <a:srgbClr val="AEBEE1"/>
                </a:solidFill>
                <a:latin typeface="Microsoft YaHei"/>
              </a:defRPr>
            </a:pPr>
            <a:r>
              <a:t>完善答辩材料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4400" y="5559552"/>
            <a:ext cx="1024128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600" b="1">
                <a:solidFill>
                  <a:srgbClr val="F8FAFF"/>
                </a:solidFill>
                <a:latin typeface="Microsoft YaHei"/>
              </a:defRPr>
            </a:pPr>
            <a:r>
              <a:t>目标：从“本地可运行的 AI 助手原型”升级为“可持续迭代、可部署展示的智能应用平台”。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509760" y="-457200"/>
            <a:ext cx="2926080" cy="2926080"/>
          </a:xfrm>
          <a:prstGeom prst="ellipse">
            <a:avLst/>
          </a:prstGeom>
          <a:solidFill>
            <a:srgbClr val="9B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731520" y="4754880"/>
            <a:ext cx="2468880" cy="2468880"/>
          </a:xfrm>
          <a:prstGeom prst="ellipse">
            <a:avLst/>
          </a:prstGeom>
          <a:solidFill>
            <a:srgbClr val="4A9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4754880" y="1005840"/>
            <a:ext cx="1371600" cy="1371600"/>
          </a:xfrm>
          <a:prstGeom prst="ellipse">
            <a:avLst/>
          </a:prstGeom>
          <a:solidFill>
            <a:srgbClr val="3AD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320040" y="548640"/>
            <a:ext cx="11567160" cy="0"/>
          </a:xfrm>
          <a:prstGeom prst="line">
            <a:avLst/>
          </a:prstGeom>
          <a:ln w="4445">
            <a:solidFill>
              <a:srgbClr val="2837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320040" y="1261872"/>
            <a:ext cx="11567160" cy="0"/>
          </a:xfrm>
          <a:prstGeom prst="line">
            <a:avLst/>
          </a:prstGeom>
          <a:ln w="4445">
            <a:solidFill>
              <a:srgbClr val="2837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320040" y="1975104"/>
            <a:ext cx="11567160" cy="0"/>
          </a:xfrm>
          <a:prstGeom prst="line">
            <a:avLst/>
          </a:prstGeom>
          <a:ln w="4445">
            <a:solidFill>
              <a:srgbClr val="2837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320040" y="2688336"/>
            <a:ext cx="11567160" cy="0"/>
          </a:xfrm>
          <a:prstGeom prst="line">
            <a:avLst/>
          </a:prstGeom>
          <a:ln w="4445">
            <a:solidFill>
              <a:srgbClr val="2837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320040" y="3401568"/>
            <a:ext cx="11567160" cy="0"/>
          </a:xfrm>
          <a:prstGeom prst="line">
            <a:avLst/>
          </a:prstGeom>
          <a:ln w="4445">
            <a:solidFill>
              <a:srgbClr val="2837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320040" y="4114800"/>
            <a:ext cx="11567160" cy="0"/>
          </a:xfrm>
          <a:prstGeom prst="line">
            <a:avLst/>
          </a:prstGeom>
          <a:ln w="4445">
            <a:solidFill>
              <a:srgbClr val="2837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320040" y="4828031"/>
            <a:ext cx="11567160" cy="0"/>
          </a:xfrm>
          <a:prstGeom prst="line">
            <a:avLst/>
          </a:prstGeom>
          <a:ln w="4445">
            <a:solidFill>
              <a:srgbClr val="2837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320040" y="5541264"/>
            <a:ext cx="11567160" cy="0"/>
          </a:xfrm>
          <a:prstGeom prst="line">
            <a:avLst/>
          </a:prstGeom>
          <a:ln w="4445">
            <a:solidFill>
              <a:srgbClr val="2837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40080" y="384048"/>
            <a:ext cx="7955279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2800" b="1">
                <a:solidFill>
                  <a:srgbClr val="F8FAFF"/>
                </a:solidFill>
                <a:latin typeface="Microsoft YaHei"/>
              </a:defRPr>
            </a:pPr>
            <a:r>
              <a:t>建议演示路径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932688"/>
            <a:ext cx="877824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150" b="0">
                <a:solidFill>
                  <a:srgbClr val="AEBEE1"/>
                </a:solidFill>
                <a:latin typeface="Microsoft YaHei"/>
              </a:defRPr>
            </a:pPr>
            <a:r>
              <a:t>用一条完整用户路径展示小文智能 APP 的能力闭环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" y="1298448"/>
            <a:ext cx="1097280" cy="45720"/>
          </a:xfrm>
          <a:prstGeom prst="rect">
            <a:avLst/>
          </a:prstGeom>
          <a:solidFill>
            <a:srgbClr val="3AD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6437376"/>
            <a:ext cx="54864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800" b="0">
                <a:solidFill>
                  <a:srgbClr val="8296C3"/>
                </a:solidFill>
                <a:latin typeface="Microsoft YaHei"/>
              </a:defRPr>
            </a:pPr>
            <a:r>
              <a:t>小文智能 APP · AI Voice Assistant Project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201400" y="6419088"/>
            <a:ext cx="50292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defRPr sz="1000" b="1">
                <a:solidFill>
                  <a:srgbClr val="3ADCFF"/>
                </a:solidFill>
                <a:latin typeface="Microsoft YaHei"/>
              </a:defRPr>
            </a:pPr>
            <a:r>
              <a:t>09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68680" y="1508760"/>
            <a:ext cx="3154680" cy="1234440"/>
          </a:xfrm>
          <a:prstGeom prst="roundRect">
            <a:avLst/>
          </a:prstGeom>
          <a:solidFill>
            <a:srgbClr val="161F3E"/>
          </a:solidFill>
          <a:ln w="12700">
            <a:solidFill>
              <a:srgbClr val="465A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68680" y="1508760"/>
            <a:ext cx="73152" cy="1234440"/>
          </a:xfrm>
          <a:prstGeom prst="rect">
            <a:avLst/>
          </a:prstGeom>
          <a:solidFill>
            <a:srgbClr val="3AD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69848" y="1618488"/>
            <a:ext cx="2807208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300" b="1">
                <a:solidFill>
                  <a:srgbClr val="F8FAFF"/>
                </a:solidFill>
                <a:latin typeface="Microsoft YaHei"/>
              </a:defRPr>
            </a:pPr>
            <a:r>
              <a:t>1. 语音唤醒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9848" y="2011680"/>
            <a:ext cx="277063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019">
                <a:solidFill>
                  <a:srgbClr val="AEBEE1"/>
                </a:solidFill>
                <a:latin typeface="Microsoft YaHei"/>
              </a:defRPr>
            </a:pPr>
            <a:r>
              <a:t>说“小文小文”，进入指令识别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0" y="1508760"/>
            <a:ext cx="3154680" cy="1234440"/>
          </a:xfrm>
          <a:prstGeom prst="roundRect">
            <a:avLst/>
          </a:prstGeom>
          <a:solidFill>
            <a:srgbClr val="161F3E"/>
          </a:solidFill>
          <a:ln w="12700">
            <a:solidFill>
              <a:srgbClr val="465A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572000" y="1508760"/>
            <a:ext cx="73152" cy="1234440"/>
          </a:xfrm>
          <a:prstGeom prst="rect">
            <a:avLst/>
          </a:prstGeom>
          <a:solidFill>
            <a:srgbClr val="4A9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773168" y="1618488"/>
            <a:ext cx="2807208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300" b="1">
                <a:solidFill>
                  <a:srgbClr val="F8FAFF"/>
                </a:solidFill>
                <a:latin typeface="Microsoft YaHei"/>
              </a:defRPr>
            </a:pPr>
            <a:r>
              <a:t>2. 生活查询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773168" y="2011680"/>
            <a:ext cx="277063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019">
                <a:solidFill>
                  <a:srgbClr val="AEBEE1"/>
                </a:solidFill>
                <a:latin typeface="Microsoft YaHei"/>
              </a:defRPr>
            </a:pPr>
            <a:r>
              <a:t>询问“承德天气怎么样”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275319" y="1508760"/>
            <a:ext cx="3154680" cy="1234440"/>
          </a:xfrm>
          <a:prstGeom prst="roundRect">
            <a:avLst/>
          </a:prstGeom>
          <a:solidFill>
            <a:srgbClr val="161F3E"/>
          </a:solidFill>
          <a:ln w="12700">
            <a:solidFill>
              <a:srgbClr val="465A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275319" y="1508760"/>
            <a:ext cx="73152" cy="1234440"/>
          </a:xfrm>
          <a:prstGeom prst="rect">
            <a:avLst/>
          </a:prstGeom>
          <a:solidFill>
            <a:srgbClr val="9B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476488" y="1618488"/>
            <a:ext cx="2807208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300" b="1">
                <a:solidFill>
                  <a:srgbClr val="F8FAFF"/>
                </a:solidFill>
                <a:latin typeface="Microsoft YaHei"/>
              </a:defRPr>
            </a:pPr>
            <a:r>
              <a:t>3. 连续对话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76488" y="2011680"/>
            <a:ext cx="277063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019">
                <a:solidFill>
                  <a:srgbClr val="AEBEE1"/>
                </a:solidFill>
                <a:latin typeface="Microsoft YaHei"/>
              </a:defRPr>
            </a:pPr>
            <a:r>
              <a:t>先问承德美食，再追问位置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68680" y="3337560"/>
            <a:ext cx="3154680" cy="1234440"/>
          </a:xfrm>
          <a:prstGeom prst="roundRect">
            <a:avLst/>
          </a:prstGeom>
          <a:solidFill>
            <a:srgbClr val="161F3E"/>
          </a:solidFill>
          <a:ln w="12700">
            <a:solidFill>
              <a:srgbClr val="465A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68680" y="3337560"/>
            <a:ext cx="73152" cy="1234440"/>
          </a:xfrm>
          <a:prstGeom prst="rect">
            <a:avLst/>
          </a:prstGeom>
          <a:solidFill>
            <a:srgbClr val="4CE6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69848" y="3447288"/>
            <a:ext cx="2807208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300" b="1">
                <a:solidFill>
                  <a:srgbClr val="F8FAFF"/>
                </a:solidFill>
                <a:latin typeface="Microsoft YaHei"/>
              </a:defRPr>
            </a:pPr>
            <a:r>
              <a:t>4. 数据图表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69848" y="3840480"/>
            <a:ext cx="277063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019">
                <a:solidFill>
                  <a:srgbClr val="AEBEE1"/>
                </a:solidFill>
                <a:latin typeface="Microsoft YaHei"/>
              </a:defRPr>
            </a:pPr>
            <a:r>
              <a:t>生成折线图 一月:120 二月:180 三月:150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572000" y="3337560"/>
            <a:ext cx="3154680" cy="1234440"/>
          </a:xfrm>
          <a:prstGeom prst="roundRect">
            <a:avLst/>
          </a:prstGeom>
          <a:solidFill>
            <a:srgbClr val="161F3E"/>
          </a:solidFill>
          <a:ln w="12700">
            <a:solidFill>
              <a:srgbClr val="465A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572000" y="3337560"/>
            <a:ext cx="73152" cy="1234440"/>
          </a:xfrm>
          <a:prstGeom prst="rect">
            <a:avLst/>
          </a:prstGeom>
          <a:solidFill>
            <a:srgbClr val="FFB4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773168" y="3447288"/>
            <a:ext cx="2807208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300" b="1">
                <a:solidFill>
                  <a:srgbClr val="F8FAFF"/>
                </a:solidFill>
                <a:latin typeface="Microsoft YaHei"/>
              </a:defRPr>
            </a:pPr>
            <a:r>
              <a:t>5. AI 创作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773168" y="3840480"/>
            <a:ext cx="277063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019">
                <a:solidFill>
                  <a:srgbClr val="AEBEE1"/>
                </a:solidFill>
                <a:latin typeface="Microsoft YaHei"/>
              </a:defRPr>
            </a:pPr>
            <a:r>
              <a:t>说“画一只水彩小猫”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275319" y="3337560"/>
            <a:ext cx="3154680" cy="1234440"/>
          </a:xfrm>
          <a:prstGeom prst="roundRect">
            <a:avLst/>
          </a:prstGeom>
          <a:solidFill>
            <a:srgbClr val="161F3E"/>
          </a:solidFill>
          <a:ln w="12700">
            <a:solidFill>
              <a:srgbClr val="465A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275319" y="3337560"/>
            <a:ext cx="73152" cy="1234440"/>
          </a:xfrm>
          <a:prstGeom prst="rect">
            <a:avLst/>
          </a:prstGeom>
          <a:solidFill>
            <a:srgbClr val="FF5C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476488" y="3447288"/>
            <a:ext cx="2807208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300" b="1">
                <a:solidFill>
                  <a:srgbClr val="F8FAFF"/>
                </a:solidFill>
                <a:latin typeface="Microsoft YaHei"/>
              </a:defRPr>
            </a:pPr>
            <a:r>
              <a:t>6. 桌面控制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476488" y="3840480"/>
            <a:ext cx="277063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019">
                <a:solidFill>
                  <a:srgbClr val="AEBEE1"/>
                </a:solidFill>
                <a:latin typeface="Microsoft YaHei"/>
              </a:defRPr>
            </a:pPr>
            <a:r>
              <a:t>说“打开计算器”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14400" y="5532120"/>
            <a:ext cx="102412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500" b="1">
                <a:solidFill>
                  <a:srgbClr val="F8FAFF"/>
                </a:solidFill>
                <a:latin typeface="Microsoft YaHei"/>
              </a:defRPr>
            </a:pPr>
            <a:r>
              <a:t>演示重点：让观众看到小文不是静态页面，而是可以理解指令、调用能力并完成任务的 AI 应用。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509760" y="-457200"/>
            <a:ext cx="2926080" cy="2926080"/>
          </a:xfrm>
          <a:prstGeom prst="ellipse">
            <a:avLst/>
          </a:prstGeom>
          <a:solidFill>
            <a:srgbClr val="9B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731520" y="4754880"/>
            <a:ext cx="2468880" cy="2468880"/>
          </a:xfrm>
          <a:prstGeom prst="ellipse">
            <a:avLst/>
          </a:prstGeom>
          <a:solidFill>
            <a:srgbClr val="4A9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4754880" y="1005840"/>
            <a:ext cx="1371600" cy="1371600"/>
          </a:xfrm>
          <a:prstGeom prst="ellipse">
            <a:avLst/>
          </a:prstGeom>
          <a:solidFill>
            <a:srgbClr val="3AD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320040" y="548640"/>
            <a:ext cx="11567160" cy="0"/>
          </a:xfrm>
          <a:prstGeom prst="line">
            <a:avLst/>
          </a:prstGeom>
          <a:ln w="4445">
            <a:solidFill>
              <a:srgbClr val="2837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320040" y="1261872"/>
            <a:ext cx="11567160" cy="0"/>
          </a:xfrm>
          <a:prstGeom prst="line">
            <a:avLst/>
          </a:prstGeom>
          <a:ln w="4445">
            <a:solidFill>
              <a:srgbClr val="2837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320040" y="1975104"/>
            <a:ext cx="11567160" cy="0"/>
          </a:xfrm>
          <a:prstGeom prst="line">
            <a:avLst/>
          </a:prstGeom>
          <a:ln w="4445">
            <a:solidFill>
              <a:srgbClr val="2837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320040" y="2688336"/>
            <a:ext cx="11567160" cy="0"/>
          </a:xfrm>
          <a:prstGeom prst="line">
            <a:avLst/>
          </a:prstGeom>
          <a:ln w="4445">
            <a:solidFill>
              <a:srgbClr val="2837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320040" y="3401568"/>
            <a:ext cx="11567160" cy="0"/>
          </a:xfrm>
          <a:prstGeom prst="line">
            <a:avLst/>
          </a:prstGeom>
          <a:ln w="4445">
            <a:solidFill>
              <a:srgbClr val="2837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320040" y="4114800"/>
            <a:ext cx="11567160" cy="0"/>
          </a:xfrm>
          <a:prstGeom prst="line">
            <a:avLst/>
          </a:prstGeom>
          <a:ln w="4445">
            <a:solidFill>
              <a:srgbClr val="2837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320040" y="4828031"/>
            <a:ext cx="11567160" cy="0"/>
          </a:xfrm>
          <a:prstGeom prst="line">
            <a:avLst/>
          </a:prstGeom>
          <a:ln w="4445">
            <a:solidFill>
              <a:srgbClr val="2837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320040" y="5541264"/>
            <a:ext cx="11567160" cy="0"/>
          </a:xfrm>
          <a:prstGeom prst="line">
            <a:avLst/>
          </a:prstGeom>
          <a:ln w="4445">
            <a:solidFill>
              <a:srgbClr val="2837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822960" y="1508760"/>
            <a:ext cx="1051560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4200" b="1">
                <a:solidFill>
                  <a:srgbClr val="F8FAFF"/>
                </a:solidFill>
                <a:latin typeface="Microsoft YaHei"/>
              </a:defRPr>
            </a:pPr>
            <a:r>
              <a:t>感谢聆听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2331720"/>
            <a:ext cx="95097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800" b="0">
                <a:solidFill>
                  <a:srgbClr val="AEBEE1"/>
                </a:solidFill>
                <a:latin typeface="Microsoft YaHei"/>
              </a:defRPr>
            </a:pPr>
            <a:r>
              <a:t>小文智能 APP 将继续向更自然、更稳定、更具执行力的个人 AI 助手演进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325880" y="3246120"/>
            <a:ext cx="1444752" cy="329184"/>
          </a:xfrm>
          <a:prstGeom prst="roundRect">
            <a:avLst/>
          </a:prstGeom>
          <a:solidFill>
            <a:srgbClr val="3ADCFF"/>
          </a:solidFill>
          <a:ln w="12700">
            <a:solidFill>
              <a:srgbClr val="3AD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71600" y="3273551"/>
            <a:ext cx="1353312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50" b="1">
                <a:solidFill>
                  <a:srgbClr val="F8FAFF"/>
                </a:solidFill>
                <a:latin typeface="Microsoft YaHei"/>
              </a:defRPr>
            </a:pPr>
            <a:r>
              <a:t>能听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834639" y="3246120"/>
            <a:ext cx="1444752" cy="329184"/>
          </a:xfrm>
          <a:prstGeom prst="roundRect">
            <a:avLst/>
          </a:prstGeom>
          <a:solidFill>
            <a:srgbClr val="4A90FF"/>
          </a:solidFill>
          <a:ln w="12700">
            <a:solidFill>
              <a:srgbClr val="4A9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880359" y="3273551"/>
            <a:ext cx="1353312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50" b="1">
                <a:solidFill>
                  <a:srgbClr val="F8FAFF"/>
                </a:solidFill>
                <a:latin typeface="Microsoft YaHei"/>
              </a:defRPr>
            </a:pPr>
            <a:r>
              <a:t>能说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43400" y="3246120"/>
            <a:ext cx="1444752" cy="329184"/>
          </a:xfrm>
          <a:prstGeom prst="roundRect">
            <a:avLst/>
          </a:prstGeom>
          <a:solidFill>
            <a:srgbClr val="9B5CFF"/>
          </a:solidFill>
          <a:ln w="12700">
            <a:solidFill>
              <a:srgbClr val="9B5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89120" y="3273551"/>
            <a:ext cx="1353312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50" b="1">
                <a:solidFill>
                  <a:srgbClr val="F8FAFF"/>
                </a:solidFill>
                <a:latin typeface="Microsoft YaHei"/>
              </a:defRPr>
            </a:pPr>
            <a:r>
              <a:t>能聊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852159" y="3246120"/>
            <a:ext cx="1444752" cy="329184"/>
          </a:xfrm>
          <a:prstGeom prst="roundRect">
            <a:avLst/>
          </a:prstGeom>
          <a:solidFill>
            <a:srgbClr val="FF5CB4"/>
          </a:solidFill>
          <a:ln w="12700">
            <a:solidFill>
              <a:srgbClr val="FF5C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897879" y="3273551"/>
            <a:ext cx="1353312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50" b="1">
                <a:solidFill>
                  <a:srgbClr val="F8FAFF"/>
                </a:solidFill>
                <a:latin typeface="Microsoft YaHei"/>
              </a:defRPr>
            </a:pPr>
            <a:r>
              <a:t>能画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60919" y="3246120"/>
            <a:ext cx="1444752" cy="329184"/>
          </a:xfrm>
          <a:prstGeom prst="roundRect">
            <a:avLst/>
          </a:prstGeom>
          <a:solidFill>
            <a:srgbClr val="FFB45A"/>
          </a:solidFill>
          <a:ln w="12700">
            <a:solidFill>
              <a:srgbClr val="FFB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406640" y="3273551"/>
            <a:ext cx="1353312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50" b="1">
                <a:solidFill>
                  <a:srgbClr val="F8FAFF"/>
                </a:solidFill>
                <a:latin typeface="Microsoft YaHei"/>
              </a:defRPr>
            </a:pPr>
            <a:r>
              <a:t>能看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869680" y="3246120"/>
            <a:ext cx="1444752" cy="329184"/>
          </a:xfrm>
          <a:prstGeom prst="roundRect">
            <a:avLst/>
          </a:prstGeom>
          <a:solidFill>
            <a:srgbClr val="4CE6AA"/>
          </a:solidFill>
          <a:ln w="12700">
            <a:solidFill>
              <a:srgbClr val="4CE6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915400" y="3273551"/>
            <a:ext cx="1353312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50" b="1">
                <a:solidFill>
                  <a:srgbClr val="F8FAFF"/>
                </a:solidFill>
                <a:latin typeface="Microsoft YaHei"/>
              </a:defRPr>
            </a:pPr>
            <a:r>
              <a:t>能开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43200" y="4617720"/>
            <a:ext cx="66751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2800" b="1">
                <a:solidFill>
                  <a:srgbClr val="3ADCFF"/>
                </a:solidFill>
                <a:latin typeface="Microsoft YaHei"/>
              </a:defRPr>
            </a:pPr>
            <a:r>
              <a:t>Q&amp;A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6437376"/>
            <a:ext cx="54864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800" b="0">
                <a:solidFill>
                  <a:srgbClr val="8296C3"/>
                </a:solidFill>
                <a:latin typeface="Microsoft YaHei"/>
              </a:defRPr>
            </a:pPr>
            <a:r>
              <a:t>小文智能 APP · AI Voice Assistant Project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201400" y="6419088"/>
            <a:ext cx="50292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defRPr sz="1000" b="1">
                <a:solidFill>
                  <a:srgbClr val="3ADCFF"/>
                </a:solidFill>
                <a:latin typeface="Microsoft YaHei"/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