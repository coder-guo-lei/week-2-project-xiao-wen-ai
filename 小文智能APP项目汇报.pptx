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41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9DB57-89D4-913B-C8A7-A9500CFAB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6B7CB8-D06D-9552-099D-29A642EEA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3354D4-49B6-E263-4B55-85CBFB0A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9ACED3-509E-1EBF-2832-DE116DDB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F075B-EDA6-D6A5-8A50-DC6738F4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5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1F11A-9D4B-57AC-A314-74CF71C5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1B9BCB-7889-C3B0-77A8-78821E97C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665736-4A10-470E-856B-2E6ADD0B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F57304-107E-BEC6-5F44-673E961C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5A754E-1BFB-69D1-CBE5-63ADC27A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20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89493-00F5-53D0-D9A4-5961E79C5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D189D4-727A-6F5D-EAF6-B4A4BD3A4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2B8CA9-4F72-3953-691E-DFDCC1FA9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A6195C-BA11-9D17-3501-C7CB7400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465E87-756F-EEC3-B6BA-FD453E5F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36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FC299-EA4F-346D-E94B-6BFA8631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477883-B3FB-4A54-C3BB-87235DD550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C311A2-93BE-F639-75F4-3D7BB7F75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485937-8830-C7A8-92DC-3BD63AB5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7DDC33-8073-ED92-6FD6-0E128D94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E29450-91F0-3BF7-44BB-9271377C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08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4C4F6-8F43-617A-06C6-F95E136C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DAB532-9F10-2BFC-59C7-C52690F96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C64F99-533C-F775-FCC6-E3BFAEF7A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C4492A-1AFE-6705-7C46-20F6274A3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7219BC-59F6-F684-F2FE-3F3100F05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0228E5-DCBC-5EC9-59BD-E93DE483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27C19A-1382-A6D8-997B-9D967C7D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E1B6D7-510A-9C10-7C3A-D325441E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42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19EB5-9AF1-8450-DC4A-6A97EB0F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D03C7B-1B6A-2E46-16BF-F7B741CD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E52709-E829-2ACF-6674-516966F0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432355-4536-1EAC-CDB4-B8F2F062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69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16E8B6-111A-1E61-6B80-AF953327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C6F56D-C081-6DCE-F7AE-F94232B1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E42C81-8811-26A7-F8AE-92B91615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52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AB30D-9AE9-8EF3-F4F0-7CFFE6D9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A9990C-4087-21BD-8051-D47B2B3FB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0CE8F4-11EB-DEEA-3515-133941706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B8F966-C5B7-4ADB-6CB5-1F63C8F0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759F65-A7F1-2B58-0FF2-F3C32624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2CE703-51F2-B462-DC50-B83D2786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57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F21E5-C6C4-B979-04A5-1A1AE65E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A38189-67D8-1938-BF5D-C57DDF8AA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44EC83-B777-DC02-9850-7A3C86DCB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0BDA7E-4A5E-DDB2-BC02-05F93FF0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E60FBE-018B-5CE0-A4DE-D52F33C5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8DCB9F-A3F1-2C83-0AD3-4E1EC602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06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1BD65-4EA3-E96D-0EE3-6F7DFFE7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AD6D2E-C5D5-16D3-DEE4-3606B8230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A6F3F-AE7A-CADB-F94E-A16BB4C0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5791BD-D08F-ED30-BB8E-A006665A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EC28D-98A3-077F-A8B8-F2174094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2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E74B6F-B468-AE29-9B66-1DE7A11D0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327ED3-E48A-51CF-2EF1-EAAAD5FBD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B3C50-DB19-1A4A-5E75-CF76E1AD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81F6E-5BA3-6929-4D9F-FC83474B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0446FF-AADA-C765-67E0-61709941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22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DF9168-FF10-AE2C-821E-1E5877269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23EA2D-8143-57ED-DE03-20FDC90A3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F72E1-660E-1BD7-E093-9A2CAC216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F3175-2599-46E2-BEA9-0DE6885726A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6D0FA-B3A9-D0E5-C3EC-77B3C72AE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5FBCC-1C4A-33BD-607B-7FA14E70C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B9B55-C0E2-4398-BF16-386F3562D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59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428338-A705-6075-9BF5-9DB7A63C05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E2EFA8A-C0AD-260E-65E6-A648C8F26EE0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B0B475C-3333-54FB-A20C-BDD4D0BC80C2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A4797B1-D147-C848-042F-A5C3BCB8E29D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1D112C-61EC-B030-50D0-81010CAB59EF}"/>
              </a:ext>
            </a:extLst>
          </p:cNvPr>
          <p:cNvSpPr txBox="1"/>
          <p:nvPr/>
        </p:nvSpPr>
        <p:spPr>
          <a:xfrm>
            <a:off x="711200" y="1041400"/>
            <a:ext cx="711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3ADCFF"/>
                </a:solidFill>
                <a:latin typeface="Microsoft YaHei" panose="020B0503020204020204" pitchFamily="34" charset="-122"/>
              </a:rPr>
              <a:t>AI VOICE ASSISTANT · PROJECT REPORT</a:t>
            </a:r>
            <a:endParaRPr lang="zh-CN" altLang="en-US" sz="11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0A1B2E-282D-1E0C-B475-F8A783C5EF5C}"/>
              </a:ext>
            </a:extLst>
          </p:cNvPr>
          <p:cNvSpPr txBox="1"/>
          <p:nvPr/>
        </p:nvSpPr>
        <p:spPr>
          <a:xfrm>
            <a:off x="685800" y="1524000"/>
            <a:ext cx="762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400" b="1">
                <a:solidFill>
                  <a:srgbClr val="F5F8FF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3400" b="1">
                <a:solidFill>
                  <a:srgbClr val="F5F8FF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3400" b="1">
                <a:solidFill>
                  <a:srgbClr val="F5F8FF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6DD5A1-6F58-081D-E69A-E20FDF16E65C}"/>
              </a:ext>
            </a:extLst>
          </p:cNvPr>
          <p:cNvSpPr txBox="1"/>
          <p:nvPr/>
        </p:nvSpPr>
        <p:spPr>
          <a:xfrm>
            <a:off x="736600" y="2387600"/>
            <a:ext cx="711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B0BEE1"/>
                </a:solidFill>
                <a:latin typeface="Microsoft YaHei" panose="020B0503020204020204" pitchFamily="34" charset="-122"/>
              </a:rPr>
              <a:t>集 </a:t>
            </a:r>
            <a:r>
              <a:rPr lang="en-US" altLang="zh-CN" sz="1400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B0BEE1"/>
                </a:solidFill>
                <a:latin typeface="Microsoft YaHei" panose="020B0503020204020204" pitchFamily="34" charset="-122"/>
              </a:rPr>
              <a:t>对话、语音交互、天气查询、音乐播放、文生图、划词翻译与桌面控制于一体的智能助手原型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2E0CDDA-AF75-4429-1DEB-C08DD40F5C9D}"/>
              </a:ext>
            </a:extLst>
          </p:cNvPr>
          <p:cNvSpPr/>
          <p:nvPr/>
        </p:nvSpPr>
        <p:spPr>
          <a:xfrm>
            <a:off x="762000" y="3175000"/>
            <a:ext cx="1447800" cy="330200"/>
          </a:xfrm>
          <a:prstGeom prst="roundRect">
            <a:avLst/>
          </a:prstGeom>
          <a:solidFill>
            <a:srgbClr val="4A90FF">
              <a:alpha val="82000"/>
            </a:srgbClr>
          </a:solidFill>
          <a:ln>
            <a:solidFill>
              <a:srgbClr val="4A9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93F1AE-41AD-BAA9-364B-C1AED259E0D6}"/>
              </a:ext>
            </a:extLst>
          </p:cNvPr>
          <p:cNvSpPr txBox="1"/>
          <p:nvPr/>
        </p:nvSpPr>
        <p:spPr>
          <a:xfrm>
            <a:off x="812800" y="3238500"/>
            <a:ext cx="13462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F5F8FF"/>
                </a:solidFill>
                <a:latin typeface="Microsoft YaHei" panose="020B0503020204020204" pitchFamily="34" charset="-122"/>
              </a:rPr>
              <a:t>React + Vite</a:t>
            </a:r>
            <a:endParaRPr lang="zh-CN" altLang="en-US" b="1">
              <a:solidFill>
                <a:srgbClr val="F5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D01263F-2218-F8E9-B021-D6726CCAA226}"/>
              </a:ext>
            </a:extLst>
          </p:cNvPr>
          <p:cNvSpPr/>
          <p:nvPr/>
        </p:nvSpPr>
        <p:spPr>
          <a:xfrm>
            <a:off x="2413000" y="3175000"/>
            <a:ext cx="1447800" cy="330200"/>
          </a:xfrm>
          <a:prstGeom prst="roundRect">
            <a:avLst/>
          </a:prstGeom>
          <a:solidFill>
            <a:srgbClr val="4CE6AA">
              <a:alpha val="82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423C46-368C-5F96-B781-DDC77EB46D07}"/>
              </a:ext>
            </a:extLst>
          </p:cNvPr>
          <p:cNvSpPr txBox="1"/>
          <p:nvPr/>
        </p:nvSpPr>
        <p:spPr>
          <a:xfrm>
            <a:off x="2463800" y="32385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F5F8FF"/>
                </a:solidFill>
                <a:latin typeface="Microsoft YaHei" panose="020B0503020204020204" pitchFamily="34" charset="-122"/>
              </a:rPr>
              <a:t>Flask API</a:t>
            </a:r>
            <a:endParaRPr lang="zh-CN" altLang="en-US" b="1">
              <a:solidFill>
                <a:srgbClr val="F5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AC12509-767B-7B35-DF06-1CEBDE2D7A8F}"/>
              </a:ext>
            </a:extLst>
          </p:cNvPr>
          <p:cNvSpPr/>
          <p:nvPr/>
        </p:nvSpPr>
        <p:spPr>
          <a:xfrm>
            <a:off x="4064000" y="3175000"/>
            <a:ext cx="1447800" cy="330200"/>
          </a:xfrm>
          <a:prstGeom prst="roundRect">
            <a:avLst/>
          </a:prstGeom>
          <a:solidFill>
            <a:srgbClr val="9B5CFF">
              <a:alpha val="82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7C097C-BA31-7C53-C91E-712FBA1A7FAD}"/>
              </a:ext>
            </a:extLst>
          </p:cNvPr>
          <p:cNvSpPr txBox="1"/>
          <p:nvPr/>
        </p:nvSpPr>
        <p:spPr>
          <a:xfrm>
            <a:off x="4114800" y="3238500"/>
            <a:ext cx="13462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F5F8FF"/>
                </a:solidFill>
                <a:latin typeface="Microsoft YaHei" panose="020B0503020204020204" pitchFamily="34" charset="-122"/>
              </a:rPr>
              <a:t>DashScope</a:t>
            </a:r>
            <a:endParaRPr lang="zh-CN" altLang="en-US" b="1">
              <a:solidFill>
                <a:srgbClr val="F5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A4C8805-0B2D-073F-B086-E4C0422B9ABC}"/>
              </a:ext>
            </a:extLst>
          </p:cNvPr>
          <p:cNvSpPr/>
          <p:nvPr/>
        </p:nvSpPr>
        <p:spPr>
          <a:xfrm>
            <a:off x="5715000" y="3175000"/>
            <a:ext cx="1447800" cy="330200"/>
          </a:xfrm>
          <a:prstGeom prst="roundRect">
            <a:avLst/>
          </a:prstGeom>
          <a:solidFill>
            <a:srgbClr val="3ADCFF">
              <a:alpha val="82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A36664-0DFF-A29C-BB0B-ED3E8BC900AB}"/>
              </a:ext>
            </a:extLst>
          </p:cNvPr>
          <p:cNvSpPr txBox="1"/>
          <p:nvPr/>
        </p:nvSpPr>
        <p:spPr>
          <a:xfrm>
            <a:off x="5765800" y="3238500"/>
            <a:ext cx="13462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F5F8FF"/>
                </a:solidFill>
                <a:latin typeface="Microsoft YaHei" panose="020B0503020204020204" pitchFamily="34" charset="-122"/>
              </a:rPr>
              <a:t>Web Speech</a:t>
            </a:r>
            <a:endParaRPr lang="zh-CN" altLang="en-US" b="1">
              <a:solidFill>
                <a:srgbClr val="F5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960CBE-74E5-DB04-ABB3-58C640B42082}"/>
              </a:ext>
            </a:extLst>
          </p:cNvPr>
          <p:cNvSpPr txBox="1"/>
          <p:nvPr/>
        </p:nvSpPr>
        <p:spPr>
          <a:xfrm>
            <a:off x="762000" y="57150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96A6D2"/>
                </a:solidFill>
                <a:latin typeface="Microsoft YaHei" panose="020B0503020204020204" pitchFamily="34" charset="-122"/>
              </a:rPr>
              <a:t>汇报人：刘汉文    日期：</a:t>
            </a:r>
            <a:r>
              <a:rPr lang="en-US" altLang="zh-CN" sz="1000">
                <a:solidFill>
                  <a:srgbClr val="96A6D2"/>
                </a:solidFill>
                <a:latin typeface="Microsoft YaHei" panose="020B0503020204020204" pitchFamily="34" charset="-122"/>
              </a:rPr>
              <a:t>2026</a:t>
            </a:r>
            <a:endParaRPr lang="zh-CN" altLang="en-US" sz="1000">
              <a:solidFill>
                <a:srgbClr val="96A6D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D1FE49-60F4-8AB9-E33A-0FF32E5E4044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8CAB0B-347D-BABD-45C4-1C95BE65F5A5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261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4B277A-52F5-C7C0-1FB4-81C7142E58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F137784-C94F-9937-5200-CA252DE5CD63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D92738-FDC4-43F3-C3E4-CA9974F328C7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3FBE4D5-419D-1A73-B045-EFF7003DFB1F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476492-BF51-E540-4213-72D3B3BC37E1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7ADA3B-9F58-B65F-5E38-F659F61A16E8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从项目定位到落地实现，再到问题复盘与后续规划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76800A-F445-95B3-77B4-1EAE838049BD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BE55DF-D426-DB1E-A016-B89E1153B12A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4CD68D-DD1B-04FC-EF0D-F2ABCA681EB0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D958A6-1327-DB6B-935F-4860CAA4B5DC}"/>
              </a:ext>
            </a:extLst>
          </p:cNvPr>
          <p:cNvSpPr txBox="1"/>
          <p:nvPr/>
        </p:nvSpPr>
        <p:spPr>
          <a:xfrm>
            <a:off x="889000" y="1587500"/>
            <a:ext cx="6096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4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811D4E-A436-AAEE-10D1-369656C6BFDB}"/>
              </a:ext>
            </a:extLst>
          </p:cNvPr>
          <p:cNvSpPr txBox="1"/>
          <p:nvPr/>
        </p:nvSpPr>
        <p:spPr>
          <a:xfrm>
            <a:off x="1778000" y="1587500"/>
            <a:ext cx="596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5F8FF"/>
                </a:solidFill>
                <a:latin typeface="Microsoft YaHei" panose="020B0503020204020204" pitchFamily="34" charset="-122"/>
              </a:rPr>
              <a:t>项目定位与应用场景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1946D6-BEC0-F94F-7E30-7016E4F0A7AD}"/>
              </a:ext>
            </a:extLst>
          </p:cNvPr>
          <p:cNvSpPr txBox="1"/>
          <p:nvPr/>
        </p:nvSpPr>
        <p:spPr>
          <a:xfrm>
            <a:off x="889000" y="2324100"/>
            <a:ext cx="6096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3AD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4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6E1A26-BAF5-3663-1CA9-37D89F398C15}"/>
              </a:ext>
            </a:extLst>
          </p:cNvPr>
          <p:cNvSpPr txBox="1"/>
          <p:nvPr/>
        </p:nvSpPr>
        <p:spPr>
          <a:xfrm>
            <a:off x="1778000" y="2324100"/>
            <a:ext cx="596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5F8FF"/>
                </a:solidFill>
                <a:latin typeface="Microsoft YaHei" panose="020B0503020204020204" pitchFamily="34" charset="-122"/>
              </a:rPr>
              <a:t>应用方式、方法与核心数据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8FE0E0-B8D5-F160-40A0-B868531C47AB}"/>
              </a:ext>
            </a:extLst>
          </p:cNvPr>
          <p:cNvSpPr txBox="1"/>
          <p:nvPr/>
        </p:nvSpPr>
        <p:spPr>
          <a:xfrm>
            <a:off x="889000" y="3060700"/>
            <a:ext cx="6096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3AD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4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0E233D-454A-3481-9712-8313B6070186}"/>
              </a:ext>
            </a:extLst>
          </p:cNvPr>
          <p:cNvSpPr txBox="1"/>
          <p:nvPr/>
        </p:nvSpPr>
        <p:spPr>
          <a:xfrm>
            <a:off x="1778000" y="3060700"/>
            <a:ext cx="596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5F8FF"/>
                </a:solidFill>
                <a:latin typeface="Microsoft YaHei" panose="020B0503020204020204" pitchFamily="34" charset="-122"/>
              </a:rPr>
              <a:t>系统架构与技术实现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4AC954-524D-9403-A5E6-D0FB9F08ECBA}"/>
              </a:ext>
            </a:extLst>
          </p:cNvPr>
          <p:cNvSpPr txBox="1"/>
          <p:nvPr/>
        </p:nvSpPr>
        <p:spPr>
          <a:xfrm>
            <a:off x="889000" y="3797300"/>
            <a:ext cx="6096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3AD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4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1DE905-FF30-5FC8-C476-36E40409F393}"/>
              </a:ext>
            </a:extLst>
          </p:cNvPr>
          <p:cNvSpPr txBox="1"/>
          <p:nvPr/>
        </p:nvSpPr>
        <p:spPr>
          <a:xfrm>
            <a:off x="1778000" y="3797300"/>
            <a:ext cx="596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5F8FF"/>
                </a:solidFill>
                <a:latin typeface="Microsoft YaHei" panose="020B0503020204020204" pitchFamily="34" charset="-122"/>
              </a:rPr>
              <a:t>工作亮点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EC69ED-80DB-A1F3-A429-938D40FBA671}"/>
              </a:ext>
            </a:extLst>
          </p:cNvPr>
          <p:cNvSpPr txBox="1"/>
          <p:nvPr/>
        </p:nvSpPr>
        <p:spPr>
          <a:xfrm>
            <a:off x="889000" y="4533900"/>
            <a:ext cx="6096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3AD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4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3A1C13-9A24-7EA6-D5CC-60A637562265}"/>
              </a:ext>
            </a:extLst>
          </p:cNvPr>
          <p:cNvSpPr txBox="1"/>
          <p:nvPr/>
        </p:nvSpPr>
        <p:spPr>
          <a:xfrm>
            <a:off x="1778000" y="4533900"/>
            <a:ext cx="596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5F8FF"/>
                </a:solidFill>
                <a:latin typeface="Microsoft YaHei" panose="020B0503020204020204" pitchFamily="34" charset="-122"/>
              </a:rPr>
              <a:t>问题与改进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A93647-BA6E-32B0-498F-2974F47448AD}"/>
              </a:ext>
            </a:extLst>
          </p:cNvPr>
          <p:cNvSpPr txBox="1"/>
          <p:nvPr/>
        </p:nvSpPr>
        <p:spPr>
          <a:xfrm>
            <a:off x="889000" y="5270500"/>
            <a:ext cx="6096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3AD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4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97A760-6BC7-DC93-9685-58DD95B2CBB8}"/>
              </a:ext>
            </a:extLst>
          </p:cNvPr>
          <p:cNvSpPr txBox="1"/>
          <p:nvPr/>
        </p:nvSpPr>
        <p:spPr>
          <a:xfrm>
            <a:off x="1778000" y="5270500"/>
            <a:ext cx="596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5F8FF"/>
                </a:solidFill>
                <a:latin typeface="Microsoft YaHei" panose="020B0503020204020204" pitchFamily="34" charset="-122"/>
              </a:rPr>
              <a:t>下季度计划与感谢</a:t>
            </a:r>
          </a:p>
        </p:txBody>
      </p:sp>
    </p:spTree>
    <p:extLst>
      <p:ext uri="{BB962C8B-B14F-4D97-AF65-F5344CB8AC3E}">
        <p14:creationId xmlns:p14="http://schemas.microsoft.com/office/powerpoint/2010/main" val="277685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6B7FBF-DC96-D122-6C35-9A9DDA1C7B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AB7C7AD-D869-D636-D24D-C76CA8EC059E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6FFD81D-E61C-8DFF-FA80-10BCD2AAB9F9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040EA3A-92B1-5B44-3D54-42BA61415754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56929F-6AB7-3A57-9DF0-595E7E55693F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项目定位：面向个人桌面的 </a:t>
            </a:r>
            <a:r>
              <a:rPr lang="en-US" altLang="zh-CN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智能助手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577608-5E67-0DD6-EA73-1863E5502B77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通过自然语言和语音交互，把 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能力转化为日常可用的应用入口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BEEB0C-7F7E-73E2-19D6-DBF191817B79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160D95-B97D-536C-73C6-679706FBD896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0F5D8B-6EE8-E52F-DA06-F4D7FA6E93DA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313E0D9-48B3-1B8E-5312-5BACA86CF243}"/>
              </a:ext>
            </a:extLst>
          </p:cNvPr>
          <p:cNvSpPr/>
          <p:nvPr/>
        </p:nvSpPr>
        <p:spPr>
          <a:xfrm>
            <a:off x="685800" y="1587500"/>
            <a:ext cx="3429000" cy="1422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1D4C75-2E2C-4F46-B93A-150CD64E33B6}"/>
              </a:ext>
            </a:extLst>
          </p:cNvPr>
          <p:cNvSpPr/>
          <p:nvPr/>
        </p:nvSpPr>
        <p:spPr>
          <a:xfrm>
            <a:off x="685800" y="1587500"/>
            <a:ext cx="76200" cy="14224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EB46F7-C01E-2EAF-F866-CA677FA0010A}"/>
              </a:ext>
            </a:extLst>
          </p:cNvPr>
          <p:cNvSpPr txBox="1"/>
          <p:nvPr/>
        </p:nvSpPr>
        <p:spPr>
          <a:xfrm>
            <a:off x="889000" y="1714500"/>
            <a:ext cx="307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用户侧价值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740444-B1F9-149F-0D65-5C40E020947C}"/>
              </a:ext>
            </a:extLst>
          </p:cNvPr>
          <p:cNvSpPr txBox="1"/>
          <p:nvPr/>
        </p:nvSpPr>
        <p:spPr>
          <a:xfrm>
            <a:off x="889000" y="2120900"/>
            <a:ext cx="3098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一句话完成查询、播放、生成、翻译和打开应用
降低操作门槛，强化语音助手体验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EEE6A98-06D1-3DD3-DCAD-F8BA8DE97D0A}"/>
              </a:ext>
            </a:extLst>
          </p:cNvPr>
          <p:cNvSpPr/>
          <p:nvPr/>
        </p:nvSpPr>
        <p:spPr>
          <a:xfrm>
            <a:off x="4394200" y="1587500"/>
            <a:ext cx="3429000" cy="1422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C7534E2-E0D8-C5DD-85BD-8526FC78BF5E}"/>
              </a:ext>
            </a:extLst>
          </p:cNvPr>
          <p:cNvSpPr/>
          <p:nvPr/>
        </p:nvSpPr>
        <p:spPr>
          <a:xfrm>
            <a:off x="4394200" y="1587500"/>
            <a:ext cx="76200" cy="14224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072AD3-7A46-E269-1A28-4F1F19523B55}"/>
              </a:ext>
            </a:extLst>
          </p:cNvPr>
          <p:cNvSpPr txBox="1"/>
          <p:nvPr/>
        </p:nvSpPr>
        <p:spPr>
          <a:xfrm>
            <a:off x="4597400" y="1714500"/>
            <a:ext cx="307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产品侧价值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3A6A8A-AD2E-A204-9B96-3F2C7D6D48C1}"/>
              </a:ext>
            </a:extLst>
          </p:cNvPr>
          <p:cNvSpPr txBox="1"/>
          <p:nvPr/>
        </p:nvSpPr>
        <p:spPr>
          <a:xfrm>
            <a:off x="4597400" y="2120900"/>
            <a:ext cx="3098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将多个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与生活服务能力汇聚到统一界面
形成可演示、可扩展、可迭代的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原型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A76825C-79D9-FD6A-09D5-93F7F0E1FFE0}"/>
              </a:ext>
            </a:extLst>
          </p:cNvPr>
          <p:cNvSpPr/>
          <p:nvPr/>
        </p:nvSpPr>
        <p:spPr>
          <a:xfrm>
            <a:off x="8102600" y="1587500"/>
            <a:ext cx="3429000" cy="1422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AD7401-CBA9-86C0-170E-E24ECFAEF5EC}"/>
              </a:ext>
            </a:extLst>
          </p:cNvPr>
          <p:cNvSpPr/>
          <p:nvPr/>
        </p:nvSpPr>
        <p:spPr>
          <a:xfrm>
            <a:off x="8102600" y="1587500"/>
            <a:ext cx="76200" cy="14224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318A58-4E48-E441-726B-E33595692CB2}"/>
              </a:ext>
            </a:extLst>
          </p:cNvPr>
          <p:cNvSpPr txBox="1"/>
          <p:nvPr/>
        </p:nvSpPr>
        <p:spPr>
          <a:xfrm>
            <a:off x="8305800" y="1714500"/>
            <a:ext cx="307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技术侧价值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EB001D-2A2E-3511-B78E-854AD3F8CC91}"/>
              </a:ext>
            </a:extLst>
          </p:cNvPr>
          <p:cNvSpPr txBox="1"/>
          <p:nvPr/>
        </p:nvSpPr>
        <p:spPr>
          <a:xfrm>
            <a:off x="8305800" y="2120900"/>
            <a:ext cx="3098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覆盖前端组件化、后端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API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、模型调用、异步任务
适合作为课程设计、项目展示和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应用样板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1B5BA3-1C1D-DB6C-CF6E-F0F074F00846}"/>
              </a:ext>
            </a:extLst>
          </p:cNvPr>
          <p:cNvSpPr txBox="1"/>
          <p:nvPr/>
        </p:nvSpPr>
        <p:spPr>
          <a:xfrm>
            <a:off x="889000" y="3632200"/>
            <a:ext cx="10414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F5F8FF"/>
                </a:solidFill>
                <a:latin typeface="Microsoft YaHei" panose="020B0503020204020204" pitchFamily="34" charset="-122"/>
              </a:rPr>
              <a:t>核心定位：不是单一聊天机器人，而是一个可执行任务的 </a:t>
            </a:r>
            <a:r>
              <a:rPr lang="en-US" altLang="zh-CN" sz="1700" b="1">
                <a:solidFill>
                  <a:srgbClr val="F5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700" b="1">
                <a:solidFill>
                  <a:srgbClr val="F5F8FF"/>
                </a:solidFill>
                <a:latin typeface="Microsoft YaHei" panose="020B0503020204020204" pitchFamily="34" charset="-122"/>
              </a:rPr>
              <a:t>智能应用入口。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8CF6965-61C2-7E14-5581-0D37D0E38E24}"/>
              </a:ext>
            </a:extLst>
          </p:cNvPr>
          <p:cNvSpPr/>
          <p:nvPr/>
        </p:nvSpPr>
        <p:spPr>
          <a:xfrm>
            <a:off x="1041400" y="4445000"/>
            <a:ext cx="2159000" cy="889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40CDBE-E58A-1AED-C457-8AD5EADFD5EE}"/>
              </a:ext>
            </a:extLst>
          </p:cNvPr>
          <p:cNvSpPr/>
          <p:nvPr/>
        </p:nvSpPr>
        <p:spPr>
          <a:xfrm>
            <a:off x="1041400" y="4445000"/>
            <a:ext cx="76200" cy="8890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95025A3-B42F-57EA-4A72-21FDEBA14257}"/>
              </a:ext>
            </a:extLst>
          </p:cNvPr>
          <p:cNvSpPr txBox="1"/>
          <p:nvPr/>
        </p:nvSpPr>
        <p:spPr>
          <a:xfrm>
            <a:off x="1244600" y="45720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生活助手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CC7AF1-21DF-7A57-2011-4ED0EAC37D25}"/>
              </a:ext>
            </a:extLst>
          </p:cNvPr>
          <p:cNvSpPr txBox="1"/>
          <p:nvPr/>
        </p:nvSpPr>
        <p:spPr>
          <a:xfrm>
            <a:off x="1244600" y="4978400"/>
            <a:ext cx="1828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天气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音乐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问答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13893BB-6598-19FD-BE5E-3E4C09D4D02E}"/>
              </a:ext>
            </a:extLst>
          </p:cNvPr>
          <p:cNvSpPr/>
          <p:nvPr/>
        </p:nvSpPr>
        <p:spPr>
          <a:xfrm>
            <a:off x="3708400" y="4445000"/>
            <a:ext cx="2159000" cy="889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C5C343-22E1-1177-5508-3DAE54F258C0}"/>
              </a:ext>
            </a:extLst>
          </p:cNvPr>
          <p:cNvSpPr/>
          <p:nvPr/>
        </p:nvSpPr>
        <p:spPr>
          <a:xfrm>
            <a:off x="3708400" y="4445000"/>
            <a:ext cx="76200" cy="889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AAD412D-62BF-37AC-6F07-119EB854E59F}"/>
              </a:ext>
            </a:extLst>
          </p:cNvPr>
          <p:cNvSpPr txBox="1"/>
          <p:nvPr/>
        </p:nvSpPr>
        <p:spPr>
          <a:xfrm>
            <a:off x="3911600" y="45720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创作助手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1208A7A-DFBE-853F-2950-ACE97B0113C3}"/>
              </a:ext>
            </a:extLst>
          </p:cNvPr>
          <p:cNvSpPr txBox="1"/>
          <p:nvPr/>
        </p:nvSpPr>
        <p:spPr>
          <a:xfrm>
            <a:off x="3911600" y="4978400"/>
            <a:ext cx="1828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对话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文生图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3F41B-0B32-AE2A-A5AA-6B96A4AEAC37}"/>
              </a:ext>
            </a:extLst>
          </p:cNvPr>
          <p:cNvSpPr/>
          <p:nvPr/>
        </p:nvSpPr>
        <p:spPr>
          <a:xfrm>
            <a:off x="6375400" y="4445000"/>
            <a:ext cx="2159000" cy="889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8493FF-F340-9161-799A-C5A46FA3A2DC}"/>
              </a:ext>
            </a:extLst>
          </p:cNvPr>
          <p:cNvSpPr/>
          <p:nvPr/>
        </p:nvSpPr>
        <p:spPr>
          <a:xfrm>
            <a:off x="6375400" y="4445000"/>
            <a:ext cx="76200" cy="889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B34CB9E-B73C-2CA4-0551-AA19AF0BB400}"/>
              </a:ext>
            </a:extLst>
          </p:cNvPr>
          <p:cNvSpPr txBox="1"/>
          <p:nvPr/>
        </p:nvSpPr>
        <p:spPr>
          <a:xfrm>
            <a:off x="6578600" y="45720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语音助手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0771C31-3349-1AFA-D53E-99E281B6BF0B}"/>
              </a:ext>
            </a:extLst>
          </p:cNvPr>
          <p:cNvSpPr txBox="1"/>
          <p:nvPr/>
        </p:nvSpPr>
        <p:spPr>
          <a:xfrm>
            <a:off x="6578600" y="4978400"/>
            <a:ext cx="1828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识别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唤醒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朗读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2E9D390-D5CE-593A-A1BA-07B6243727A2}"/>
              </a:ext>
            </a:extLst>
          </p:cNvPr>
          <p:cNvSpPr/>
          <p:nvPr/>
        </p:nvSpPr>
        <p:spPr>
          <a:xfrm>
            <a:off x="9042400" y="4445000"/>
            <a:ext cx="2159000" cy="889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132BA3-0022-D899-28CA-B5F7E906C9F7}"/>
              </a:ext>
            </a:extLst>
          </p:cNvPr>
          <p:cNvSpPr/>
          <p:nvPr/>
        </p:nvSpPr>
        <p:spPr>
          <a:xfrm>
            <a:off x="9042400" y="4445000"/>
            <a:ext cx="76200" cy="889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E313519-0546-DFA8-5463-C6AD5882B48F}"/>
              </a:ext>
            </a:extLst>
          </p:cNvPr>
          <p:cNvSpPr txBox="1"/>
          <p:nvPr/>
        </p:nvSpPr>
        <p:spPr>
          <a:xfrm>
            <a:off x="9245600" y="45720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桌面助手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9616B34-66C7-593F-AF2E-1A1CD9C400C7}"/>
              </a:ext>
            </a:extLst>
          </p:cNvPr>
          <p:cNvSpPr txBox="1"/>
          <p:nvPr/>
        </p:nvSpPr>
        <p:spPr>
          <a:xfrm>
            <a:off x="9245600" y="4978400"/>
            <a:ext cx="1828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打开应用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快捷操作</a:t>
            </a:r>
          </a:p>
        </p:txBody>
      </p:sp>
    </p:spTree>
    <p:extLst>
      <p:ext uri="{BB962C8B-B14F-4D97-AF65-F5344CB8AC3E}">
        <p14:creationId xmlns:p14="http://schemas.microsoft.com/office/powerpoint/2010/main" val="316206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C4A125-239A-E998-F4AD-68217EEB7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A1B9FC8-7C3A-D642-A0D7-38B609093BE1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30C324C-A653-A6C6-C9AE-E138801376C7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25AABC-21BE-1356-1139-AD9581B23F98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1B56E3-5719-EE6A-7018-0590788774EB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应用方式、实现方法与核心数据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88471D-D908-470B-E107-E5CB64A9431B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用户一句自然语言指令，系统自动完成意图识别、能力调用和结果展示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4FA784-431C-070B-6D04-4C5A934B9226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AF89D0-8CDC-C0FF-A80C-787B120582C2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1C9CED-5F00-968C-97FB-D84515C20FBA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F2CEEE-1294-0B86-37FA-B7AA64AA3549}"/>
              </a:ext>
            </a:extLst>
          </p:cNvPr>
          <p:cNvSpPr/>
          <p:nvPr/>
        </p:nvSpPr>
        <p:spPr>
          <a:xfrm>
            <a:off x="787400" y="1600200"/>
            <a:ext cx="2336800" cy="1041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82F343-6D63-88DE-A577-3BE1184751D1}"/>
              </a:ext>
            </a:extLst>
          </p:cNvPr>
          <p:cNvSpPr/>
          <p:nvPr/>
        </p:nvSpPr>
        <p:spPr>
          <a:xfrm>
            <a:off x="787400" y="1600200"/>
            <a:ext cx="76200" cy="10414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3810E6-99DB-1BB7-2F88-E5EBA39D7890}"/>
              </a:ext>
            </a:extLst>
          </p:cNvPr>
          <p:cNvSpPr txBox="1"/>
          <p:nvPr/>
        </p:nvSpPr>
        <p:spPr>
          <a:xfrm>
            <a:off x="990600" y="1727200"/>
            <a:ext cx="1981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442FDC-0465-057A-46E2-9E95D8E1BF11}"/>
              </a:ext>
            </a:extLst>
          </p:cNvPr>
          <p:cNvSpPr txBox="1"/>
          <p:nvPr/>
        </p:nvSpPr>
        <p:spPr>
          <a:xfrm>
            <a:off x="990600" y="2133600"/>
            <a:ext cx="2006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文字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语音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示例指令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93303D2-D5F2-BE65-4C0A-DF75CB61D2C6}"/>
              </a:ext>
            </a:extLst>
          </p:cNvPr>
          <p:cNvSpPr/>
          <p:nvPr/>
        </p:nvSpPr>
        <p:spPr>
          <a:xfrm>
            <a:off x="3581400" y="1600200"/>
            <a:ext cx="2336800" cy="1041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2BB003-8C98-E060-0517-004916A1EC4A}"/>
              </a:ext>
            </a:extLst>
          </p:cNvPr>
          <p:cNvSpPr/>
          <p:nvPr/>
        </p:nvSpPr>
        <p:spPr>
          <a:xfrm>
            <a:off x="3581400" y="1600200"/>
            <a:ext cx="76200" cy="10414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56E243-004C-F93C-268B-31729182F56E}"/>
              </a:ext>
            </a:extLst>
          </p:cNvPr>
          <p:cNvSpPr txBox="1"/>
          <p:nvPr/>
        </p:nvSpPr>
        <p:spPr>
          <a:xfrm>
            <a:off x="3784600" y="1727200"/>
            <a:ext cx="1981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识别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113613-9BE3-BEB0-2C48-15C9D462FD32}"/>
              </a:ext>
            </a:extLst>
          </p:cNvPr>
          <p:cNvSpPr txBox="1"/>
          <p:nvPr/>
        </p:nvSpPr>
        <p:spPr>
          <a:xfrm>
            <a:off x="3784600" y="2133600"/>
            <a:ext cx="2006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关键词规则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模式判断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483471C-DE32-EE06-F5DD-3F412C7D450F}"/>
              </a:ext>
            </a:extLst>
          </p:cNvPr>
          <p:cNvSpPr/>
          <p:nvPr/>
        </p:nvSpPr>
        <p:spPr>
          <a:xfrm>
            <a:off x="6375400" y="1600200"/>
            <a:ext cx="2336800" cy="1041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700129-B640-4453-C50E-F47F6CD0A0E6}"/>
              </a:ext>
            </a:extLst>
          </p:cNvPr>
          <p:cNvSpPr/>
          <p:nvPr/>
        </p:nvSpPr>
        <p:spPr>
          <a:xfrm>
            <a:off x="6375400" y="1600200"/>
            <a:ext cx="76200" cy="10414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84AEA0-A4B9-A03C-4B62-4AF8057497AF}"/>
              </a:ext>
            </a:extLst>
          </p:cNvPr>
          <p:cNvSpPr txBox="1"/>
          <p:nvPr/>
        </p:nvSpPr>
        <p:spPr>
          <a:xfrm>
            <a:off x="6578600" y="1727200"/>
            <a:ext cx="1981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8F9AF9-3164-390B-E589-9C382365DAF9}"/>
              </a:ext>
            </a:extLst>
          </p:cNvPr>
          <p:cNvSpPr txBox="1"/>
          <p:nvPr/>
        </p:nvSpPr>
        <p:spPr>
          <a:xfrm>
            <a:off x="6578600" y="2133600"/>
            <a:ext cx="2006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AI 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天气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音乐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图片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本机应用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AF1118F-C07E-8442-8815-4F1F39F9F421}"/>
              </a:ext>
            </a:extLst>
          </p:cNvPr>
          <p:cNvSpPr/>
          <p:nvPr/>
        </p:nvSpPr>
        <p:spPr>
          <a:xfrm>
            <a:off x="9169400" y="1600200"/>
            <a:ext cx="2336800" cy="1041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40FE4BD-7638-7890-77A9-C0CFC7C34895}"/>
              </a:ext>
            </a:extLst>
          </p:cNvPr>
          <p:cNvSpPr/>
          <p:nvPr/>
        </p:nvSpPr>
        <p:spPr>
          <a:xfrm>
            <a:off x="9169400" y="1600200"/>
            <a:ext cx="76200" cy="10414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4FD6446-B66C-0373-5801-CCDDC7EA2613}"/>
              </a:ext>
            </a:extLst>
          </p:cNvPr>
          <p:cNvSpPr txBox="1"/>
          <p:nvPr/>
        </p:nvSpPr>
        <p:spPr>
          <a:xfrm>
            <a:off x="9372600" y="1727200"/>
            <a:ext cx="1981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反馈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EBFA4B7-6E35-7567-9B5B-0124F967FDF6}"/>
              </a:ext>
            </a:extLst>
          </p:cNvPr>
          <p:cNvSpPr txBox="1"/>
          <p:nvPr/>
        </p:nvSpPr>
        <p:spPr>
          <a:xfrm>
            <a:off x="9372600" y="2133600"/>
            <a:ext cx="2006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卡片展示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日志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朗读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F103BF2-819F-E694-C0BC-A8E13551827D}"/>
              </a:ext>
            </a:extLst>
          </p:cNvPr>
          <p:cNvSpPr/>
          <p:nvPr/>
        </p:nvSpPr>
        <p:spPr>
          <a:xfrm>
            <a:off x="889000" y="3238500"/>
            <a:ext cx="2159000" cy="939800"/>
          </a:xfrm>
          <a:prstGeom prst="roundRect">
            <a:avLst/>
          </a:prstGeom>
          <a:solidFill>
            <a:srgbClr val="1E2B56"/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127A8B5-E995-663F-7A4F-85EC222C9257}"/>
              </a:ext>
            </a:extLst>
          </p:cNvPr>
          <p:cNvSpPr txBox="1"/>
          <p:nvPr/>
        </p:nvSpPr>
        <p:spPr>
          <a:xfrm>
            <a:off x="990600" y="33401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3ADCFF"/>
                </a:solidFill>
                <a:latin typeface="Microsoft YaHei" panose="020B0503020204020204" pitchFamily="34" charset="-122"/>
              </a:rPr>
              <a:t>12+</a:t>
            </a:r>
            <a:endParaRPr lang="zh-CN" altLang="en-US" sz="20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21B13B-3B2B-B265-C35A-59D61532978B}"/>
              </a:ext>
            </a:extLst>
          </p:cNvPr>
          <p:cNvSpPr txBox="1"/>
          <p:nvPr/>
        </p:nvSpPr>
        <p:spPr>
          <a:xfrm>
            <a:off x="990600" y="3810000"/>
            <a:ext cx="1955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已实现核心功能点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84FB53D-8BBF-A8F2-1CEA-F1CAF60F32D7}"/>
              </a:ext>
            </a:extLst>
          </p:cNvPr>
          <p:cNvSpPr/>
          <p:nvPr/>
        </p:nvSpPr>
        <p:spPr>
          <a:xfrm>
            <a:off x="3429000" y="3238500"/>
            <a:ext cx="2159000" cy="939800"/>
          </a:xfrm>
          <a:prstGeom prst="roundRect">
            <a:avLst/>
          </a:prstGeom>
          <a:solidFill>
            <a:srgbClr val="1E2B56"/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A78BB7-5565-E04A-E825-83CB5F775D8E}"/>
              </a:ext>
            </a:extLst>
          </p:cNvPr>
          <p:cNvSpPr txBox="1"/>
          <p:nvPr/>
        </p:nvSpPr>
        <p:spPr>
          <a:xfrm>
            <a:off x="3530600" y="33401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4CE6AA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4CE6A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B8FC761-D7A9-B38B-F380-A87D6D69975A}"/>
              </a:ext>
            </a:extLst>
          </p:cNvPr>
          <p:cNvSpPr txBox="1"/>
          <p:nvPr/>
        </p:nvSpPr>
        <p:spPr>
          <a:xfrm>
            <a:off x="3530600" y="38100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后端核心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API</a:t>
            </a:r>
            <a:endParaRPr lang="zh-CN" altLang="en-US">
              <a:solidFill>
                <a:srgbClr val="B0BE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726299F-228C-A827-970C-2864CDF02FB5}"/>
              </a:ext>
            </a:extLst>
          </p:cNvPr>
          <p:cNvSpPr/>
          <p:nvPr/>
        </p:nvSpPr>
        <p:spPr>
          <a:xfrm>
            <a:off x="5969000" y="3238500"/>
            <a:ext cx="2159000" cy="939800"/>
          </a:xfrm>
          <a:prstGeom prst="roundRect">
            <a:avLst/>
          </a:prstGeom>
          <a:solidFill>
            <a:srgbClr val="1E2B56"/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9A383AE-510F-C061-7ED8-C52DA0F8EE67}"/>
              </a:ext>
            </a:extLst>
          </p:cNvPr>
          <p:cNvSpPr txBox="1"/>
          <p:nvPr/>
        </p:nvSpPr>
        <p:spPr>
          <a:xfrm>
            <a:off x="6070600" y="33401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9B5CFF"/>
                </a:solidFill>
                <a:latin typeface="Microsoft YaHei" panose="020B0503020204020204" pitchFamily="34" charset="-122"/>
              </a:rPr>
              <a:t>10+</a:t>
            </a:r>
            <a:endParaRPr lang="zh-CN" altLang="en-US" sz="2000" b="1">
              <a:solidFill>
                <a:srgbClr val="9B5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9C25A8F-662F-2C2A-DADD-56E1D7594174}"/>
              </a:ext>
            </a:extLst>
          </p:cNvPr>
          <p:cNvSpPr txBox="1"/>
          <p:nvPr/>
        </p:nvSpPr>
        <p:spPr>
          <a:xfrm>
            <a:off x="6070600" y="3810000"/>
            <a:ext cx="195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前端组件模块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DFF96CD-BAA4-B2AE-ADA3-48185963F71B}"/>
              </a:ext>
            </a:extLst>
          </p:cNvPr>
          <p:cNvSpPr/>
          <p:nvPr/>
        </p:nvSpPr>
        <p:spPr>
          <a:xfrm>
            <a:off x="8509000" y="3238500"/>
            <a:ext cx="2159000" cy="939800"/>
          </a:xfrm>
          <a:prstGeom prst="roundRect">
            <a:avLst/>
          </a:prstGeom>
          <a:solidFill>
            <a:srgbClr val="1E2B56"/>
          </a:solidFill>
          <a:ln>
            <a:solidFill>
              <a:srgbClr val="FFB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CA229CF-2AED-8DD3-9368-76DC1FE63A74}"/>
              </a:ext>
            </a:extLst>
          </p:cNvPr>
          <p:cNvSpPr txBox="1"/>
          <p:nvPr/>
        </p:nvSpPr>
        <p:spPr>
          <a:xfrm>
            <a:off x="8610600" y="33401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FFB45A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2000" b="1">
              <a:solidFill>
                <a:srgbClr val="FFB4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11F7F6B-B763-0B70-2266-4B593A2E3EF3}"/>
              </a:ext>
            </a:extLst>
          </p:cNvPr>
          <p:cNvSpPr txBox="1"/>
          <p:nvPr/>
        </p:nvSpPr>
        <p:spPr>
          <a:xfrm>
            <a:off x="8610600" y="3810000"/>
            <a:ext cx="1955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最近对话上下文条数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6B28D49-8564-E6BA-E647-05F5C66F6D2D}"/>
              </a:ext>
            </a:extLst>
          </p:cNvPr>
          <p:cNvSpPr/>
          <p:nvPr/>
        </p:nvSpPr>
        <p:spPr>
          <a:xfrm>
            <a:off x="889000" y="4953000"/>
            <a:ext cx="3175000" cy="9906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BFBB48-E4C8-B8AC-CF03-4D89F63A7DA6}"/>
              </a:ext>
            </a:extLst>
          </p:cNvPr>
          <p:cNvSpPr/>
          <p:nvPr/>
        </p:nvSpPr>
        <p:spPr>
          <a:xfrm>
            <a:off x="889000" y="4953000"/>
            <a:ext cx="76200" cy="9906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11A465B-37BE-3E4B-083B-A4AF54165718}"/>
              </a:ext>
            </a:extLst>
          </p:cNvPr>
          <p:cNvSpPr txBox="1"/>
          <p:nvPr/>
        </p:nvSpPr>
        <p:spPr>
          <a:xfrm>
            <a:off x="1092200" y="50800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前端实现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37DFAC0-CDCE-971A-2472-5BB0EAC2EC2C}"/>
              </a:ext>
            </a:extLst>
          </p:cNvPr>
          <p:cNvSpPr txBox="1"/>
          <p:nvPr/>
        </p:nvSpPr>
        <p:spPr>
          <a:xfrm>
            <a:off x="1092200" y="5486400"/>
            <a:ext cx="2844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React + Vite
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组件化界面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+ localStorage
Web Speech API</a:t>
            </a:r>
            <a:endParaRPr lang="zh-CN" altLang="en-US">
              <a:solidFill>
                <a:srgbClr val="B0BE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B075702-940D-D75A-944A-53BDF8FBBDC9}"/>
              </a:ext>
            </a:extLst>
          </p:cNvPr>
          <p:cNvSpPr/>
          <p:nvPr/>
        </p:nvSpPr>
        <p:spPr>
          <a:xfrm>
            <a:off x="4508500" y="4953000"/>
            <a:ext cx="3175000" cy="9906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EAF8DCC-F819-E976-1F46-799D07D8DD77}"/>
              </a:ext>
            </a:extLst>
          </p:cNvPr>
          <p:cNvSpPr/>
          <p:nvPr/>
        </p:nvSpPr>
        <p:spPr>
          <a:xfrm>
            <a:off x="4508500" y="4953000"/>
            <a:ext cx="76200" cy="990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6A31AC7-E405-D333-BC7C-119C800171BA}"/>
              </a:ext>
            </a:extLst>
          </p:cNvPr>
          <p:cNvSpPr txBox="1"/>
          <p:nvPr/>
        </p:nvSpPr>
        <p:spPr>
          <a:xfrm>
            <a:off x="4711700" y="50800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后端实现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D136620-DE42-C41F-AFED-7A4E430F0EA4}"/>
              </a:ext>
            </a:extLst>
          </p:cNvPr>
          <p:cNvSpPr txBox="1"/>
          <p:nvPr/>
        </p:nvSpPr>
        <p:spPr>
          <a:xfrm>
            <a:off x="4711700" y="5486400"/>
            <a:ext cx="28448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Flask + Flask-CORS
/api/send-task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统一入口
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requests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调用第三方服务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13528EB-49E6-BA31-7580-4EFEF2D1C9FD}"/>
              </a:ext>
            </a:extLst>
          </p:cNvPr>
          <p:cNvSpPr/>
          <p:nvPr/>
        </p:nvSpPr>
        <p:spPr>
          <a:xfrm>
            <a:off x="8128000" y="4953000"/>
            <a:ext cx="3175000" cy="9906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D52107-1308-7132-2CC5-5594A3EF1121}"/>
              </a:ext>
            </a:extLst>
          </p:cNvPr>
          <p:cNvSpPr/>
          <p:nvPr/>
        </p:nvSpPr>
        <p:spPr>
          <a:xfrm>
            <a:off x="8128000" y="4953000"/>
            <a:ext cx="76200" cy="990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91683-22A3-39AE-088B-2A91378052AF}"/>
              </a:ext>
            </a:extLst>
          </p:cNvPr>
          <p:cNvSpPr txBox="1"/>
          <p:nvPr/>
        </p:nvSpPr>
        <p:spPr>
          <a:xfrm>
            <a:off x="8331200" y="50800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实现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ACF13D-7B68-2295-E65E-A2BE60950EE7}"/>
              </a:ext>
            </a:extLst>
          </p:cNvPr>
          <p:cNvSpPr txBox="1"/>
          <p:nvPr/>
        </p:nvSpPr>
        <p:spPr>
          <a:xfrm>
            <a:off x="8331200" y="5486400"/>
            <a:ext cx="28448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DashScope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对话模型
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DashScope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文生图任务
多轮上下文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messages</a:t>
            </a:r>
            <a:endParaRPr lang="zh-CN" altLang="en-US">
              <a:solidFill>
                <a:srgbClr val="B0BEE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2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370AF3-A344-D41D-3D58-CEEF55174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8D242BA-12C7-17D2-7F63-22B2C74E0343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CE0B227-54B9-8679-7862-7793B288860A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A47B517-92C5-6670-B942-8ECB833F0AAC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F11DF2-9C11-D896-701B-BBCCF36C7398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系统架构：前后端分离 </a:t>
            </a:r>
            <a:r>
              <a:rPr lang="en-US" altLang="zh-CN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多服务能力编排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CC9638-3799-D519-947D-54F1C1C4CA59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以统一指令入口连接多个 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与工具服务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945F85-E81D-1958-CE98-371914F2C944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5C41A4-590B-E046-75EA-C9AAED7F63E9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29684A-9AA7-51B0-9A47-28473731E37F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E69AFC4-A845-48CD-D12C-4EB3F9485AF2}"/>
              </a:ext>
            </a:extLst>
          </p:cNvPr>
          <p:cNvSpPr/>
          <p:nvPr/>
        </p:nvSpPr>
        <p:spPr>
          <a:xfrm>
            <a:off x="685800" y="1587500"/>
            <a:ext cx="2413000" cy="3556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BD8819-4FCA-73FD-D8EA-A41461312B85}"/>
              </a:ext>
            </a:extLst>
          </p:cNvPr>
          <p:cNvSpPr/>
          <p:nvPr/>
        </p:nvSpPr>
        <p:spPr>
          <a:xfrm>
            <a:off x="685800" y="1587500"/>
            <a:ext cx="76200" cy="3556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58C9F-5A34-2A42-EAFF-484797D9A7FF}"/>
              </a:ext>
            </a:extLst>
          </p:cNvPr>
          <p:cNvSpPr txBox="1"/>
          <p:nvPr/>
        </p:nvSpPr>
        <p:spPr>
          <a:xfrm>
            <a:off x="889000" y="17145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用户交互层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7499EA-DD9A-04DB-136D-A3AF31912C00}"/>
              </a:ext>
            </a:extLst>
          </p:cNvPr>
          <p:cNvSpPr txBox="1"/>
          <p:nvPr/>
        </p:nvSpPr>
        <p:spPr>
          <a:xfrm>
            <a:off x="889000" y="2120900"/>
            <a:ext cx="20828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文字输入
语音识别
唤醒词
示例指令
划词工具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C178D57-FE50-1F74-5395-F1B805E4DF8E}"/>
              </a:ext>
            </a:extLst>
          </p:cNvPr>
          <p:cNvSpPr/>
          <p:nvPr/>
        </p:nvSpPr>
        <p:spPr>
          <a:xfrm>
            <a:off x="3505200" y="1587500"/>
            <a:ext cx="2413000" cy="3556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D60245-4DFA-F671-53A6-871E604DAD6B}"/>
              </a:ext>
            </a:extLst>
          </p:cNvPr>
          <p:cNvSpPr/>
          <p:nvPr/>
        </p:nvSpPr>
        <p:spPr>
          <a:xfrm>
            <a:off x="3505200" y="1587500"/>
            <a:ext cx="76200" cy="35560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CE69BF-A693-CFA1-1604-6A238D734EB3}"/>
              </a:ext>
            </a:extLst>
          </p:cNvPr>
          <p:cNvSpPr txBox="1"/>
          <p:nvPr/>
        </p:nvSpPr>
        <p:spPr>
          <a:xfrm>
            <a:off x="3708400" y="17145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前端展示层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523B32-FD69-BAB3-E675-858F96726301}"/>
              </a:ext>
            </a:extLst>
          </p:cNvPr>
          <p:cNvSpPr txBox="1"/>
          <p:nvPr/>
        </p:nvSpPr>
        <p:spPr>
          <a:xfrm>
            <a:off x="3708400" y="2120900"/>
            <a:ext cx="20828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ChatPanel
WeatherCard
MusicPlayer
ImagePreview
LogPanel / ModeBar</a:t>
            </a:r>
            <a:endParaRPr lang="zh-CN" altLang="en-US">
              <a:solidFill>
                <a:srgbClr val="B0BE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6A36DDB-17E5-82DB-4B26-B433C6B00A78}"/>
              </a:ext>
            </a:extLst>
          </p:cNvPr>
          <p:cNvSpPr/>
          <p:nvPr/>
        </p:nvSpPr>
        <p:spPr>
          <a:xfrm>
            <a:off x="6324600" y="1587500"/>
            <a:ext cx="2413000" cy="3556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57745E-7ACC-FA78-9159-0E27B8989F5F}"/>
              </a:ext>
            </a:extLst>
          </p:cNvPr>
          <p:cNvSpPr/>
          <p:nvPr/>
        </p:nvSpPr>
        <p:spPr>
          <a:xfrm>
            <a:off x="6324600" y="1587500"/>
            <a:ext cx="76200" cy="3556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CBD8B4-C7D2-87A8-8F21-EEFDEC6736D8}"/>
              </a:ext>
            </a:extLst>
          </p:cNvPr>
          <p:cNvSpPr txBox="1"/>
          <p:nvPr/>
        </p:nvSpPr>
        <p:spPr>
          <a:xfrm>
            <a:off x="6527800" y="17145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后端调度层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5ED8EA-751F-FB51-6ACD-9274797D83AB}"/>
              </a:ext>
            </a:extLst>
          </p:cNvPr>
          <p:cNvSpPr txBox="1"/>
          <p:nvPr/>
        </p:nvSpPr>
        <p:spPr>
          <a:xfrm>
            <a:off x="6527800" y="2120900"/>
            <a:ext cx="20828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Flask API
parse_command
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意图路由
上下文管理
白名单应用启动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6885-590C-C037-DF1A-F6B7AE9FE87F}"/>
              </a:ext>
            </a:extLst>
          </p:cNvPr>
          <p:cNvSpPr/>
          <p:nvPr/>
        </p:nvSpPr>
        <p:spPr>
          <a:xfrm>
            <a:off x="9144000" y="1587500"/>
            <a:ext cx="2413000" cy="3556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FD43AA4-79C0-7795-7095-A58DB56F35C6}"/>
              </a:ext>
            </a:extLst>
          </p:cNvPr>
          <p:cNvSpPr/>
          <p:nvPr/>
        </p:nvSpPr>
        <p:spPr>
          <a:xfrm>
            <a:off x="9144000" y="1587500"/>
            <a:ext cx="76200" cy="3556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AF8BFD-F690-57E4-25D5-8CC74F5814E0}"/>
              </a:ext>
            </a:extLst>
          </p:cNvPr>
          <p:cNvSpPr txBox="1"/>
          <p:nvPr/>
        </p:nvSpPr>
        <p:spPr>
          <a:xfrm>
            <a:off x="9347200" y="17145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外部能力层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7E5EE51-ADFE-AA70-B103-1FBB3C2C988C}"/>
              </a:ext>
            </a:extLst>
          </p:cNvPr>
          <p:cNvSpPr txBox="1"/>
          <p:nvPr/>
        </p:nvSpPr>
        <p:spPr>
          <a:xfrm>
            <a:off x="9347200" y="2120900"/>
            <a:ext cx="20828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DashScope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大模型
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DashScope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文生图
高德天气
网易云搜索
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Windows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应用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1D34E8-CA3E-3A0E-32B0-80BA87A692BD}"/>
              </a:ext>
            </a:extLst>
          </p:cNvPr>
          <p:cNvSpPr txBox="1"/>
          <p:nvPr/>
        </p:nvSpPr>
        <p:spPr>
          <a:xfrm>
            <a:off x="914400" y="57150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F5F8FF"/>
                </a:solidFill>
                <a:latin typeface="Microsoft YaHei" panose="020B0503020204020204" pitchFamily="34" charset="-122"/>
              </a:rPr>
              <a:t>设计思路：前端负责体验和展示，后端负责安全调度与第三方能力调用，统一返回 </a:t>
            </a:r>
            <a:r>
              <a:rPr lang="en-US" altLang="zh-CN" sz="1300" b="1">
                <a:solidFill>
                  <a:srgbClr val="F5F8FF"/>
                </a:solidFill>
                <a:latin typeface="Microsoft YaHei" panose="020B0503020204020204" pitchFamily="34" charset="-122"/>
              </a:rPr>
              <a:t>type </a:t>
            </a:r>
            <a:r>
              <a:rPr lang="zh-CN" altLang="en-US" sz="1300" b="1">
                <a:solidFill>
                  <a:srgbClr val="F5F8FF"/>
                </a:solidFill>
                <a:latin typeface="Microsoft YaHei" panose="020B0503020204020204" pitchFamily="34" charset="-122"/>
              </a:rPr>
              <a:t>字段驱动页面组件切换。</a:t>
            </a:r>
          </a:p>
        </p:txBody>
      </p:sp>
    </p:spTree>
    <p:extLst>
      <p:ext uri="{BB962C8B-B14F-4D97-AF65-F5344CB8AC3E}">
        <p14:creationId xmlns:p14="http://schemas.microsoft.com/office/powerpoint/2010/main" val="1991942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75CDEB-0D4F-1E8A-CE6C-3E35E6200F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896ED40-E910-3303-72C9-827826284364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EAE9699-0338-7CA4-1CE9-EF2DEA0A3FC0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441557A-6E16-E6CA-5417-3BDD6D458451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427334-7E38-536D-73E6-52456FFB54B0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工作亮点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180F1-7EAA-CAE4-34D6-A0E2D7B9F3A7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从“能聊天”升级为“能听、能说、能执行任务”的 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应用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C4CBAF-E4B0-5AD9-9AA1-56F00153F981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16E3D8-38B4-3A10-DCFD-B34188F46F2C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E169F2-0F2F-CF8B-9E01-9702AAF7CB22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7F8E5F0-BC45-F18F-D299-4337885E42F2}"/>
              </a:ext>
            </a:extLst>
          </p:cNvPr>
          <p:cNvSpPr/>
          <p:nvPr/>
        </p:nvSpPr>
        <p:spPr>
          <a:xfrm>
            <a:off x="736600" y="1498600"/>
            <a:ext cx="5143500" cy="1092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390D79-9633-F7CA-A9A5-022474A18A8C}"/>
              </a:ext>
            </a:extLst>
          </p:cNvPr>
          <p:cNvSpPr/>
          <p:nvPr/>
        </p:nvSpPr>
        <p:spPr>
          <a:xfrm>
            <a:off x="736600" y="1498600"/>
            <a:ext cx="76200" cy="10922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6AC9AB-3DF5-4C25-6A22-F388F2BA1EB1}"/>
              </a:ext>
            </a:extLst>
          </p:cNvPr>
          <p:cNvSpPr txBox="1"/>
          <p:nvPr/>
        </p:nvSpPr>
        <p:spPr>
          <a:xfrm>
            <a:off x="939800" y="1625600"/>
            <a:ext cx="47879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多轮对话能力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63293A-07A7-C61E-FB97-742EBE84016F}"/>
              </a:ext>
            </a:extLst>
          </p:cNvPr>
          <p:cNvSpPr txBox="1"/>
          <p:nvPr/>
        </p:nvSpPr>
        <p:spPr>
          <a:xfrm>
            <a:off x="939800" y="2032000"/>
            <a:ext cx="48133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支持连续追问：先问承德美食，再追问这些在哪能吃到。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6C6F259-4B6B-E9FC-04B4-5671F7664BD1}"/>
              </a:ext>
            </a:extLst>
          </p:cNvPr>
          <p:cNvSpPr/>
          <p:nvPr/>
        </p:nvSpPr>
        <p:spPr>
          <a:xfrm>
            <a:off x="6324600" y="1498600"/>
            <a:ext cx="5143500" cy="1092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8086B0-208A-521E-5186-724B1DFB6AA0}"/>
              </a:ext>
            </a:extLst>
          </p:cNvPr>
          <p:cNvSpPr/>
          <p:nvPr/>
        </p:nvSpPr>
        <p:spPr>
          <a:xfrm>
            <a:off x="6324600" y="1498600"/>
            <a:ext cx="76200" cy="10922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EF2BB6A-9ED4-8DE1-0AF7-36EB4D48F002}"/>
              </a:ext>
            </a:extLst>
          </p:cNvPr>
          <p:cNvSpPr txBox="1"/>
          <p:nvPr/>
        </p:nvSpPr>
        <p:spPr>
          <a:xfrm>
            <a:off x="6527800" y="1625600"/>
            <a:ext cx="47879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02 AI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多能力集成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38D339-ECEB-F38B-85A5-33A972EE02E0}"/>
              </a:ext>
            </a:extLst>
          </p:cNvPr>
          <p:cNvSpPr txBox="1"/>
          <p:nvPr/>
        </p:nvSpPr>
        <p:spPr>
          <a:xfrm>
            <a:off x="6527800" y="2032000"/>
            <a:ext cx="48133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对话、文生图、翻译、天气、音乐和桌面应用统一入口。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900A4D6-4B11-0EDE-15C3-8E372EB16C25}"/>
              </a:ext>
            </a:extLst>
          </p:cNvPr>
          <p:cNvSpPr/>
          <p:nvPr/>
        </p:nvSpPr>
        <p:spPr>
          <a:xfrm>
            <a:off x="736600" y="2921000"/>
            <a:ext cx="5143500" cy="1092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5FE491-B882-3006-330B-C6BF85F0DF1A}"/>
              </a:ext>
            </a:extLst>
          </p:cNvPr>
          <p:cNvSpPr/>
          <p:nvPr/>
        </p:nvSpPr>
        <p:spPr>
          <a:xfrm>
            <a:off x="736600" y="2921000"/>
            <a:ext cx="76200" cy="10922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9242C4-494B-B0EE-5807-0ED40B39B99D}"/>
              </a:ext>
            </a:extLst>
          </p:cNvPr>
          <p:cNvSpPr txBox="1"/>
          <p:nvPr/>
        </p:nvSpPr>
        <p:spPr>
          <a:xfrm>
            <a:off x="939800" y="3048000"/>
            <a:ext cx="47879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语音助手体验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6F18F9-2711-A764-908F-C9D6758498D9}"/>
              </a:ext>
            </a:extLst>
          </p:cNvPr>
          <p:cNvSpPr txBox="1"/>
          <p:nvPr/>
        </p:nvSpPr>
        <p:spPr>
          <a:xfrm>
            <a:off x="939800" y="3454400"/>
            <a:ext cx="48133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支持语音识别、唤醒词“小文小文”和回复朗读。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67831AA-B4BA-E500-3F9B-3C58391E1C32}"/>
              </a:ext>
            </a:extLst>
          </p:cNvPr>
          <p:cNvSpPr/>
          <p:nvPr/>
        </p:nvSpPr>
        <p:spPr>
          <a:xfrm>
            <a:off x="6324600" y="2921000"/>
            <a:ext cx="5143500" cy="1092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E03F7F-4210-A4F1-9B83-778F75D19EDB}"/>
              </a:ext>
            </a:extLst>
          </p:cNvPr>
          <p:cNvSpPr/>
          <p:nvPr/>
        </p:nvSpPr>
        <p:spPr>
          <a:xfrm>
            <a:off x="6324600" y="2921000"/>
            <a:ext cx="76200" cy="10922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BDC0971-9A54-8653-2E22-426BAD494E8B}"/>
              </a:ext>
            </a:extLst>
          </p:cNvPr>
          <p:cNvSpPr txBox="1"/>
          <p:nvPr/>
        </p:nvSpPr>
        <p:spPr>
          <a:xfrm>
            <a:off x="6527800" y="3048000"/>
            <a:ext cx="47879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异步文生图体验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2CDC72-B335-00C0-5168-786F52DE88DF}"/>
              </a:ext>
            </a:extLst>
          </p:cNvPr>
          <p:cNvSpPr txBox="1"/>
          <p:nvPr/>
        </p:nvSpPr>
        <p:spPr>
          <a:xfrm>
            <a:off x="6527800" y="3454400"/>
            <a:ext cx="48133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任务提交后进入生成中状态，通过轮询展示结果。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070C1C2-9487-80CE-3E60-F1445C057AEC}"/>
              </a:ext>
            </a:extLst>
          </p:cNvPr>
          <p:cNvSpPr/>
          <p:nvPr/>
        </p:nvSpPr>
        <p:spPr>
          <a:xfrm>
            <a:off x="736600" y="4343400"/>
            <a:ext cx="5143500" cy="1092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FAD728-4219-E155-CDA2-79C5AA56FD25}"/>
              </a:ext>
            </a:extLst>
          </p:cNvPr>
          <p:cNvSpPr/>
          <p:nvPr/>
        </p:nvSpPr>
        <p:spPr>
          <a:xfrm>
            <a:off x="736600" y="4343400"/>
            <a:ext cx="76200" cy="10922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AEE8BD9-A024-A556-406E-6D9354E9AF62}"/>
              </a:ext>
            </a:extLst>
          </p:cNvPr>
          <p:cNvSpPr txBox="1"/>
          <p:nvPr/>
        </p:nvSpPr>
        <p:spPr>
          <a:xfrm>
            <a:off x="939800" y="4470400"/>
            <a:ext cx="47879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安全桌面控制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7A9891F-F36D-F7D4-13C1-CF020656777D}"/>
              </a:ext>
            </a:extLst>
          </p:cNvPr>
          <p:cNvSpPr txBox="1"/>
          <p:nvPr/>
        </p:nvSpPr>
        <p:spPr>
          <a:xfrm>
            <a:off x="939800" y="4876800"/>
            <a:ext cx="48133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白名单机制打开本机应用，兼顾可用性与安全性。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F86812A-B60C-D338-8B7B-C56F93CC1010}"/>
              </a:ext>
            </a:extLst>
          </p:cNvPr>
          <p:cNvSpPr/>
          <p:nvPr/>
        </p:nvSpPr>
        <p:spPr>
          <a:xfrm>
            <a:off x="6324600" y="4343400"/>
            <a:ext cx="5143500" cy="1092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01BD3B-B562-E0CC-21C6-319A3A071552}"/>
              </a:ext>
            </a:extLst>
          </p:cNvPr>
          <p:cNvSpPr/>
          <p:nvPr/>
        </p:nvSpPr>
        <p:spPr>
          <a:xfrm>
            <a:off x="6324600" y="4343400"/>
            <a:ext cx="76200" cy="10922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5E5A3D1-9B12-FFF8-7B15-2886E6E83E55}"/>
              </a:ext>
            </a:extLst>
          </p:cNvPr>
          <p:cNvSpPr txBox="1"/>
          <p:nvPr/>
        </p:nvSpPr>
        <p:spPr>
          <a:xfrm>
            <a:off x="6527800" y="4470400"/>
            <a:ext cx="47879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06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组件化可扩展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251E29B-DB3E-77C1-EE28-1141CBBFF864}"/>
              </a:ext>
            </a:extLst>
          </p:cNvPr>
          <p:cNvSpPr txBox="1"/>
          <p:nvPr/>
        </p:nvSpPr>
        <p:spPr>
          <a:xfrm>
            <a:off x="6527800" y="4876800"/>
            <a:ext cx="48133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前端组件和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Hook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拆分，后端统一指令路由。</a:t>
            </a:r>
          </a:p>
        </p:txBody>
      </p:sp>
    </p:spTree>
    <p:extLst>
      <p:ext uri="{BB962C8B-B14F-4D97-AF65-F5344CB8AC3E}">
        <p14:creationId xmlns:p14="http://schemas.microsoft.com/office/powerpoint/2010/main" val="56536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123781-8CD6-2E9E-937D-8F9C6B7BE4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CC45331-96C2-21EE-9E22-3189A041102C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DDDE5C2-9E66-B0C7-A3F9-FBD7D9665FC6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28FA588-B109-8884-3176-584EA0A72947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CF0280-7985-78C3-7FFF-3DE91FCE6F50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问题与改进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C81A4F-70EC-1664-FD9B-BC05EC6E2DA9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当前版本已能演示核心能力，但仍需要从稳定性、智能化和工程化继续提升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89DB4C-1D89-BFCD-AA62-F0B6AA30C148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201EAB-E24F-8166-D513-BB75EBB1CD97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CFFE1D-597B-FCEB-F13F-C75CF82C3F79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514773-FDCA-05DE-2F33-510DE087A578}"/>
              </a:ext>
            </a:extLst>
          </p:cNvPr>
          <p:cNvSpPr/>
          <p:nvPr/>
        </p:nvSpPr>
        <p:spPr>
          <a:xfrm>
            <a:off x="787400" y="1625600"/>
            <a:ext cx="2159000" cy="533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89FF59-45F2-BD27-25C8-64E90778205A}"/>
              </a:ext>
            </a:extLst>
          </p:cNvPr>
          <p:cNvSpPr/>
          <p:nvPr/>
        </p:nvSpPr>
        <p:spPr>
          <a:xfrm>
            <a:off x="787400" y="1625600"/>
            <a:ext cx="76200" cy="5334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320C55-EAB0-D288-D958-A806820EFCD0}"/>
              </a:ext>
            </a:extLst>
          </p:cNvPr>
          <p:cNvSpPr txBox="1"/>
          <p:nvPr/>
        </p:nvSpPr>
        <p:spPr>
          <a:xfrm>
            <a:off x="990600" y="17526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意图识别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A7DE5C-221D-5C9E-EAAD-48C178C32960}"/>
              </a:ext>
            </a:extLst>
          </p:cNvPr>
          <p:cNvSpPr txBox="1"/>
          <p:nvPr/>
        </p:nvSpPr>
        <p:spPr>
          <a:xfrm>
            <a:off x="3429000" y="17272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关键词规则为主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5E2771-2742-448A-2D07-406D8D0A4E23}"/>
              </a:ext>
            </a:extLst>
          </p:cNvPr>
          <p:cNvSpPr txBox="1"/>
          <p:nvPr/>
        </p:nvSpPr>
        <p:spPr>
          <a:xfrm>
            <a:off x="6921500" y="17272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引入大模型意图分类，减少误判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18FF3A7-6708-81F7-B29E-7B2A94462C1D}"/>
              </a:ext>
            </a:extLst>
          </p:cNvPr>
          <p:cNvSpPr/>
          <p:nvPr/>
        </p:nvSpPr>
        <p:spPr>
          <a:xfrm>
            <a:off x="787400" y="2413000"/>
            <a:ext cx="2159000" cy="533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FC088D-E50F-2DE6-3647-4FC61EA62D8D}"/>
              </a:ext>
            </a:extLst>
          </p:cNvPr>
          <p:cNvSpPr/>
          <p:nvPr/>
        </p:nvSpPr>
        <p:spPr>
          <a:xfrm>
            <a:off x="787400" y="2413000"/>
            <a:ext cx="76200" cy="5334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4C4427-E20C-AF86-0130-B6CA6E66D721}"/>
              </a:ext>
            </a:extLst>
          </p:cNvPr>
          <p:cNvSpPr txBox="1"/>
          <p:nvPr/>
        </p:nvSpPr>
        <p:spPr>
          <a:xfrm>
            <a:off x="990600" y="25400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5B21AF-F4A2-1401-0D60-F7329BB62F39}"/>
              </a:ext>
            </a:extLst>
          </p:cNvPr>
          <p:cNvSpPr txBox="1"/>
          <p:nvPr/>
        </p:nvSpPr>
        <p:spPr>
          <a:xfrm>
            <a:off x="3429000" y="25146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受版权和外链限制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EFC0A0-1606-9394-3662-62F03FF5157A}"/>
              </a:ext>
            </a:extLst>
          </p:cNvPr>
          <p:cNvSpPr txBox="1"/>
          <p:nvPr/>
        </p:nvSpPr>
        <p:spPr>
          <a:xfrm>
            <a:off x="6921500" y="25146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增加多结果选择、合法音乐源和失败重试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F2F9A14-4E99-2F8C-AA30-1F2A995EBE8B}"/>
              </a:ext>
            </a:extLst>
          </p:cNvPr>
          <p:cNvSpPr/>
          <p:nvPr/>
        </p:nvSpPr>
        <p:spPr>
          <a:xfrm>
            <a:off x="787400" y="3200400"/>
            <a:ext cx="2159000" cy="533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1295D9-5387-4A84-7E64-58DF17D146F6}"/>
              </a:ext>
            </a:extLst>
          </p:cNvPr>
          <p:cNvSpPr/>
          <p:nvPr/>
        </p:nvSpPr>
        <p:spPr>
          <a:xfrm>
            <a:off x="787400" y="3200400"/>
            <a:ext cx="76200" cy="5334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D72EED-5AA1-1295-4014-BD60AAF7851D}"/>
              </a:ext>
            </a:extLst>
          </p:cNvPr>
          <p:cNvSpPr txBox="1"/>
          <p:nvPr/>
        </p:nvSpPr>
        <p:spPr>
          <a:xfrm>
            <a:off x="990600" y="33274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语音能力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C13AC4-A81C-754F-CB70-6611C8136D4A}"/>
              </a:ext>
            </a:extLst>
          </p:cNvPr>
          <p:cNvSpPr txBox="1"/>
          <p:nvPr/>
        </p:nvSpPr>
        <p:spPr>
          <a:xfrm>
            <a:off x="3429000" y="33020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依赖浏览器支持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74C9A5A-0FC7-74A9-AC8E-824A2FF9BCC2}"/>
              </a:ext>
            </a:extLst>
          </p:cNvPr>
          <p:cNvSpPr txBox="1"/>
          <p:nvPr/>
        </p:nvSpPr>
        <p:spPr>
          <a:xfrm>
            <a:off x="6921500" y="33020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增加纠错、自动朗读和语速音调调节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50B0506-4F92-B34A-0008-F7819818B8BD}"/>
              </a:ext>
            </a:extLst>
          </p:cNvPr>
          <p:cNvSpPr/>
          <p:nvPr/>
        </p:nvSpPr>
        <p:spPr>
          <a:xfrm>
            <a:off x="787400" y="3987800"/>
            <a:ext cx="2159000" cy="533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0C2084F-E854-8692-149D-A8556904BAF9}"/>
              </a:ext>
            </a:extLst>
          </p:cNvPr>
          <p:cNvSpPr/>
          <p:nvPr/>
        </p:nvSpPr>
        <p:spPr>
          <a:xfrm>
            <a:off x="787400" y="3987800"/>
            <a:ext cx="76200" cy="5334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5278AD0-E866-2AF4-00CB-5C7D18391237}"/>
              </a:ext>
            </a:extLst>
          </p:cNvPr>
          <p:cNvSpPr txBox="1"/>
          <p:nvPr/>
        </p:nvSpPr>
        <p:spPr>
          <a:xfrm>
            <a:off x="990600" y="41148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后端结构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D7B89BD-19F7-2734-412C-3514A9EF03E5}"/>
              </a:ext>
            </a:extLst>
          </p:cNvPr>
          <p:cNvSpPr txBox="1"/>
          <p:nvPr/>
        </p:nvSpPr>
        <p:spPr>
          <a:xfrm>
            <a:off x="3429000" y="40894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功能集中在 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app.py</a:t>
            </a:r>
            <a:endParaRPr lang="zh-CN" altLang="en-US" sz="1000">
              <a:solidFill>
                <a:srgbClr val="B0BE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AF8ECBD-8A03-A7E7-74FA-A8EC4A4462A8}"/>
              </a:ext>
            </a:extLst>
          </p:cNvPr>
          <p:cNvSpPr txBox="1"/>
          <p:nvPr/>
        </p:nvSpPr>
        <p:spPr>
          <a:xfrm>
            <a:off x="6921500" y="40894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拆分 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services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utils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config 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模块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725757B-E4AF-1673-2BA8-90652AF49B6C}"/>
              </a:ext>
            </a:extLst>
          </p:cNvPr>
          <p:cNvSpPr/>
          <p:nvPr/>
        </p:nvSpPr>
        <p:spPr>
          <a:xfrm>
            <a:off x="787400" y="4775200"/>
            <a:ext cx="2159000" cy="5334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07124B3-FF91-B5E1-4352-B8D0AED020B8}"/>
              </a:ext>
            </a:extLst>
          </p:cNvPr>
          <p:cNvSpPr/>
          <p:nvPr/>
        </p:nvSpPr>
        <p:spPr>
          <a:xfrm>
            <a:off x="787400" y="4775200"/>
            <a:ext cx="76200" cy="5334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487641A-67BB-3C62-CC19-B4DD6923AA8C}"/>
              </a:ext>
            </a:extLst>
          </p:cNvPr>
          <p:cNvSpPr txBox="1"/>
          <p:nvPr/>
        </p:nvSpPr>
        <p:spPr>
          <a:xfrm>
            <a:off x="990600" y="4902200"/>
            <a:ext cx="1803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部署形态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F1DA910-943C-1721-F107-98034C3A2979}"/>
              </a:ext>
            </a:extLst>
          </p:cNvPr>
          <p:cNvSpPr txBox="1"/>
          <p:nvPr/>
        </p:nvSpPr>
        <p:spPr>
          <a:xfrm>
            <a:off x="3429000" y="4876800"/>
            <a:ext cx="292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本地开发模式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9733891-D2D7-71E5-4BF3-7D1014C1A46C}"/>
              </a:ext>
            </a:extLst>
          </p:cNvPr>
          <p:cNvSpPr txBox="1"/>
          <p:nvPr/>
        </p:nvSpPr>
        <p:spPr>
          <a:xfrm>
            <a:off x="6921500" y="4876800"/>
            <a:ext cx="444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关闭 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debug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，增加生产配置和日志监控</a:t>
            </a:r>
          </a:p>
        </p:txBody>
      </p:sp>
    </p:spTree>
    <p:extLst>
      <p:ext uri="{BB962C8B-B14F-4D97-AF65-F5344CB8AC3E}">
        <p14:creationId xmlns:p14="http://schemas.microsoft.com/office/powerpoint/2010/main" val="201636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79D439-8CD9-92E6-C462-9AAE9D6307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FD0936F-C747-AAFA-042E-C9C3C6AEB72F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BD9B984-FD4C-3B9B-F6D3-7360F6E0CECC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B7BDB6F-BD55-BDDA-E019-416D5D9859FC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869EF6-E2DD-1D2B-1D5D-3EE6BECC9B90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下季度计划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C5E807-D27E-9B2B-9CB0-8FA52A8C3993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围绕“更智能、更稳定、更可展示、更可扩展”推进下一阶段迭代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21607C-A413-C5B3-5D5B-122B287C793B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3E1A29-548C-EB20-5EC2-6A043D8FE682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82C2-2395-32A7-03F2-7BD352D8BD2F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E6B8FAE-8843-270B-19EE-F67B50F2535B}"/>
              </a:ext>
            </a:extLst>
          </p:cNvPr>
          <p:cNvSpPr/>
          <p:nvPr/>
        </p:nvSpPr>
        <p:spPr>
          <a:xfrm>
            <a:off x="736600" y="1803400"/>
            <a:ext cx="2413000" cy="3302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972FAC-AD16-5D64-E684-40B80C634DD1}"/>
              </a:ext>
            </a:extLst>
          </p:cNvPr>
          <p:cNvSpPr/>
          <p:nvPr/>
        </p:nvSpPr>
        <p:spPr>
          <a:xfrm>
            <a:off x="736600" y="1803400"/>
            <a:ext cx="76200" cy="3302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19F655-4C79-0837-7F4C-1AB5C8B9EEEA}"/>
              </a:ext>
            </a:extLst>
          </p:cNvPr>
          <p:cNvSpPr txBox="1"/>
          <p:nvPr/>
        </p:nvSpPr>
        <p:spPr>
          <a:xfrm>
            <a:off x="939800" y="19304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阶段 体验增强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113611-5A84-9377-9FFA-C8284D9F27C6}"/>
              </a:ext>
            </a:extLst>
          </p:cNvPr>
          <p:cNvSpPr txBox="1"/>
          <p:nvPr/>
        </p:nvSpPr>
        <p:spPr>
          <a:xfrm>
            <a:off x="939800" y="2336800"/>
            <a:ext cx="2082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完善多轮记忆
自动朗读开关
优化默认示例
增强错误提示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FE848EF-7A4F-25FB-ED8A-7A8F8B57772D}"/>
              </a:ext>
            </a:extLst>
          </p:cNvPr>
          <p:cNvSpPr/>
          <p:nvPr/>
        </p:nvSpPr>
        <p:spPr>
          <a:xfrm>
            <a:off x="3530600" y="1803400"/>
            <a:ext cx="2413000" cy="3302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BA86E4-603A-E872-E21E-46F814454F26}"/>
              </a:ext>
            </a:extLst>
          </p:cNvPr>
          <p:cNvSpPr/>
          <p:nvPr/>
        </p:nvSpPr>
        <p:spPr>
          <a:xfrm>
            <a:off x="3530600" y="1803400"/>
            <a:ext cx="76200" cy="33020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E107BF-B46E-90C4-6C25-B522BED6880D}"/>
              </a:ext>
            </a:extLst>
          </p:cNvPr>
          <p:cNvSpPr txBox="1"/>
          <p:nvPr/>
        </p:nvSpPr>
        <p:spPr>
          <a:xfrm>
            <a:off x="3733800" y="19304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阶段 能力扩展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185215-79BB-1B48-6D3D-8861DF6FC456}"/>
              </a:ext>
            </a:extLst>
          </p:cNvPr>
          <p:cNvSpPr txBox="1"/>
          <p:nvPr/>
        </p:nvSpPr>
        <p:spPr>
          <a:xfrm>
            <a:off x="3733800" y="2336800"/>
            <a:ext cx="2082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日程 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备忘录
图片历史与下载
音乐收藏
联网搜索入口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6FB0DC8-7ACD-BC55-B420-F42653E21B00}"/>
              </a:ext>
            </a:extLst>
          </p:cNvPr>
          <p:cNvSpPr/>
          <p:nvPr/>
        </p:nvSpPr>
        <p:spPr>
          <a:xfrm>
            <a:off x="6324600" y="1803400"/>
            <a:ext cx="2413000" cy="3302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EAEDD2-687A-727A-BC4C-C670F0CC03E1}"/>
              </a:ext>
            </a:extLst>
          </p:cNvPr>
          <p:cNvSpPr/>
          <p:nvPr/>
        </p:nvSpPr>
        <p:spPr>
          <a:xfrm>
            <a:off x="6324600" y="1803400"/>
            <a:ext cx="76200" cy="3302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98DFA6-1525-A2A8-B067-EAFB462FBC00}"/>
              </a:ext>
            </a:extLst>
          </p:cNvPr>
          <p:cNvSpPr txBox="1"/>
          <p:nvPr/>
        </p:nvSpPr>
        <p:spPr>
          <a:xfrm>
            <a:off x="6527800" y="19304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阶段 工程优化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BD78CC-FD04-B49C-C9DE-D1E3A77BAFAD}"/>
              </a:ext>
            </a:extLst>
          </p:cNvPr>
          <p:cNvSpPr txBox="1"/>
          <p:nvPr/>
        </p:nvSpPr>
        <p:spPr>
          <a:xfrm>
            <a:off x="6527800" y="2336800"/>
            <a:ext cx="2082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后端服务模块化
统一响应结构
日志和错误码
生产环境配置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48D1EDC-6F7E-CD85-D446-265B11243680}"/>
              </a:ext>
            </a:extLst>
          </p:cNvPr>
          <p:cNvSpPr/>
          <p:nvPr/>
        </p:nvSpPr>
        <p:spPr>
          <a:xfrm>
            <a:off x="9118600" y="1803400"/>
            <a:ext cx="2413000" cy="33020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0B89E9-4027-83C0-09B4-2AF7E1751CD5}"/>
              </a:ext>
            </a:extLst>
          </p:cNvPr>
          <p:cNvSpPr/>
          <p:nvPr/>
        </p:nvSpPr>
        <p:spPr>
          <a:xfrm>
            <a:off x="9118600" y="1803400"/>
            <a:ext cx="76200" cy="3302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0DCEB1-9D00-DDE2-3267-25D64B6EEB54}"/>
              </a:ext>
            </a:extLst>
          </p:cNvPr>
          <p:cNvSpPr txBox="1"/>
          <p:nvPr/>
        </p:nvSpPr>
        <p:spPr>
          <a:xfrm>
            <a:off x="9321800" y="1930400"/>
            <a:ext cx="2057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第 </a:t>
            </a:r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阶段 部署展示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397A064-AF32-0544-FB02-A08E799DA86F}"/>
              </a:ext>
            </a:extLst>
          </p:cNvPr>
          <p:cNvSpPr txBox="1"/>
          <p:nvPr/>
        </p:nvSpPr>
        <p:spPr>
          <a:xfrm>
            <a:off x="9321800" y="2336800"/>
            <a:ext cx="20828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或云部署
</a:t>
            </a:r>
            <a:r>
              <a:rPr lang="en-US" altLang="zh-CN">
                <a:solidFill>
                  <a:srgbClr val="B0BEE1"/>
                </a:solidFill>
                <a:latin typeface="Microsoft YaHei" panose="020B0503020204020204" pitchFamily="34" charset="-122"/>
              </a:rPr>
              <a:t>HTTPS / Nginx
</a:t>
            </a:r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演示脚本
完善答辩材料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2B17A3-89C9-782E-3C9A-D477EB8DC2F3}"/>
              </a:ext>
            </a:extLst>
          </p:cNvPr>
          <p:cNvSpPr txBox="1"/>
          <p:nvPr/>
        </p:nvSpPr>
        <p:spPr>
          <a:xfrm>
            <a:off x="914400" y="5715000"/>
            <a:ext cx="1041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5F8FF"/>
                </a:solidFill>
                <a:latin typeface="Microsoft YaHei" panose="020B0503020204020204" pitchFamily="34" charset="-122"/>
              </a:rPr>
              <a:t>目标：从“本地可运行的 </a:t>
            </a:r>
            <a:r>
              <a:rPr lang="en-US" altLang="zh-CN" sz="1400" b="1">
                <a:solidFill>
                  <a:srgbClr val="F5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F5F8FF"/>
                </a:solidFill>
                <a:latin typeface="Microsoft YaHei" panose="020B0503020204020204" pitchFamily="34" charset="-122"/>
              </a:rPr>
              <a:t>助手原型”升级为“可持续迭代、可部署展示的智能应用平台”。</a:t>
            </a:r>
          </a:p>
        </p:txBody>
      </p:sp>
    </p:spTree>
    <p:extLst>
      <p:ext uri="{BB962C8B-B14F-4D97-AF65-F5344CB8AC3E}">
        <p14:creationId xmlns:p14="http://schemas.microsoft.com/office/powerpoint/2010/main" val="330004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63D418-54F4-37F3-6C06-4C9B36FCA9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079B339-6656-35C3-5BE9-63DD3A3DC836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1E4FC9B-3F5B-7EB1-0CD2-6CDA678EE6F6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3276CC6-150C-9838-A998-E855E41275A4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FBF2A9-2BA2-6214-35CD-A0589906F2EC}"/>
              </a:ext>
            </a:extLst>
          </p:cNvPr>
          <p:cNvSpPr txBox="1"/>
          <p:nvPr/>
        </p:nvSpPr>
        <p:spPr>
          <a:xfrm>
            <a:off x="635000" y="381000"/>
            <a:ext cx="8255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solidFill>
                  <a:srgbClr val="F5F8FF"/>
                </a:solidFill>
                <a:latin typeface="Microsoft YaHei" panose="020B0503020204020204" pitchFamily="34" charset="-122"/>
              </a:rPr>
              <a:t>建议演示路径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2A9D78-3138-C284-3C07-5264DE3A355C}"/>
              </a:ext>
            </a:extLst>
          </p:cNvPr>
          <p:cNvSpPr txBox="1"/>
          <p:nvPr/>
        </p:nvSpPr>
        <p:spPr>
          <a:xfrm>
            <a:off x="660400" y="965200"/>
            <a:ext cx="914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用一条完整用户路径展示小文智能 </a:t>
            </a:r>
            <a:r>
              <a:rPr lang="en-US" altLang="zh-CN" sz="1000">
                <a:solidFill>
                  <a:srgbClr val="B0BE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1000">
                <a:solidFill>
                  <a:srgbClr val="B0BEE1"/>
                </a:solidFill>
                <a:latin typeface="Microsoft YaHei" panose="020B0503020204020204" pitchFamily="34" charset="-122"/>
              </a:rPr>
              <a:t>的能力闭环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6104D6-8604-D083-D23E-6C7F85627F53}"/>
              </a:ext>
            </a:extLst>
          </p:cNvPr>
          <p:cNvSpPr/>
          <p:nvPr/>
        </p:nvSpPr>
        <p:spPr>
          <a:xfrm>
            <a:off x="660400" y="1320800"/>
            <a:ext cx="1092200" cy="508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BE324C-A55D-1FB7-0663-CA4E66494D62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AE26A6-9124-0DC2-3147-33C02CE74C93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33CF76-6E73-CA49-0FAD-8E4DB120CD96}"/>
              </a:ext>
            </a:extLst>
          </p:cNvPr>
          <p:cNvSpPr/>
          <p:nvPr/>
        </p:nvSpPr>
        <p:spPr>
          <a:xfrm>
            <a:off x="863600" y="1651000"/>
            <a:ext cx="3175000" cy="1219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06492A-684D-BAA9-E6E4-67B365AC50E9}"/>
              </a:ext>
            </a:extLst>
          </p:cNvPr>
          <p:cNvSpPr/>
          <p:nvPr/>
        </p:nvSpPr>
        <p:spPr>
          <a:xfrm>
            <a:off x="863600" y="1651000"/>
            <a:ext cx="76200" cy="12192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A93E79-13DD-5AB1-C4A6-DFB9EF5D7833}"/>
              </a:ext>
            </a:extLst>
          </p:cNvPr>
          <p:cNvSpPr txBox="1"/>
          <p:nvPr/>
        </p:nvSpPr>
        <p:spPr>
          <a:xfrm>
            <a:off x="1066800" y="17780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语音唤醒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1526C1-7D78-3238-4CCF-E4926C53392D}"/>
              </a:ext>
            </a:extLst>
          </p:cNvPr>
          <p:cNvSpPr txBox="1"/>
          <p:nvPr/>
        </p:nvSpPr>
        <p:spPr>
          <a:xfrm>
            <a:off x="1066800" y="2184400"/>
            <a:ext cx="2844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说“小文小文”，进入指令识别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733068-4122-47AD-0A87-A999F19E435F}"/>
              </a:ext>
            </a:extLst>
          </p:cNvPr>
          <p:cNvSpPr/>
          <p:nvPr/>
        </p:nvSpPr>
        <p:spPr>
          <a:xfrm>
            <a:off x="4546600" y="1651000"/>
            <a:ext cx="3175000" cy="1219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8EA55C-96EE-865A-1E27-FFBB3D57C0F0}"/>
              </a:ext>
            </a:extLst>
          </p:cNvPr>
          <p:cNvSpPr/>
          <p:nvPr/>
        </p:nvSpPr>
        <p:spPr>
          <a:xfrm>
            <a:off x="4546600" y="1651000"/>
            <a:ext cx="76200" cy="1219200"/>
          </a:xfrm>
          <a:prstGeom prst="rect">
            <a:avLst/>
          </a:prstGeom>
          <a:solidFill>
            <a:srgbClr val="4A9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6D55B3-FEB3-701E-03BE-4C9B37F1DCD2}"/>
              </a:ext>
            </a:extLst>
          </p:cNvPr>
          <p:cNvSpPr txBox="1"/>
          <p:nvPr/>
        </p:nvSpPr>
        <p:spPr>
          <a:xfrm>
            <a:off x="4749800" y="17780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生活查询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D9906F-990D-84F3-6533-DD93FF5BC345}"/>
              </a:ext>
            </a:extLst>
          </p:cNvPr>
          <p:cNvSpPr txBox="1"/>
          <p:nvPr/>
        </p:nvSpPr>
        <p:spPr>
          <a:xfrm>
            <a:off x="4749800" y="2184400"/>
            <a:ext cx="2844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询问“承德天气怎么样”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5B5C41C-686F-43BC-0255-9FF83D4F6251}"/>
              </a:ext>
            </a:extLst>
          </p:cNvPr>
          <p:cNvSpPr/>
          <p:nvPr/>
        </p:nvSpPr>
        <p:spPr>
          <a:xfrm>
            <a:off x="8229600" y="1651000"/>
            <a:ext cx="3175000" cy="1219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E6B5022-368C-DB01-E346-3D697AA05F66}"/>
              </a:ext>
            </a:extLst>
          </p:cNvPr>
          <p:cNvSpPr/>
          <p:nvPr/>
        </p:nvSpPr>
        <p:spPr>
          <a:xfrm>
            <a:off x="8229600" y="1651000"/>
            <a:ext cx="76200" cy="12192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B1482A-CE6E-CFF4-8FC1-2188647E40BB}"/>
              </a:ext>
            </a:extLst>
          </p:cNvPr>
          <p:cNvSpPr txBox="1"/>
          <p:nvPr/>
        </p:nvSpPr>
        <p:spPr>
          <a:xfrm>
            <a:off x="8432800" y="17780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连续对话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AE0199-BAEE-4257-1631-AAB9B3A17576}"/>
              </a:ext>
            </a:extLst>
          </p:cNvPr>
          <p:cNvSpPr txBox="1"/>
          <p:nvPr/>
        </p:nvSpPr>
        <p:spPr>
          <a:xfrm>
            <a:off x="8432800" y="2184400"/>
            <a:ext cx="2844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先问承德美食，再追问位置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DE82E7E-1FCD-A34A-7B23-DAFB14105278}"/>
              </a:ext>
            </a:extLst>
          </p:cNvPr>
          <p:cNvSpPr/>
          <p:nvPr/>
        </p:nvSpPr>
        <p:spPr>
          <a:xfrm>
            <a:off x="863600" y="3492500"/>
            <a:ext cx="3175000" cy="1219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BFB11F-9936-BCB2-C01F-4049424A3570}"/>
              </a:ext>
            </a:extLst>
          </p:cNvPr>
          <p:cNvSpPr/>
          <p:nvPr/>
        </p:nvSpPr>
        <p:spPr>
          <a:xfrm>
            <a:off x="863600" y="3492500"/>
            <a:ext cx="76200" cy="12192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B9E927-009A-92B4-C974-5A1ACBC4F858}"/>
              </a:ext>
            </a:extLst>
          </p:cNvPr>
          <p:cNvSpPr txBox="1"/>
          <p:nvPr/>
        </p:nvSpPr>
        <p:spPr>
          <a:xfrm>
            <a:off x="1066800" y="36195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AF8CC6-0E5D-06BB-E0B2-9749E52EA05A}"/>
              </a:ext>
            </a:extLst>
          </p:cNvPr>
          <p:cNvSpPr txBox="1"/>
          <p:nvPr/>
        </p:nvSpPr>
        <p:spPr>
          <a:xfrm>
            <a:off x="1066800" y="4025900"/>
            <a:ext cx="2844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说“播放稻香”，展示播放器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0B0B1FF-AC84-3D6A-0432-08382DCB3386}"/>
              </a:ext>
            </a:extLst>
          </p:cNvPr>
          <p:cNvSpPr/>
          <p:nvPr/>
        </p:nvSpPr>
        <p:spPr>
          <a:xfrm>
            <a:off x="4546600" y="3492500"/>
            <a:ext cx="3175000" cy="1219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B6DAD63-A65B-9972-1624-CCF86B275653}"/>
              </a:ext>
            </a:extLst>
          </p:cNvPr>
          <p:cNvSpPr/>
          <p:nvPr/>
        </p:nvSpPr>
        <p:spPr>
          <a:xfrm>
            <a:off x="4546600" y="3492500"/>
            <a:ext cx="76200" cy="12192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54DA309-4D19-C84A-33CF-E9FF5B1959F4}"/>
              </a:ext>
            </a:extLst>
          </p:cNvPr>
          <p:cNvSpPr txBox="1"/>
          <p:nvPr/>
        </p:nvSpPr>
        <p:spPr>
          <a:xfrm>
            <a:off x="4749800" y="36195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5. AI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创作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D1CE67F-A093-B0CF-1ECB-64AAE3C74270}"/>
              </a:ext>
            </a:extLst>
          </p:cNvPr>
          <p:cNvSpPr txBox="1"/>
          <p:nvPr/>
        </p:nvSpPr>
        <p:spPr>
          <a:xfrm>
            <a:off x="4749800" y="4025900"/>
            <a:ext cx="2844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说“画一只水彩小猫”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5EDAB6E-5BB3-413B-F35E-C567D69EC169}"/>
              </a:ext>
            </a:extLst>
          </p:cNvPr>
          <p:cNvSpPr/>
          <p:nvPr/>
        </p:nvSpPr>
        <p:spPr>
          <a:xfrm>
            <a:off x="8229600" y="3492500"/>
            <a:ext cx="3175000" cy="1219200"/>
          </a:xfrm>
          <a:prstGeom prst="roundRect">
            <a:avLst/>
          </a:prstGeom>
          <a:solidFill>
            <a:srgbClr val="182244">
              <a:alpha val="96000"/>
            </a:srgbClr>
          </a:solidFill>
          <a:ln>
            <a:solidFill>
              <a:srgbClr val="485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FFD8729-D003-C2E9-592F-A4AAA245E9D4}"/>
              </a:ext>
            </a:extLst>
          </p:cNvPr>
          <p:cNvSpPr/>
          <p:nvPr/>
        </p:nvSpPr>
        <p:spPr>
          <a:xfrm>
            <a:off x="8229600" y="3492500"/>
            <a:ext cx="76200" cy="12192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ECBF81-E355-645F-DD80-07B99EBD3334}"/>
              </a:ext>
            </a:extLst>
          </p:cNvPr>
          <p:cNvSpPr txBox="1"/>
          <p:nvPr/>
        </p:nvSpPr>
        <p:spPr>
          <a:xfrm>
            <a:off x="8432800" y="3619500"/>
            <a:ext cx="28194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200" b="1">
                <a:solidFill>
                  <a:srgbClr val="F5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FF92A13-3F10-99F7-3C4D-14954EE79346}"/>
              </a:ext>
            </a:extLst>
          </p:cNvPr>
          <p:cNvSpPr txBox="1"/>
          <p:nvPr/>
        </p:nvSpPr>
        <p:spPr>
          <a:xfrm>
            <a:off x="8432800" y="4025900"/>
            <a:ext cx="2844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B0BEE1"/>
                </a:solidFill>
                <a:latin typeface="Microsoft YaHei" panose="020B0503020204020204" pitchFamily="34" charset="-122"/>
              </a:rPr>
              <a:t>说“打开计算器”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FF7CB1F-1782-04D1-112A-DEE082767ABE}"/>
              </a:ext>
            </a:extLst>
          </p:cNvPr>
          <p:cNvSpPr txBox="1"/>
          <p:nvPr/>
        </p:nvSpPr>
        <p:spPr>
          <a:xfrm>
            <a:off x="914400" y="5715000"/>
            <a:ext cx="10414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F5F8FF"/>
                </a:solidFill>
                <a:latin typeface="Microsoft YaHei" panose="020B0503020204020204" pitchFamily="34" charset="-122"/>
              </a:rPr>
              <a:t>演示重点：让观众看到小文不是静态页面，而是可以理解指令、调用能力并完成任务的 </a:t>
            </a:r>
            <a:r>
              <a:rPr lang="en-US" altLang="zh-CN" sz="1300" b="1">
                <a:solidFill>
                  <a:srgbClr val="F5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300" b="1">
                <a:solidFill>
                  <a:srgbClr val="F5F8FF"/>
                </a:solidFill>
                <a:latin typeface="Microsoft YaHei" panose="020B0503020204020204" pitchFamily="34" charset="-122"/>
              </a:rPr>
              <a:t>应用。</a:t>
            </a:r>
          </a:p>
        </p:txBody>
      </p:sp>
    </p:spTree>
    <p:extLst>
      <p:ext uri="{BB962C8B-B14F-4D97-AF65-F5344CB8AC3E}">
        <p14:creationId xmlns:p14="http://schemas.microsoft.com/office/powerpoint/2010/main" val="54409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C17BC0-A48D-A467-A4C3-73B4DF5F46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72D9654-0580-2091-16D0-C9589508FD3F}"/>
              </a:ext>
            </a:extLst>
          </p:cNvPr>
          <p:cNvSpPr/>
          <p:nvPr/>
        </p:nvSpPr>
        <p:spPr>
          <a:xfrm>
            <a:off x="9499600" y="-571500"/>
            <a:ext cx="2921000" cy="2921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B1A966E-048B-19AF-E012-C1319A4DF7E0}"/>
              </a:ext>
            </a:extLst>
          </p:cNvPr>
          <p:cNvSpPr/>
          <p:nvPr/>
        </p:nvSpPr>
        <p:spPr>
          <a:xfrm>
            <a:off x="-698500" y="4851400"/>
            <a:ext cx="2413000" cy="2413000"/>
          </a:xfrm>
          <a:prstGeom prst="ellipse">
            <a:avLst/>
          </a:prstGeom>
          <a:solidFill>
            <a:srgbClr val="4A90FF">
              <a:alpha val="3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1550773-03B3-4C83-5E1B-A20B94DFE75F}"/>
              </a:ext>
            </a:extLst>
          </p:cNvPr>
          <p:cNvSpPr/>
          <p:nvPr/>
        </p:nvSpPr>
        <p:spPr>
          <a:xfrm>
            <a:off x="4953000" y="990600"/>
            <a:ext cx="1270000" cy="1270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E1ADAA-F686-1D2D-B4F0-23D0AF3FEABF}"/>
              </a:ext>
            </a:extLst>
          </p:cNvPr>
          <p:cNvSpPr txBox="1"/>
          <p:nvPr/>
        </p:nvSpPr>
        <p:spPr>
          <a:xfrm>
            <a:off x="825500" y="1524000"/>
            <a:ext cx="10541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F5F8FF"/>
                </a:solidFill>
                <a:latin typeface="Microsoft YaHei" panose="020B0503020204020204" pitchFamily="34" charset="-122"/>
              </a:rPr>
              <a:t>感谢聆听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66EC7A-49C1-F320-3AC1-5030DC6FFC89}"/>
              </a:ext>
            </a:extLst>
          </p:cNvPr>
          <p:cNvSpPr txBox="1"/>
          <p:nvPr/>
        </p:nvSpPr>
        <p:spPr>
          <a:xfrm>
            <a:off x="1397000" y="2540000"/>
            <a:ext cx="939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>
                <a:solidFill>
                  <a:srgbClr val="B0BEE1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1600">
                <a:solidFill>
                  <a:srgbClr val="B0BE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1600">
                <a:solidFill>
                  <a:srgbClr val="B0BEE1"/>
                </a:solidFill>
                <a:latin typeface="Microsoft YaHei" panose="020B0503020204020204" pitchFamily="34" charset="-122"/>
              </a:rPr>
              <a:t>将继续向更自然、更稳定、更具执行力的个人 </a:t>
            </a:r>
            <a:r>
              <a:rPr lang="en-US" altLang="zh-CN" sz="1600">
                <a:solidFill>
                  <a:srgbClr val="B0BE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B0BEE1"/>
                </a:solidFill>
                <a:latin typeface="Microsoft YaHei" panose="020B0503020204020204" pitchFamily="34" charset="-122"/>
              </a:rPr>
              <a:t>助手演进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F4A0F30-6FDF-6B72-36E8-9BB6386DD638}"/>
              </a:ext>
            </a:extLst>
          </p:cNvPr>
          <p:cNvSpPr/>
          <p:nvPr/>
        </p:nvSpPr>
        <p:spPr>
          <a:xfrm>
            <a:off x="2286000" y="3429000"/>
            <a:ext cx="1447800" cy="330200"/>
          </a:xfrm>
          <a:prstGeom prst="roundRect">
            <a:avLst/>
          </a:prstGeom>
          <a:solidFill>
            <a:srgbClr val="3ADCFF">
              <a:alpha val="82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59D8D4-AF76-AFED-EB85-B93F1221C622}"/>
              </a:ext>
            </a:extLst>
          </p:cNvPr>
          <p:cNvSpPr txBox="1"/>
          <p:nvPr/>
        </p:nvSpPr>
        <p:spPr>
          <a:xfrm>
            <a:off x="2336800" y="34925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5F8FF"/>
                </a:solidFill>
                <a:latin typeface="Microsoft YaHei" panose="020B0503020204020204" pitchFamily="34" charset="-122"/>
              </a:rPr>
              <a:t>能听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843E89C-82B7-C6A0-E89F-9A802451DCBE}"/>
              </a:ext>
            </a:extLst>
          </p:cNvPr>
          <p:cNvSpPr/>
          <p:nvPr/>
        </p:nvSpPr>
        <p:spPr>
          <a:xfrm>
            <a:off x="4000500" y="3429000"/>
            <a:ext cx="1447800" cy="330200"/>
          </a:xfrm>
          <a:prstGeom prst="roundRect">
            <a:avLst/>
          </a:prstGeom>
          <a:solidFill>
            <a:srgbClr val="4A90FF">
              <a:alpha val="82000"/>
            </a:srgbClr>
          </a:solidFill>
          <a:ln>
            <a:solidFill>
              <a:srgbClr val="4A9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D023B6-9453-9387-7622-DFBAD9C8837C}"/>
              </a:ext>
            </a:extLst>
          </p:cNvPr>
          <p:cNvSpPr txBox="1"/>
          <p:nvPr/>
        </p:nvSpPr>
        <p:spPr>
          <a:xfrm>
            <a:off x="4051300" y="34925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5F8FF"/>
                </a:solidFill>
                <a:latin typeface="Microsoft YaHei" panose="020B0503020204020204" pitchFamily="34" charset="-122"/>
              </a:rPr>
              <a:t>能说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357C6-0717-E062-25B8-B5662B2D8323}"/>
              </a:ext>
            </a:extLst>
          </p:cNvPr>
          <p:cNvSpPr/>
          <p:nvPr/>
        </p:nvSpPr>
        <p:spPr>
          <a:xfrm>
            <a:off x="5715000" y="3429000"/>
            <a:ext cx="1447800" cy="330200"/>
          </a:xfrm>
          <a:prstGeom prst="roundRect">
            <a:avLst/>
          </a:prstGeom>
          <a:solidFill>
            <a:srgbClr val="9B5CFF">
              <a:alpha val="82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038538-52DF-3743-23DF-301D3F965449}"/>
              </a:ext>
            </a:extLst>
          </p:cNvPr>
          <p:cNvSpPr txBox="1"/>
          <p:nvPr/>
        </p:nvSpPr>
        <p:spPr>
          <a:xfrm>
            <a:off x="5765800" y="34925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5F8FF"/>
                </a:solidFill>
                <a:latin typeface="Microsoft YaHei" panose="020B0503020204020204" pitchFamily="34" charset="-122"/>
              </a:rPr>
              <a:t>能聊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638EF39-DACF-A54C-A74B-54F67F5F98CC}"/>
              </a:ext>
            </a:extLst>
          </p:cNvPr>
          <p:cNvSpPr/>
          <p:nvPr/>
        </p:nvSpPr>
        <p:spPr>
          <a:xfrm>
            <a:off x="7429500" y="3429000"/>
            <a:ext cx="1447800" cy="330200"/>
          </a:xfrm>
          <a:prstGeom prst="roundRect">
            <a:avLst/>
          </a:prstGeom>
          <a:solidFill>
            <a:srgbClr val="FF5CB4">
              <a:alpha val="82000"/>
            </a:srgbClr>
          </a:solidFill>
          <a:ln>
            <a:solidFill>
              <a:srgbClr val="FF5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529FDA-B039-8C9E-0115-7D25B6E7B0A9}"/>
              </a:ext>
            </a:extLst>
          </p:cNvPr>
          <p:cNvSpPr txBox="1"/>
          <p:nvPr/>
        </p:nvSpPr>
        <p:spPr>
          <a:xfrm>
            <a:off x="7480300" y="34925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5F8FF"/>
                </a:solidFill>
                <a:latin typeface="Microsoft YaHei" panose="020B0503020204020204" pitchFamily="34" charset="-122"/>
              </a:rPr>
              <a:t>能画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E0E8959-2085-0D8D-E39C-CF078566A14F}"/>
              </a:ext>
            </a:extLst>
          </p:cNvPr>
          <p:cNvSpPr/>
          <p:nvPr/>
        </p:nvSpPr>
        <p:spPr>
          <a:xfrm>
            <a:off x="9144000" y="3429000"/>
            <a:ext cx="1447800" cy="330200"/>
          </a:xfrm>
          <a:prstGeom prst="roundRect">
            <a:avLst/>
          </a:prstGeom>
          <a:solidFill>
            <a:srgbClr val="4CE6AA">
              <a:alpha val="82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B80ABE-A5C5-B969-2580-F257BE724491}"/>
              </a:ext>
            </a:extLst>
          </p:cNvPr>
          <p:cNvSpPr txBox="1"/>
          <p:nvPr/>
        </p:nvSpPr>
        <p:spPr>
          <a:xfrm>
            <a:off x="9194800" y="34925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5F8FF"/>
                </a:solidFill>
                <a:latin typeface="Microsoft YaHei" panose="020B0503020204020204" pitchFamily="34" charset="-122"/>
              </a:rPr>
              <a:t>能开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EA32C6-4159-DBDD-3995-1F06CDDFEAA9}"/>
              </a:ext>
            </a:extLst>
          </p:cNvPr>
          <p:cNvSpPr txBox="1"/>
          <p:nvPr/>
        </p:nvSpPr>
        <p:spPr>
          <a:xfrm>
            <a:off x="4445000" y="4699000"/>
            <a:ext cx="330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3ADCFF"/>
                </a:solidFill>
                <a:latin typeface="Microsoft YaHei" panose="020B0503020204020204" pitchFamily="34" charset="-122"/>
              </a:rPr>
              <a:t>Q&amp;A</a:t>
            </a:r>
            <a:endParaRPr lang="zh-CN" altLang="en-US" sz="28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E79F69-0688-4989-042F-C8F06CD6E462}"/>
              </a:ext>
            </a:extLst>
          </p:cNvPr>
          <p:cNvSpPr txBox="1"/>
          <p:nvPr/>
        </p:nvSpPr>
        <p:spPr>
          <a:xfrm>
            <a:off x="482600" y="6451600"/>
            <a:ext cx="5334000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fr-FR" sz="7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fr-FR" altLang="zh-CN" sz="700">
                <a:solidFill>
                  <a:srgbClr val="8296C3"/>
                </a:solidFill>
                <a:latin typeface="Microsoft YaHei" panose="020B0503020204020204" pitchFamily="34" charset="-122"/>
              </a:rPr>
              <a:t>APP · AI Voice Assistant Project</a:t>
            </a:r>
            <a:endParaRPr lang="zh-CN" altLang="en-US" sz="700">
              <a:solidFill>
                <a:srgbClr val="8296C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00DE26-ED68-B10E-B491-F311D39EF44A}"/>
              </a:ext>
            </a:extLst>
          </p:cNvPr>
          <p:cNvSpPr txBox="1"/>
          <p:nvPr/>
        </p:nvSpPr>
        <p:spPr>
          <a:xfrm>
            <a:off x="11226800" y="64262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672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Microsoft Office PowerPoint</Application>
  <PresentationFormat>自定义</PresentationFormat>
  <Paragraphs>159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肥色的橘猫 肥色的橘猫</dc:creator>
  <cp:lastModifiedBy>肥色的橘猫 肥色的橘猫</cp:lastModifiedBy>
  <cp:revision>1</cp:revision>
  <dcterms:created xsi:type="dcterms:W3CDTF">2026-05-06T06:58:46Z</dcterms:created>
  <dcterms:modified xsi:type="dcterms:W3CDTF">2026-05-06T06:58:59Z</dcterms:modified>
</cp:coreProperties>
</file>