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458200" y="1600200"/>
            <a:ext cx="2377440" cy="2377440"/>
          </a:xfrm>
          <a:prstGeom prst="ellipse">
            <a:avLst/>
          </a:prstGeom>
          <a:noFill/>
          <a:ln w="254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09660" y="1851660"/>
            <a:ext cx="1874519" cy="1874519"/>
          </a:xfrm>
          <a:prstGeom prst="ellipse">
            <a:avLst/>
          </a:prstGeom>
          <a:noFill/>
          <a:ln w="254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0" y="2103120"/>
            <a:ext cx="1371600" cy="1371600"/>
          </a:xfrm>
          <a:prstGeom prst="ellipse">
            <a:avLst/>
          </a:prstGeom>
          <a:noFill/>
          <a:ln w="254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2331720"/>
            <a:ext cx="914400" cy="914400"/>
          </a:xfrm>
          <a:prstGeom prst="ellipse">
            <a:avLst/>
          </a:prstGeom>
          <a:solidFill>
            <a:srgbClr val="3ADCFF"/>
          </a:solidFill>
          <a:ln w="1270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036447"/>
            <a:ext cx="7772400" cy="267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 课程设计 · 项目答辩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44752"/>
            <a:ext cx="8686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小文智能语音助手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304288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浏览器端 AI 助手：自然语言与语音指令 → 统一意图路由 → 对话 / 天气 / 音乐 / 文生图 / 图表 / 看图 / 翻译朗读 / 本机应用 / 模拟世界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127248"/>
            <a:ext cx="141732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145536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React 19 + Vite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40864" y="3127248"/>
            <a:ext cx="141732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3145536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Flask + Blueprint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68496" y="3127248"/>
            <a:ext cx="141732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05072" y="3145536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百炼 / 高德 / 讯飞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596128" y="3127248"/>
            <a:ext cx="141732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2704" y="3145536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REST + 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687568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96A6D2"/>
                </a:solidFill>
                <a:latin typeface="微软雅黑" panose="020B0503020204020204" charset="-122"/>
              </a:defRPr>
            </a:pPr>
            <a:r>
              <a:t>汇报人：刘汉文   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目录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与《答辩文档》章节对应，便于展开讲述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1444752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1444752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总览：定位、设计思想、分层架构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53312" y="1792224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04672" y="204825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048256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技术选型：为何 React / Vite，优势何在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53312" y="2395728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4672" y="2651760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651760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技术选型：为何 Python / Flask，优势何在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353312" y="2999232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4672" y="3255264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3255264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前后端协作与主要接口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53312" y="3602736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4672" y="3858768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858768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第三方服务与工程亮点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353312" y="4206240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4672" y="4462272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" y="4462272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桌面吉祥物与交互体验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353312" y="4809744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04672" y="5065776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065776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产出、局限与演示建议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53312" y="5413248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04672" y="5669280"/>
            <a:ext cx="457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5669280"/>
            <a:ext cx="9601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总结与致谢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353312" y="6016752"/>
            <a:ext cx="9528048" cy="0"/>
          </a:xfrm>
          <a:prstGeom prst="line">
            <a:avLst/>
          </a:prstGeom>
          <a:ln w="6350">
            <a:solidFill>
              <a:srgbClr val="374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项目总览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单入口、意图驱动、前后端分离、安全白名单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417320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在浏览器中运行的「小文」：用户通过文字或语音发出自然语言指令，系统在统一意图路由 parse_command 下完成多种能力，并以 REST API + JSON 与前端联动。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2331720"/>
            <a:ext cx="52578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2331720"/>
            <a:ext cx="73152" cy="1115568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441448"/>
            <a:ext cx="4910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单入口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0720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POST /api/send-task 统一接指令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2331720"/>
            <a:ext cx="52578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6792" y="2331720"/>
            <a:ext cx="73152" cy="1115568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2441448"/>
            <a:ext cx="4910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意图驱动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80720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按约定顺序匹配分支，映射到具体业务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593591"/>
            <a:ext cx="52578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13232" y="3593591"/>
            <a:ext cx="73152" cy="111556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03320"/>
            <a:ext cx="4910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前后端分离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069079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密钥与第三方调用在后端 .env；前端只持 UI 状态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3593591"/>
            <a:ext cx="52578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6792" y="3593591"/>
            <a:ext cx="73152" cy="1115568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703320"/>
            <a:ext cx="49103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安全白名单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069079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本机启动仅允许配置表映射，禁止用户原文进 shell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系统架构（逻辑分层）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表现层 → 接入层 → 业务编排 → 自建封装 / 第三方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713" y="1507617"/>
            <a:ext cx="10698480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【浏览器】React 组件 + Web Speech / getUserMedia / Audio / Selection / Geolocation</a:t>
            </a:r>
            <a:br/>
            <a:r>
              <a:t>        ↓  HTTP / JSON / multipart / 音频二进制</a:t>
            </a:r>
            <a:br/>
            <a:r>
              <a:t>【Flask】Blueprint：/api/send-task、/api/tts、/api/generate-chart 等</a:t>
            </a:r>
            <a:br/>
            <a:r>
              <a:t>        ↓  函数调用</a:t>
            </a:r>
            <a:br/>
            <a:r>
              <a:t>【task_parser】意图解析：天气、音乐、图表、对话、模拟世界、本机启动…</a:t>
            </a:r>
            <a:br/>
            <a:r>
              <a:t>        ├─ services：讯飞 TTS / IAT</a:t>
            </a:r>
            <a:br/>
            <a:r>
              <a:t>        └─ HTTP：DashScope、高德、DeepSeek（可选）</a:t>
            </a:r>
          </a:p>
          <a:p>
            <a:pPr>
              <a:defRPr sz="1250">
                <a:solidFill>
                  <a:srgbClr val="AEBEE1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777240" y="5989320"/>
            <a:ext cx="141732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6007607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前端 CSR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50008" y="5989320"/>
            <a:ext cx="141732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86584" y="6007607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REST 接入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22776" y="5989320"/>
            <a:ext cx="141732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59352" y="6007607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意图编排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95544" y="5989320"/>
            <a:ext cx="141732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6007607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云与语音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385" y="3237865"/>
            <a:ext cx="10280015" cy="23818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为何选用 React 与 Vite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答辩可复述：动机 → 在本项目中的收益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417320"/>
            <a:ext cx="3611880" cy="22402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417320"/>
            <a:ext cx="73152" cy="22402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React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892808"/>
            <a:ext cx="32278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多面板 contentType 切换：声明式 UI = f(状态)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组件边界：ChatPanel / ChartPanel 等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Hook 复用：语音、音乐播放器逻辑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生态成熟，易扩展（如 TS）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1417320"/>
            <a:ext cx="3611880" cy="22402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1417320"/>
            <a:ext cx="73152" cy="224028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使用后的优势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1892808"/>
            <a:ext cx="32278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可维护：App.jsx 主线清晰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与浏览器 API 生命周期契合（useEffect）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React 19 + Vite Fast Refresh 开发效率高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417320"/>
            <a:ext cx="3611880" cy="22402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1417320"/>
            <a:ext cx="73152" cy="224028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Vite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1892808"/>
            <a:ext cx="32278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ESM 冷启动快；/api 代理到 5001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pnpm build 输出 dist，职责分离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生产可用 VITE_API_URL 配置 apiBase.js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诚实边界：若页面极简、无多状态，静态 HTML 亦可；本项目「多模式 + Hook」才是 React 优势场景。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为何选用 Python 与 Flask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快速编排多云 API；框架轻、答辩链路短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417320"/>
            <a:ext cx="3611880" cy="22402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417320"/>
            <a:ext cx="73152" cy="224028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892808"/>
            <a:ext cx="32278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HTTP + JSON 串联百炼 / 高德 / DeepSeek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openpyxl、正则、csv 处理图表数据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parse_command 分支多，可读、可讲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1417320"/>
            <a:ext cx="3611880" cy="22402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1417320"/>
            <a:ext cx="73152" cy="224028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Flask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1892808"/>
            <a:ext cx="32278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REST + jsonify + 少量二进制响应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Blueprint 分层：routes / logic / services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CORS 显式配置，TTS 自定义响应头可读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417320"/>
            <a:ext cx="3611880" cy="224028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1417320"/>
            <a:ext cx="73152" cy="224028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使用后的优势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1892808"/>
            <a:ext cx="3227832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app.py 装配；routes 只做 HTTP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标准库 subprocess/pathlib 做本机安全启动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生产可换 gunicorn，不绑云平台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06440"/>
            <a:ext cx="10607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诚实边界：大团队全家桶可选 Django/FastAPI；本项目核心是意图编排与第三方 API。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前端能力与接口契约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浏览器原生能力 + 统一 apiUrl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389888"/>
            <a:ext cx="539496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389888"/>
            <a:ext cx="73152" cy="2331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499616"/>
            <a:ext cx="5047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浏览器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865376"/>
            <a:ext cx="501091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Web Speech：唤醒 + 单次指令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getUserMedia：麦克风 / 摄像头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Fetch + Blob：TTS、图表上传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Geolocation：当地天气 / 附近推荐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Selection：划词翻译工具条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389888"/>
            <a:ext cx="516636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89888"/>
            <a:ext cx="73152" cy="23317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1499616"/>
            <a:ext cx="48188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主要接口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1865376"/>
            <a:ext cx="478231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POST /api/send-task（task、history、location）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POST /api/tts（音频流）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GET /api/image-status/:id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POST /api/generate-chart、analyze-image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POST /api/translate-selection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79008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开发态：Vite 将 /api 代理到本机 5001；生产通过 apiBase.js 配置 API 根地址。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第三方服务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密钥均在 backend/.env，不进入前端仓库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16276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162763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阿里云百炼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对话、文生图、VL 看图、翻译等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DASHSCOPE_API_KEY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1417320"/>
            <a:ext cx="5349240" cy="16276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1417320"/>
            <a:ext cx="73152" cy="162763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高德开放平台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892808"/>
            <a:ext cx="496519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地理编码、天气预报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AMAP_KEY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172968"/>
            <a:ext cx="5349240" cy="16276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172968"/>
            <a:ext cx="73152" cy="162763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282696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讯飞开放平台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675761"/>
            <a:ext cx="4965192" cy="424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TTS 朗读、可选 WAV 听写</a:t>
            </a:r>
            <a:r>
              <a:rPr lang="en-US"/>
              <a:t>,</a:t>
            </a:r>
            <a:r>
              <a:rPr lang="zh-CN" altLang="en-US"/>
              <a:t>拟声</a:t>
            </a:r>
            <a:endParaRPr lang="zh-CN" altLang="en-US"/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与控制台产品开通一致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3172968"/>
            <a:ext cx="5349240" cy="16276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6792" y="3172968"/>
            <a:ext cx="73152" cy="162763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282696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DeepSeek（可选）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648456"/>
            <a:ext cx="4965192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OpenAI 兼容对话/翻译/知识库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不能替代生图与看图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功能与前端载体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type 字段驱动 contentType 切换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389888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多轮对话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138988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ChatPanel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1389888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DashScope / DeepSeek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956816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天气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1956816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WeatherCard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1956816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高德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523744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音乐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2523744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MusicPlayer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523744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搜索外链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309067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文生图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3090672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ImagePreview + 轮询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090672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百炼异步任务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65760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图表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3657600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ChartPanel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3657600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正则 + CSV/Excel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看图 / 肤质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24528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ImageAnalyzer / FaceWellness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4224528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百炼 VL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791456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本机应用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791456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文案 type:app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4791456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白名单 launch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58383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朗读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97480" y="5358383"/>
            <a:ext cx="3108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ChatPanel + xfyunTts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5358383"/>
            <a:ext cx="53949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讯飞 TTS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工程亮点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可演示、可解释、有安全边界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389888"/>
            <a:ext cx="5349240" cy="11704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389888"/>
            <a:ext cx="73152" cy="1170432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499616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统一意图路由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65376"/>
            <a:ext cx="4965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parse_command 顺序敏感，便于答辩讲分支优先级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2" y="1389888"/>
            <a:ext cx="5349240" cy="11704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91072" y="1389888"/>
            <a:ext cx="73152" cy="1170432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499616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密钥后端化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865376"/>
            <a:ext cx="4965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前端仅 apiUrl；.env 被 .gitignore 忽略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2688336"/>
            <a:ext cx="5349240" cy="11704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2688336"/>
            <a:ext cx="73152" cy="1170432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2798064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异步文生图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163824"/>
            <a:ext cx="4965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taskId 轮询 + 前端进度与超时对齐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2688336"/>
            <a:ext cx="5349240" cy="11704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91072" y="2688336"/>
            <a:ext cx="73152" cy="1170432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798064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桌面吉祥物 XiaowenBot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163824"/>
            <a:ext cx="4965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内联 SVG + Pointer 拖拽 + rAF 惯性 + CSS 表情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纯前端、不调接口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3986783"/>
            <a:ext cx="5349240" cy="11704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3986783"/>
            <a:ext cx="73152" cy="1170432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096511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无障碍与体验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62271"/>
            <a:ext cx="4965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prefers-reduced-motion 关闭甩动惯性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91072" y="3986783"/>
            <a:ext cx="5349240" cy="1170432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91072" y="3986783"/>
            <a:ext cx="73152" cy="1170432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096511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质量工具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462271"/>
            <a:ext cx="49651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ESLint + react-hooks；pnpm build 产物可部署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产出物与局限（诚实说明）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答辩加分：主动说明边界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389888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389888"/>
            <a:ext cx="73152" cy="23317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499616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产出物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865376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pnpm dev + python app.py 可演示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pnpm build → dist 静态资源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.env.example 配置说明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答辩文档 + 代码导读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89888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389888"/>
            <a:ext cx="73152" cy="233172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499616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局限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65376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音乐外链受版权与平台策略影响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语音识别依赖浏览器与环境权限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模拟世界等状态在进程内存，重启丢失</a:t>
            </a:r>
          </a:p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task_parser 体量大，靠章节注释维护顺序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建议演示路径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约 8～12 分钟可裁剪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417320"/>
            <a:ext cx="34290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1417320"/>
            <a:ext cx="73152" cy="1115568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152704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步骤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1892808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文字天气 → WeatherCard + 模式栏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1417320"/>
            <a:ext cx="34290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1417320"/>
            <a:ext cx="73152" cy="1115568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152704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步骤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1892808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AI 对话 + 多轮一句 → history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1417320"/>
            <a:ext cx="34290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417320"/>
            <a:ext cx="73152" cy="1115568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152704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步骤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1892808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服务端 TTS 朗读 → 非浏览器自带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2715768"/>
            <a:ext cx="34290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2715768"/>
            <a:ext cx="73152" cy="1115568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2825496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步骤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191256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文生图或图表二选一 → 工作流面板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3128" y="2715768"/>
            <a:ext cx="34290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53128" y="2715768"/>
            <a:ext cx="73152" cy="1115568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2825496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步骤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296" y="3191256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打开计算器 → 白名单安全设计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2715768"/>
            <a:ext cx="3429000" cy="1115568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56448" y="2715768"/>
            <a:ext cx="73152" cy="1115568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2825496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步骤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3191256"/>
            <a:ext cx="3044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（可选）划词翻译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62356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演示前检查：backend/.env 已配置百炼、高德、讯飞至少保证对话 + 天气 + 朗读其一畅通。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总结陈述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技术选型与架构一句话收束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417320"/>
            <a:ext cx="10607040" cy="443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0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本项目基于 React + Vite 与 Python Flask：前端因「多面板状态与 Hook 复用」选择 React，因「热更新与 /api 代理」选择 Vite；后端因「快速编排多云 REST」选择 Python，因「轻量、路由清晰、易答辩讲述」选择 Flask。</a:t>
            </a:r>
            <a:br/>
            <a:br/>
            <a:r>
              <a:t>通过 RESTful API 整合百炼、高德、讯飞及可选 DeepSeek；以 parse_command 意图路由为核心，以前端组件化状态与浏览器语音/媒体 API 提供交互。</a:t>
            </a:r>
            <a:br/>
            <a:br/>
            <a:r>
              <a:t>体现前后端分离、密钥隔离、白名单安全与异步任务处理等工程化基本素养。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1572768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395728"/>
            <a:ext cx="9966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AEBEE1"/>
                </a:solidFill>
                <a:latin typeface="微软雅黑" panose="020B0503020204020204" charset="-122"/>
              </a:defRPr>
            </a:pPr>
            <a:r>
              <a:t>小文智能语音助手 — 答辩 PPT 终稿（与文档同步）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154680"/>
            <a:ext cx="141732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71016" y="317296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51760" y="3154680"/>
            <a:ext cx="141732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88336" y="317296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3154680"/>
            <a:ext cx="141732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05656" y="317296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154680"/>
            <a:ext cx="1417320" cy="310896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317296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154680"/>
            <a:ext cx="141732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0296" y="317296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154680"/>
            <a:ext cx="141732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7615" y="317296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微软雅黑" panose="020B0503020204020204" charset="-122"/>
              </a:defRPr>
            </a:pPr>
            <a:r>
              <a:t>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66344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8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Q &amp;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微软雅黑" panose="020B0503020204020204" charset="-122"/>
              </a:defRPr>
            </a:pPr>
            <a:r>
              <a:t>小文智能语音助手 · 答辩材料（终稿）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3603</Words>
  <Application>WPS 演示</Application>
  <PresentationFormat>On-screen Show (4:3)</PresentationFormat>
  <Paragraphs>393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肥色的橘猫</cp:lastModifiedBy>
  <cp:revision>3</cp:revision>
  <dcterms:created xsi:type="dcterms:W3CDTF">2013-01-27T09:14:00Z</dcterms:created>
  <dcterms:modified xsi:type="dcterms:W3CDTF">2026-05-14T01:27:03Z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91DB1FA932504DEB80277B6E97BF5C80_12</vt:lpwstr>
  </property>
</Properties>
</file>