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465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092C60-5449-C756-BFC0-09319DF39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15D3BC9-2B53-4013-7033-AA28890EF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93A344-D8BA-A6FC-9826-869E62F8E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660FD-523F-4E7C-A205-6F8BF546BBC4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8DD229-49C3-910A-927B-9BEB81EB5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A10AD9-BDA1-E135-4A5C-45FB6FAE1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2FEF7-BA67-4929-A31F-AF6E3DCE8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374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80A060-0F14-3655-FA58-7A6A12D04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A43E2C-6152-3C03-16B3-29CF043C5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EE955B-EE39-C4F1-8E96-42363B5CC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660FD-523F-4E7C-A205-6F8BF546BBC4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C8CF24-DA6A-E3F2-EF1A-09092C120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BCA493-C871-B59A-D82E-969AC0B64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2FEF7-BA67-4929-A31F-AF6E3DCE8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0583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656A74-2C50-7A2E-C023-2C0AAEB5D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26AADC-D42D-5D68-F533-883D35B47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425E03-9D4B-6DBB-1876-642130768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660FD-523F-4E7C-A205-6F8BF546BBC4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296600-ACF7-8C17-12F3-2951D57F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CBD157-332E-8DBA-0659-D65ADDFDF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2FEF7-BA67-4929-A31F-AF6E3DCE8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60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B58812-B391-D0D1-9C52-A179D7108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24AA9A-65C8-CF3F-21CF-48E893DF82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708AA21-46E6-A96A-C34F-0C398B9BAE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853450-0137-D969-4CF1-3D14C1AC7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660FD-523F-4E7C-A205-6F8BF546BBC4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997DDE-B274-0433-BAD7-A128E91AE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3D94F9-AC38-40CC-7370-28E326E79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2FEF7-BA67-4929-A31F-AF6E3DCE8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145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46ED35-78D1-9EB3-02E8-E2289C583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DCF0E0-B814-2853-7C03-BE76FD4E4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F4913B-DCC0-554B-1DEE-81F9C2867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69EE4D-BFC5-F61C-BB14-ED40C9FAFD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D060975-6CA7-4BC4-D864-8F86BB9B02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EAA4E64-CD0E-932E-757F-755B880C0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660FD-523F-4E7C-A205-6F8BF546BBC4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0F88B75-B6FD-6B47-D35A-C22941628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BE2E88B-C839-C0D1-7491-48AC78103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2FEF7-BA67-4929-A31F-AF6E3DCE8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1226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D9F71-00C3-D1A8-033F-8D81C90D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A535F90-4800-3FBE-28C9-8BA7C2E97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660FD-523F-4E7C-A205-6F8BF546BBC4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39FAAC-5FBE-4FCB-6A11-BF88FD18C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D177A31-A059-8526-338F-CD3AEF5FC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2FEF7-BA67-4929-A31F-AF6E3DCE8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8689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7448690-1D18-CB81-841A-14C6F5153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660FD-523F-4E7C-A205-6F8BF546BBC4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DA82C1E-BCE8-07CC-948C-4539B3E2E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739291-4B7E-DFE6-B663-74EC3FC1D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2FEF7-BA67-4929-A31F-AF6E3DCE8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079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30AC1C-D45C-7F20-F0C0-05FFBF78F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6FF2F5-2D97-8C39-34CA-D9799AB07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0A06B7-B39F-26D2-B320-FF9260924D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51D3DD-7A8F-B10B-8F0E-125838265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660FD-523F-4E7C-A205-6F8BF546BBC4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E0094A-2116-039A-4ABA-28E99AED5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A874198-2F36-E7BD-8698-DC8FFD83B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2FEF7-BA67-4929-A31F-AF6E3DCE8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2783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6E24D6-F1F3-05A7-D969-33737B86A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5D8E1FC-DE8D-35E5-2A95-F3C5F4EE76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75DBE9-6F56-04DF-9067-B369049A2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12E3F3-808B-CDF2-0C47-6B5B351CC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660FD-523F-4E7C-A205-6F8BF546BBC4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FC693D-ADAA-586A-0C29-62F88AB32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117397-D328-EFEC-F472-9BEC56C57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2FEF7-BA67-4929-A31F-AF6E3DCE8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162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C7506E-E03A-FC3F-C15E-667EBEBC7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DEBE6D-99A5-06D2-0083-DD8CFB19C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88D3E2-E3D4-10A2-3F32-88EAA4049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660FD-523F-4E7C-A205-6F8BF546BBC4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5F7869-90AD-E698-3E43-1F75F18A4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1B6729-F1DC-7A42-754B-5416CA1F0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2FEF7-BA67-4929-A31F-AF6E3DCE8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3780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8E03162-BF6E-1FE0-8564-C029215CE6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32B07F3-B521-179D-76DA-8274B1E44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F3251B-79FA-3A3E-7FB4-0B97C1BCB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660FD-523F-4E7C-A205-6F8BF546BBC4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87F306-4489-DC82-F6DA-3C472A87C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B0C989-EA0F-F2F5-0E09-E762B882E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2FEF7-BA67-4929-A31F-AF6E3DCE8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3893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E16CE8E-F3CB-B068-1CBE-16C918A64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83F092-6ECE-4037-9022-6AD2DE8F5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AE22EF-02B3-87B8-8BA5-2567AD88F2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9660FD-523F-4E7C-A205-6F8BF546BBC4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47DE0E-692E-5559-D517-60E2772B54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996901-7E66-91C0-852A-B9FC0C22AE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82FEF7-BA67-4929-A31F-AF6E3DCE8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1325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9436115-7A0E-ADCC-0C50-8ED1302191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C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614B1FB-4162-F00F-7999-23A0686EF5C9}"/>
              </a:ext>
            </a:extLst>
          </p:cNvPr>
          <p:cNvSpPr/>
          <p:nvPr/>
        </p:nvSpPr>
        <p:spPr>
          <a:xfrm>
            <a:off x="9334500" y="-762000"/>
            <a:ext cx="3175000" cy="3175000"/>
          </a:xfrm>
          <a:prstGeom prst="ellipse">
            <a:avLst/>
          </a:prstGeom>
          <a:solidFill>
            <a:srgbClr val="9B5CFF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E47517D0-FD1A-FA50-2E62-1537C622B391}"/>
              </a:ext>
            </a:extLst>
          </p:cNvPr>
          <p:cNvSpPr/>
          <p:nvPr/>
        </p:nvSpPr>
        <p:spPr>
          <a:xfrm>
            <a:off x="-825500" y="4762500"/>
            <a:ext cx="2667000" cy="2667000"/>
          </a:xfrm>
          <a:prstGeom prst="ellipse">
            <a:avLst/>
          </a:prstGeom>
          <a:solidFill>
            <a:srgbClr val="488EFF">
              <a:alpha val="33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4B1ABB5-1455-F357-0789-B00DAAE974A5}"/>
              </a:ext>
            </a:extLst>
          </p:cNvPr>
          <p:cNvSpPr/>
          <p:nvPr/>
        </p:nvSpPr>
        <p:spPr>
          <a:xfrm>
            <a:off x="5207000" y="1092200"/>
            <a:ext cx="1143000" cy="1143000"/>
          </a:xfrm>
          <a:prstGeom prst="ellipse">
            <a:avLst/>
          </a:prstGeom>
          <a:solidFill>
            <a:srgbClr val="3ADCFF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CC33542-72DC-AA3B-22A8-2590DEB21E97}"/>
              </a:ext>
            </a:extLst>
          </p:cNvPr>
          <p:cNvSpPr txBox="1"/>
          <p:nvPr/>
        </p:nvSpPr>
        <p:spPr>
          <a:xfrm>
            <a:off x="736600" y="914400"/>
            <a:ext cx="787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3ADCFF"/>
                </a:solidFill>
                <a:latin typeface="Microsoft YaHei" panose="020B0503020204020204" pitchFamily="34" charset="-122"/>
              </a:rPr>
              <a:t>AI VOICE ASSISTANT · PRODUCT REPORT</a:t>
            </a:r>
            <a:endParaRPr lang="zh-CN" altLang="en-US" sz="11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C2F77DA-5C9E-5DA2-8EC7-9D6116AEA659}"/>
              </a:ext>
            </a:extLst>
          </p:cNvPr>
          <p:cNvSpPr txBox="1"/>
          <p:nvPr/>
        </p:nvSpPr>
        <p:spPr>
          <a:xfrm>
            <a:off x="711200" y="1422400"/>
            <a:ext cx="7874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400" b="1">
                <a:solidFill>
                  <a:srgbClr val="F6F8FF"/>
                </a:solidFill>
                <a:latin typeface="Microsoft YaHei" panose="020B0503020204020204" pitchFamily="34" charset="-122"/>
              </a:rPr>
              <a:t>小文智能 </a:t>
            </a:r>
            <a:r>
              <a:rPr lang="en-US" altLang="zh-CN" sz="3400" b="1">
                <a:solidFill>
                  <a:srgbClr val="F6F8FF"/>
                </a:solidFill>
                <a:latin typeface="Microsoft YaHei" panose="020B0503020204020204" pitchFamily="34" charset="-122"/>
              </a:rPr>
              <a:t>APP </a:t>
            </a:r>
            <a:r>
              <a:rPr lang="zh-CN" altLang="en-US" sz="3400" b="1">
                <a:solidFill>
                  <a:srgbClr val="F6F8FF"/>
                </a:solidFill>
                <a:latin typeface="Microsoft YaHei" panose="020B0503020204020204" pitchFamily="34" charset="-122"/>
              </a:rPr>
              <a:t>项目汇报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C819C16-2FE1-2AE4-C363-3697CED8CFE4}"/>
              </a:ext>
            </a:extLst>
          </p:cNvPr>
          <p:cNvSpPr txBox="1"/>
          <p:nvPr/>
        </p:nvSpPr>
        <p:spPr>
          <a:xfrm>
            <a:off x="762000" y="2387600"/>
            <a:ext cx="73025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>
                <a:solidFill>
                  <a:srgbClr val="B2C0E1"/>
                </a:solidFill>
                <a:latin typeface="Microsoft YaHei" panose="020B0503020204020204" pitchFamily="34" charset="-122"/>
              </a:rPr>
              <a:t>以自然语言和语音交互为入口，集成 </a:t>
            </a:r>
            <a:r>
              <a:rPr lang="en-US" altLang="zh-CN" sz="1400">
                <a:solidFill>
                  <a:srgbClr val="B2C0E1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400">
                <a:solidFill>
                  <a:srgbClr val="B2C0E1"/>
                </a:solidFill>
                <a:latin typeface="Microsoft YaHei" panose="020B0503020204020204" pitchFamily="34" charset="-122"/>
              </a:rPr>
              <a:t>对话、文生图、天气、音乐、翻译与桌面控制的智能助手原型。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629527F-B323-4093-5AF9-C80ED7460BDA}"/>
              </a:ext>
            </a:extLst>
          </p:cNvPr>
          <p:cNvSpPr/>
          <p:nvPr/>
        </p:nvSpPr>
        <p:spPr>
          <a:xfrm>
            <a:off x="787400" y="3302000"/>
            <a:ext cx="1524000" cy="355600"/>
          </a:xfrm>
          <a:prstGeom prst="roundRect">
            <a:avLst/>
          </a:prstGeom>
          <a:solidFill>
            <a:srgbClr val="488EFF">
              <a:alpha val="85000"/>
            </a:srgbClr>
          </a:solidFill>
          <a:ln>
            <a:solidFill>
              <a:srgbClr val="488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CFC3DBE-017F-C7A4-483F-AC31634D50A4}"/>
              </a:ext>
            </a:extLst>
          </p:cNvPr>
          <p:cNvSpPr txBox="1"/>
          <p:nvPr/>
        </p:nvSpPr>
        <p:spPr>
          <a:xfrm>
            <a:off x="838200" y="3378200"/>
            <a:ext cx="1422400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850" b="1">
                <a:solidFill>
                  <a:srgbClr val="F6F8FF"/>
                </a:solidFill>
                <a:latin typeface="Microsoft YaHei" panose="020B0503020204020204" pitchFamily="34" charset="-122"/>
              </a:rPr>
              <a:t>React + Vite</a:t>
            </a:r>
            <a:endParaRPr lang="zh-CN" altLang="en-US" sz="850" b="1">
              <a:solidFill>
                <a:srgbClr val="F6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E65EB3D-EC64-2005-E03E-91294B54E082}"/>
              </a:ext>
            </a:extLst>
          </p:cNvPr>
          <p:cNvSpPr/>
          <p:nvPr/>
        </p:nvSpPr>
        <p:spPr>
          <a:xfrm>
            <a:off x="2514600" y="3302000"/>
            <a:ext cx="1524000" cy="355600"/>
          </a:xfrm>
          <a:prstGeom prst="roundRect">
            <a:avLst/>
          </a:prstGeom>
          <a:solidFill>
            <a:srgbClr val="4CE6AA">
              <a:alpha val="85000"/>
            </a:srgbClr>
          </a:solidFill>
          <a:ln>
            <a:solidFill>
              <a:srgbClr val="4CE6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9A46D7F-F4A5-478D-CB7A-9FED10F2A00E}"/>
              </a:ext>
            </a:extLst>
          </p:cNvPr>
          <p:cNvSpPr txBox="1"/>
          <p:nvPr/>
        </p:nvSpPr>
        <p:spPr>
          <a:xfrm>
            <a:off x="2565400" y="3378200"/>
            <a:ext cx="1422400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850" b="1">
                <a:solidFill>
                  <a:srgbClr val="F6F8FF"/>
                </a:solidFill>
                <a:latin typeface="Microsoft YaHei" panose="020B0503020204020204" pitchFamily="34" charset="-122"/>
              </a:rPr>
              <a:t>Flask API</a:t>
            </a:r>
            <a:endParaRPr lang="zh-CN" altLang="en-US" sz="850" b="1">
              <a:solidFill>
                <a:srgbClr val="F6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D3DF7B2-B515-8473-8314-599207653B0E}"/>
              </a:ext>
            </a:extLst>
          </p:cNvPr>
          <p:cNvSpPr/>
          <p:nvPr/>
        </p:nvSpPr>
        <p:spPr>
          <a:xfrm>
            <a:off x="4241800" y="3302000"/>
            <a:ext cx="1524000" cy="355600"/>
          </a:xfrm>
          <a:prstGeom prst="roundRect">
            <a:avLst/>
          </a:prstGeom>
          <a:solidFill>
            <a:srgbClr val="9B5CFF">
              <a:alpha val="85000"/>
            </a:srgbClr>
          </a:solidFill>
          <a:ln>
            <a:solidFill>
              <a:srgbClr val="9B5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219B760-1B06-D290-9487-93ACDB00A464}"/>
              </a:ext>
            </a:extLst>
          </p:cNvPr>
          <p:cNvSpPr txBox="1"/>
          <p:nvPr/>
        </p:nvSpPr>
        <p:spPr>
          <a:xfrm>
            <a:off x="4292600" y="3378200"/>
            <a:ext cx="1422400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850" b="1">
                <a:solidFill>
                  <a:srgbClr val="F6F8FF"/>
                </a:solidFill>
                <a:latin typeface="Microsoft YaHei" panose="020B0503020204020204" pitchFamily="34" charset="-122"/>
              </a:rPr>
              <a:t>DashScope</a:t>
            </a:r>
            <a:endParaRPr lang="zh-CN" altLang="en-US" sz="850" b="1">
              <a:solidFill>
                <a:srgbClr val="F6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E6B3825-186A-9CA3-4AC0-B62B93DCF569}"/>
              </a:ext>
            </a:extLst>
          </p:cNvPr>
          <p:cNvSpPr/>
          <p:nvPr/>
        </p:nvSpPr>
        <p:spPr>
          <a:xfrm>
            <a:off x="5969000" y="3302000"/>
            <a:ext cx="1524000" cy="355600"/>
          </a:xfrm>
          <a:prstGeom prst="roundRect">
            <a:avLst/>
          </a:prstGeom>
          <a:solidFill>
            <a:srgbClr val="3ADCFF">
              <a:alpha val="85000"/>
            </a:srgbClr>
          </a:solidFill>
          <a:ln>
            <a:solidFill>
              <a:srgbClr val="3AD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C770AEE-770A-8E2A-21FF-D33D682B95C9}"/>
              </a:ext>
            </a:extLst>
          </p:cNvPr>
          <p:cNvSpPr txBox="1"/>
          <p:nvPr/>
        </p:nvSpPr>
        <p:spPr>
          <a:xfrm>
            <a:off x="6019800" y="3378200"/>
            <a:ext cx="1422400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850" b="1">
                <a:solidFill>
                  <a:srgbClr val="F6F8FF"/>
                </a:solidFill>
                <a:latin typeface="Microsoft YaHei" panose="020B0503020204020204" pitchFamily="34" charset="-122"/>
              </a:rPr>
              <a:t>Web Speech</a:t>
            </a:r>
            <a:endParaRPr lang="zh-CN" altLang="en-US" sz="850" b="1">
              <a:solidFill>
                <a:srgbClr val="F6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CC42C90-BDFA-E60D-83A2-1C7C08FDF0D9}"/>
              </a:ext>
            </a:extLst>
          </p:cNvPr>
          <p:cNvSpPr txBox="1"/>
          <p:nvPr/>
        </p:nvSpPr>
        <p:spPr>
          <a:xfrm>
            <a:off x="762000" y="4038600"/>
            <a:ext cx="711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 b="1">
                <a:solidFill>
                  <a:srgbClr val="F6F8FF"/>
                </a:solidFill>
                <a:latin typeface="Microsoft YaHei" panose="020B0503020204020204" pitchFamily="34" charset="-122"/>
              </a:rPr>
              <a:t>项目关键词：自然语言入口 </a:t>
            </a:r>
            <a:r>
              <a:rPr lang="en-US" altLang="zh-CN" sz="1100" b="1">
                <a:solidFill>
                  <a:srgbClr val="F6F8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100" b="1">
                <a:solidFill>
                  <a:srgbClr val="F6F8FF"/>
                </a:solidFill>
                <a:latin typeface="Microsoft YaHei" panose="020B0503020204020204" pitchFamily="34" charset="-122"/>
              </a:rPr>
              <a:t>多服务编排 </a:t>
            </a:r>
            <a:r>
              <a:rPr lang="en-US" altLang="zh-CN" sz="1100" b="1">
                <a:solidFill>
                  <a:srgbClr val="F6F8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100" b="1">
                <a:solidFill>
                  <a:srgbClr val="F6F8FF"/>
                </a:solidFill>
                <a:latin typeface="Microsoft YaHei" panose="020B0503020204020204" pitchFamily="34" charset="-122"/>
              </a:rPr>
              <a:t>语音助手体验 </a:t>
            </a:r>
            <a:r>
              <a:rPr lang="en-US" altLang="zh-CN" sz="1100" b="1">
                <a:solidFill>
                  <a:srgbClr val="F6F8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100" b="1">
                <a:solidFill>
                  <a:srgbClr val="F6F8FF"/>
                </a:solidFill>
                <a:latin typeface="Microsoft YaHei" panose="020B0503020204020204" pitchFamily="34" charset="-122"/>
              </a:rPr>
              <a:t>可扩展 </a:t>
            </a:r>
            <a:r>
              <a:rPr lang="en-US" altLang="zh-CN" sz="1100" b="1">
                <a:solidFill>
                  <a:srgbClr val="F6F8FF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100" b="1">
                <a:solidFill>
                  <a:srgbClr val="F6F8FF"/>
                </a:solidFill>
                <a:latin typeface="Microsoft YaHei" panose="020B0503020204020204" pitchFamily="34" charset="-122"/>
              </a:rPr>
              <a:t>工作台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DF98AC2C-54FF-E2FD-C9ED-563A7FE7555A}"/>
              </a:ext>
            </a:extLst>
          </p:cNvPr>
          <p:cNvSpPr/>
          <p:nvPr/>
        </p:nvSpPr>
        <p:spPr>
          <a:xfrm>
            <a:off x="8890000" y="1168400"/>
            <a:ext cx="2667000" cy="2667000"/>
          </a:xfrm>
          <a:prstGeom prst="ellipse">
            <a:avLst/>
          </a:prstGeom>
          <a:noFill/>
          <a:ln w="25400" cap="flat" cmpd="sng" algn="ctr">
            <a:solidFill>
              <a:srgbClr val="3ADC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6CBD4C96-89E3-0EF1-BEF0-233C3B2D3301}"/>
              </a:ext>
            </a:extLst>
          </p:cNvPr>
          <p:cNvSpPr/>
          <p:nvPr/>
        </p:nvSpPr>
        <p:spPr>
          <a:xfrm>
            <a:off x="9296400" y="1574800"/>
            <a:ext cx="1854200" cy="1854200"/>
          </a:xfrm>
          <a:prstGeom prst="ellipse">
            <a:avLst/>
          </a:prstGeom>
          <a:noFill/>
          <a:ln w="25400" cap="flat" cmpd="sng" algn="ctr">
            <a:solidFill>
              <a:srgbClr val="9B5C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6E61061D-2589-0F55-1014-D938C4BE907E}"/>
              </a:ext>
            </a:extLst>
          </p:cNvPr>
          <p:cNvSpPr/>
          <p:nvPr/>
        </p:nvSpPr>
        <p:spPr>
          <a:xfrm>
            <a:off x="9906000" y="2184400"/>
            <a:ext cx="635000" cy="635000"/>
          </a:xfrm>
          <a:prstGeom prst="ellipse">
            <a:avLst/>
          </a:prstGeom>
          <a:solidFill>
            <a:srgbClr val="3ADC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7734BB6-38C8-8905-66E2-25196ECBD938}"/>
              </a:ext>
            </a:extLst>
          </p:cNvPr>
          <p:cNvSpPr txBox="1"/>
          <p:nvPr/>
        </p:nvSpPr>
        <p:spPr>
          <a:xfrm>
            <a:off x="9779000" y="2387600"/>
            <a:ext cx="889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F6F8FF"/>
                </a:solidFill>
                <a:latin typeface="Microsoft YaHei" panose="020B0503020204020204" pitchFamily="34" charset="-122"/>
              </a:rPr>
              <a:t>AI</a:t>
            </a:r>
            <a:endParaRPr lang="zh-CN" altLang="en-US" sz="1500" b="1">
              <a:solidFill>
                <a:srgbClr val="F6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9935DC6-BB82-E00E-51D5-74AFD46A1993}"/>
              </a:ext>
            </a:extLst>
          </p:cNvPr>
          <p:cNvSpPr/>
          <p:nvPr/>
        </p:nvSpPr>
        <p:spPr>
          <a:xfrm>
            <a:off x="8534400" y="4191000"/>
            <a:ext cx="1524000" cy="355600"/>
          </a:xfrm>
          <a:prstGeom prst="roundRect">
            <a:avLst/>
          </a:prstGeom>
          <a:solidFill>
            <a:srgbClr val="3ADCFF">
              <a:alpha val="85000"/>
            </a:srgbClr>
          </a:solidFill>
          <a:ln>
            <a:solidFill>
              <a:srgbClr val="3AD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0C6AD2A-2FFC-2938-47FF-38A2E315535A}"/>
              </a:ext>
            </a:extLst>
          </p:cNvPr>
          <p:cNvSpPr txBox="1"/>
          <p:nvPr/>
        </p:nvSpPr>
        <p:spPr>
          <a:xfrm>
            <a:off x="8585200" y="4267200"/>
            <a:ext cx="1422400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>
                <a:solidFill>
                  <a:srgbClr val="F6F8FF"/>
                </a:solidFill>
                <a:latin typeface="Microsoft YaHei" panose="020B0503020204020204" pitchFamily="34" charset="-122"/>
              </a:rPr>
              <a:t>智能问答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46BF06C8-CCF3-08E3-B6EF-68841E2428D4}"/>
              </a:ext>
            </a:extLst>
          </p:cNvPr>
          <p:cNvSpPr/>
          <p:nvPr/>
        </p:nvSpPr>
        <p:spPr>
          <a:xfrm>
            <a:off x="10160000" y="4191000"/>
            <a:ext cx="1524000" cy="355600"/>
          </a:xfrm>
          <a:prstGeom prst="roundRect">
            <a:avLst/>
          </a:prstGeom>
          <a:solidFill>
            <a:srgbClr val="488EFF">
              <a:alpha val="85000"/>
            </a:srgbClr>
          </a:solidFill>
          <a:ln>
            <a:solidFill>
              <a:srgbClr val="488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15AA082-75D1-49A0-C848-E3B288262715}"/>
              </a:ext>
            </a:extLst>
          </p:cNvPr>
          <p:cNvSpPr txBox="1"/>
          <p:nvPr/>
        </p:nvSpPr>
        <p:spPr>
          <a:xfrm>
            <a:off x="10210800" y="4267200"/>
            <a:ext cx="1422400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>
                <a:solidFill>
                  <a:srgbClr val="F6F8FF"/>
                </a:solidFill>
                <a:latin typeface="Microsoft YaHei" panose="020B0503020204020204" pitchFamily="34" charset="-122"/>
              </a:rPr>
              <a:t>语音交互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2721994-5AC7-5149-B2F3-26F79A8655FF}"/>
              </a:ext>
            </a:extLst>
          </p:cNvPr>
          <p:cNvSpPr/>
          <p:nvPr/>
        </p:nvSpPr>
        <p:spPr>
          <a:xfrm>
            <a:off x="8534400" y="4724400"/>
            <a:ext cx="1524000" cy="355600"/>
          </a:xfrm>
          <a:prstGeom prst="roundRect">
            <a:avLst/>
          </a:prstGeom>
          <a:solidFill>
            <a:srgbClr val="9B5CFF">
              <a:alpha val="85000"/>
            </a:srgbClr>
          </a:solidFill>
          <a:ln>
            <a:solidFill>
              <a:srgbClr val="9B5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090CFB2-2E6F-377A-15BB-54FF8D42444B}"/>
              </a:ext>
            </a:extLst>
          </p:cNvPr>
          <p:cNvSpPr txBox="1"/>
          <p:nvPr/>
        </p:nvSpPr>
        <p:spPr>
          <a:xfrm>
            <a:off x="8585200" y="4800600"/>
            <a:ext cx="1422400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>
                <a:solidFill>
                  <a:srgbClr val="F6F8FF"/>
                </a:solidFill>
                <a:latin typeface="Microsoft YaHei" panose="020B0503020204020204" pitchFamily="34" charset="-122"/>
              </a:rPr>
              <a:t>文生图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FB104A92-7142-1A46-C5B4-0A92003B2C9D}"/>
              </a:ext>
            </a:extLst>
          </p:cNvPr>
          <p:cNvSpPr/>
          <p:nvPr/>
        </p:nvSpPr>
        <p:spPr>
          <a:xfrm>
            <a:off x="10160000" y="4724400"/>
            <a:ext cx="1524000" cy="355600"/>
          </a:xfrm>
          <a:prstGeom prst="roundRect">
            <a:avLst/>
          </a:prstGeom>
          <a:solidFill>
            <a:srgbClr val="4CE6AA">
              <a:alpha val="85000"/>
            </a:srgbClr>
          </a:solidFill>
          <a:ln>
            <a:solidFill>
              <a:srgbClr val="4CE6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E80C2BB-8D9B-A706-7720-0B658ED171D2}"/>
              </a:ext>
            </a:extLst>
          </p:cNvPr>
          <p:cNvSpPr txBox="1"/>
          <p:nvPr/>
        </p:nvSpPr>
        <p:spPr>
          <a:xfrm>
            <a:off x="10210800" y="4800600"/>
            <a:ext cx="1422400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>
                <a:solidFill>
                  <a:srgbClr val="F6F8FF"/>
                </a:solidFill>
                <a:latin typeface="Microsoft YaHei" panose="020B0503020204020204" pitchFamily="34" charset="-122"/>
              </a:rPr>
              <a:t>桌面控制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5ABE356-3F15-20CA-D0CE-6545C7181ED0}"/>
              </a:ext>
            </a:extLst>
          </p:cNvPr>
          <p:cNvSpPr txBox="1"/>
          <p:nvPr/>
        </p:nvSpPr>
        <p:spPr>
          <a:xfrm>
            <a:off x="762000" y="5740400"/>
            <a:ext cx="4191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96A6D2"/>
                </a:solidFill>
                <a:latin typeface="Microsoft YaHei" panose="020B0503020204020204" pitchFamily="34" charset="-122"/>
              </a:rPr>
              <a:t>汇报人：刘汉文    </a:t>
            </a:r>
            <a:r>
              <a:rPr lang="en-US" altLang="zh-CN" sz="1000">
                <a:solidFill>
                  <a:srgbClr val="96A6D2"/>
                </a:solidFill>
                <a:latin typeface="Microsoft YaHei" panose="020B0503020204020204" pitchFamily="34" charset="-122"/>
              </a:rPr>
              <a:t>2026</a:t>
            </a:r>
            <a:endParaRPr lang="zh-CN" altLang="en-US" sz="1000">
              <a:solidFill>
                <a:srgbClr val="96A6D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7492650-657C-E84E-67A8-1C7D6FE04D3A}"/>
              </a:ext>
            </a:extLst>
          </p:cNvPr>
          <p:cNvSpPr txBox="1"/>
          <p:nvPr/>
        </p:nvSpPr>
        <p:spPr>
          <a:xfrm>
            <a:off x="533400" y="6426200"/>
            <a:ext cx="5461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小文智能 </a:t>
            </a:r>
            <a:r>
              <a:rPr lang="en-US" altLang="zh-CN" sz="800">
                <a:solidFill>
                  <a:srgbClr val="8296C3"/>
                </a:solidFill>
                <a:latin typeface="Microsoft YaHei" panose="020B0503020204020204" pitchFamily="34" charset="-122"/>
              </a:rPr>
              <a:t>APP · AI </a:t>
            </a:r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项目汇报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CE03F4E-6A1B-45A1-D62C-9847DCED2AC4}"/>
              </a:ext>
            </a:extLst>
          </p:cNvPr>
          <p:cNvSpPr txBox="1"/>
          <p:nvPr/>
        </p:nvSpPr>
        <p:spPr>
          <a:xfrm>
            <a:off x="11226800" y="6400800"/>
            <a:ext cx="50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3ADC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9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6435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C88BD60-9718-C419-306E-EDABC533E26D}"/>
              </a:ext>
            </a:extLst>
          </p:cNvPr>
          <p:cNvSpPr txBox="1"/>
          <p:nvPr/>
        </p:nvSpPr>
        <p:spPr>
          <a:xfrm>
            <a:off x="1079500" y="1549400"/>
            <a:ext cx="635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3ADC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13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6F8506F-666B-7550-E2EA-A9A7D93D8426}"/>
              </a:ext>
            </a:extLst>
          </p:cNvPr>
          <p:cNvSpPr txBox="1"/>
          <p:nvPr/>
        </p:nvSpPr>
        <p:spPr>
          <a:xfrm>
            <a:off x="1968500" y="1549400"/>
            <a:ext cx="7874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500" b="1">
                <a:solidFill>
                  <a:srgbClr val="F6F8FF"/>
                </a:solidFill>
                <a:latin typeface="Microsoft YaHei" panose="020B0503020204020204" pitchFamily="34" charset="-122"/>
              </a:rPr>
              <a:t>项目目标与应用场景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8C35AEC-93A7-8FF4-052D-5F7D3E4F6001}"/>
              </a:ext>
            </a:extLst>
          </p:cNvPr>
          <p:cNvSpPr txBox="1"/>
          <p:nvPr/>
        </p:nvSpPr>
        <p:spPr>
          <a:xfrm>
            <a:off x="1079500" y="2159000"/>
            <a:ext cx="635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3ADCFF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13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3FBC734-8AA4-A26D-10AA-B099D2D4D567}"/>
              </a:ext>
            </a:extLst>
          </p:cNvPr>
          <p:cNvSpPr txBox="1"/>
          <p:nvPr/>
        </p:nvSpPr>
        <p:spPr>
          <a:xfrm>
            <a:off x="1968500" y="2159000"/>
            <a:ext cx="7874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500" b="1">
                <a:solidFill>
                  <a:srgbClr val="F6F8FF"/>
                </a:solidFill>
                <a:latin typeface="Microsoft YaHei" panose="020B0503020204020204" pitchFamily="34" charset="-122"/>
              </a:rPr>
              <a:t>应用方式、方法与核心数据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CEF8D88-6459-580E-C47C-377DA662CD6F}"/>
              </a:ext>
            </a:extLst>
          </p:cNvPr>
          <p:cNvSpPr txBox="1"/>
          <p:nvPr/>
        </p:nvSpPr>
        <p:spPr>
          <a:xfrm>
            <a:off x="1079500" y="2768600"/>
            <a:ext cx="635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3ADCFF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13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9BB3FCC-9787-4E70-5F7A-CFECE07D67FF}"/>
              </a:ext>
            </a:extLst>
          </p:cNvPr>
          <p:cNvSpPr txBox="1"/>
          <p:nvPr/>
        </p:nvSpPr>
        <p:spPr>
          <a:xfrm>
            <a:off x="1968500" y="2768600"/>
            <a:ext cx="7874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500" b="1">
                <a:solidFill>
                  <a:srgbClr val="F6F8FF"/>
                </a:solidFill>
                <a:latin typeface="Microsoft YaHei" panose="020B0503020204020204" pitchFamily="34" charset="-122"/>
              </a:rPr>
              <a:t>核心能力矩阵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57FAEA6-9CAE-7F9D-54CF-AAC6A9123AF9}"/>
              </a:ext>
            </a:extLst>
          </p:cNvPr>
          <p:cNvSpPr txBox="1"/>
          <p:nvPr/>
        </p:nvSpPr>
        <p:spPr>
          <a:xfrm>
            <a:off x="1079500" y="3378200"/>
            <a:ext cx="635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3ADCFF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13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65F55E5-37E8-EA48-D210-8DCB6BD07793}"/>
              </a:ext>
            </a:extLst>
          </p:cNvPr>
          <p:cNvSpPr txBox="1"/>
          <p:nvPr/>
        </p:nvSpPr>
        <p:spPr>
          <a:xfrm>
            <a:off x="1968500" y="3378200"/>
            <a:ext cx="7874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500" b="1">
                <a:solidFill>
                  <a:srgbClr val="F6F8FF"/>
                </a:solidFill>
                <a:latin typeface="Microsoft YaHei" panose="020B0503020204020204" pitchFamily="34" charset="-122"/>
              </a:rPr>
              <a:t>系统架构与技术实现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5B18BD3-3D60-49AE-25DB-ACC4DA39DC5F}"/>
              </a:ext>
            </a:extLst>
          </p:cNvPr>
          <p:cNvSpPr txBox="1"/>
          <p:nvPr/>
        </p:nvSpPr>
        <p:spPr>
          <a:xfrm>
            <a:off x="1079500" y="3987800"/>
            <a:ext cx="635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3ADCFF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13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4D6DCC-0443-69A5-1D99-22A666A22A1D}"/>
              </a:ext>
            </a:extLst>
          </p:cNvPr>
          <p:cNvSpPr txBox="1"/>
          <p:nvPr/>
        </p:nvSpPr>
        <p:spPr>
          <a:xfrm>
            <a:off x="1968500" y="3987800"/>
            <a:ext cx="7874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500" b="1">
                <a:solidFill>
                  <a:srgbClr val="F6F8FF"/>
                </a:solidFill>
                <a:latin typeface="Microsoft YaHei" panose="020B0503020204020204" pitchFamily="34" charset="-122"/>
              </a:rPr>
              <a:t>工作亮点与项目价值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E3A3277-9820-8C5C-2105-316822097485}"/>
              </a:ext>
            </a:extLst>
          </p:cNvPr>
          <p:cNvSpPr txBox="1"/>
          <p:nvPr/>
        </p:nvSpPr>
        <p:spPr>
          <a:xfrm>
            <a:off x="1079500" y="4597400"/>
            <a:ext cx="635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3ADCFF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13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F365FC0-FBB9-ED9D-9AEA-97E5C691A461}"/>
              </a:ext>
            </a:extLst>
          </p:cNvPr>
          <p:cNvSpPr txBox="1"/>
          <p:nvPr/>
        </p:nvSpPr>
        <p:spPr>
          <a:xfrm>
            <a:off x="1968500" y="4597400"/>
            <a:ext cx="7874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500" b="1">
                <a:solidFill>
                  <a:srgbClr val="F6F8FF"/>
                </a:solidFill>
                <a:latin typeface="Microsoft YaHei" panose="020B0503020204020204" pitchFamily="34" charset="-122"/>
              </a:rPr>
              <a:t>问题复盘与改进方向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C60ADC2-366B-DA33-27FF-627E0B635EE1}"/>
              </a:ext>
            </a:extLst>
          </p:cNvPr>
          <p:cNvSpPr txBox="1"/>
          <p:nvPr/>
        </p:nvSpPr>
        <p:spPr>
          <a:xfrm>
            <a:off x="1079500" y="5207000"/>
            <a:ext cx="635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3ADCFF"/>
                </a:solidFill>
                <a:latin typeface="Microsoft YaHei" panose="020B0503020204020204" pitchFamily="34" charset="-122"/>
              </a:rPr>
              <a:t>07</a:t>
            </a:r>
            <a:endParaRPr lang="zh-CN" altLang="en-US" sz="13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F76A39-4443-B98E-2007-5219FC3309E6}"/>
              </a:ext>
            </a:extLst>
          </p:cNvPr>
          <p:cNvSpPr txBox="1"/>
          <p:nvPr/>
        </p:nvSpPr>
        <p:spPr>
          <a:xfrm>
            <a:off x="1968500" y="5207000"/>
            <a:ext cx="7874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500" b="1">
                <a:solidFill>
                  <a:srgbClr val="F6F8FF"/>
                </a:solidFill>
                <a:latin typeface="Microsoft YaHei" panose="020B0503020204020204" pitchFamily="34" charset="-122"/>
              </a:rPr>
              <a:t>下季度计划与结尾感谢</a:t>
            </a:r>
          </a:p>
        </p:txBody>
      </p:sp>
    </p:spTree>
    <p:extLst>
      <p:ext uri="{BB962C8B-B14F-4D97-AF65-F5344CB8AC3E}">
        <p14:creationId xmlns:p14="http://schemas.microsoft.com/office/powerpoint/2010/main" val="794865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4CA0396C-2D03-FEBB-9E31-D67F57776407}"/>
              </a:ext>
            </a:extLst>
          </p:cNvPr>
          <p:cNvSpPr/>
          <p:nvPr/>
        </p:nvSpPr>
        <p:spPr>
          <a:xfrm>
            <a:off x="762000" y="1651000"/>
            <a:ext cx="3302000" cy="1397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EFEB55D-087B-ABAE-F4B5-FAF8FA7C85BD}"/>
              </a:ext>
            </a:extLst>
          </p:cNvPr>
          <p:cNvSpPr/>
          <p:nvPr/>
        </p:nvSpPr>
        <p:spPr>
          <a:xfrm>
            <a:off x="762000" y="1651000"/>
            <a:ext cx="76200" cy="13970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274E74-D8CD-259E-D578-BBF116FF3504}"/>
              </a:ext>
            </a:extLst>
          </p:cNvPr>
          <p:cNvSpPr txBox="1"/>
          <p:nvPr/>
        </p:nvSpPr>
        <p:spPr>
          <a:xfrm>
            <a:off x="965200" y="1778000"/>
            <a:ext cx="2921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初始目标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825D48-2DB2-6AEC-C94F-9C3F8926BD94}"/>
              </a:ext>
            </a:extLst>
          </p:cNvPr>
          <p:cNvSpPr txBox="1"/>
          <p:nvPr/>
        </p:nvSpPr>
        <p:spPr>
          <a:xfrm>
            <a:off x="965200" y="2184400"/>
            <a:ext cx="2946400" cy="6647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自然语言交互
语音识别与唤醒
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问答与创作
常用工具一键调用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139ECCC-AFC0-0E00-2779-DE761B26770C}"/>
              </a:ext>
            </a:extLst>
          </p:cNvPr>
          <p:cNvSpPr/>
          <p:nvPr/>
        </p:nvSpPr>
        <p:spPr>
          <a:xfrm>
            <a:off x="4445000" y="1651000"/>
            <a:ext cx="3302000" cy="1397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3C0C95-B5DA-98E9-EE07-B600BD8CCC03}"/>
              </a:ext>
            </a:extLst>
          </p:cNvPr>
          <p:cNvSpPr/>
          <p:nvPr/>
        </p:nvSpPr>
        <p:spPr>
          <a:xfrm>
            <a:off x="4445000" y="1651000"/>
            <a:ext cx="76200" cy="13970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0252BAB-A62A-0889-F6D2-80054EB6E2FB}"/>
              </a:ext>
            </a:extLst>
          </p:cNvPr>
          <p:cNvSpPr txBox="1"/>
          <p:nvPr/>
        </p:nvSpPr>
        <p:spPr>
          <a:xfrm>
            <a:off x="4648200" y="1778000"/>
            <a:ext cx="2921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用户场景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33B711F-4037-79AB-2B47-E289BDA44953}"/>
              </a:ext>
            </a:extLst>
          </p:cNvPr>
          <p:cNvSpPr txBox="1"/>
          <p:nvPr/>
        </p:nvSpPr>
        <p:spPr>
          <a:xfrm>
            <a:off x="4648200" y="2184400"/>
            <a:ext cx="2946400" cy="6647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查天气、听音乐
问美食、讲故事
生成图片、划词翻译
打开本机应用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BBF33AD-E0D2-2245-7C04-7C767FE43373}"/>
              </a:ext>
            </a:extLst>
          </p:cNvPr>
          <p:cNvSpPr/>
          <p:nvPr/>
        </p:nvSpPr>
        <p:spPr>
          <a:xfrm>
            <a:off x="8128000" y="1651000"/>
            <a:ext cx="3302000" cy="1397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0862BDF-FB06-AE7B-D5F7-F773029A5568}"/>
              </a:ext>
            </a:extLst>
          </p:cNvPr>
          <p:cNvSpPr/>
          <p:nvPr/>
        </p:nvSpPr>
        <p:spPr>
          <a:xfrm>
            <a:off x="8128000" y="1651000"/>
            <a:ext cx="76200" cy="13970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EDE84C5-A3EE-92F2-ADBD-67EB0A2DDC3A}"/>
              </a:ext>
            </a:extLst>
          </p:cNvPr>
          <p:cNvSpPr txBox="1"/>
          <p:nvPr/>
        </p:nvSpPr>
        <p:spPr>
          <a:xfrm>
            <a:off x="8331200" y="1778000"/>
            <a:ext cx="2921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项目定位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7EEC2E4-D39E-C86C-50BE-C801A2506CCE}"/>
              </a:ext>
            </a:extLst>
          </p:cNvPr>
          <p:cNvSpPr txBox="1"/>
          <p:nvPr/>
        </p:nvSpPr>
        <p:spPr>
          <a:xfrm>
            <a:off x="8331200" y="2184400"/>
            <a:ext cx="2946400" cy="6647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个人桌面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助手
智能音箱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Web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原型
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多功能工作台雏形
课程设计展示项目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82229AE-EC0B-7EDF-2219-6BD090A61705}"/>
              </a:ext>
            </a:extLst>
          </p:cNvPr>
          <p:cNvSpPr txBox="1"/>
          <p:nvPr/>
        </p:nvSpPr>
        <p:spPr>
          <a:xfrm>
            <a:off x="1143000" y="3873500"/>
            <a:ext cx="9906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b="1">
                <a:solidFill>
                  <a:srgbClr val="F6F8FF"/>
                </a:solidFill>
                <a:latin typeface="Microsoft YaHei" panose="020B0503020204020204" pitchFamily="34" charset="-122"/>
              </a:rPr>
              <a:t>一句话总结：小文智能 </a:t>
            </a:r>
            <a:r>
              <a:rPr lang="en-US" altLang="zh-CN" b="1">
                <a:solidFill>
                  <a:srgbClr val="F6F8FF"/>
                </a:solidFill>
                <a:latin typeface="Microsoft YaHei" panose="020B0503020204020204" pitchFamily="34" charset="-122"/>
              </a:rPr>
              <a:t>APP </a:t>
            </a:r>
            <a:r>
              <a:rPr lang="zh-CN" altLang="en-US" b="1">
                <a:solidFill>
                  <a:srgbClr val="F6F8FF"/>
                </a:solidFill>
                <a:latin typeface="Microsoft YaHei" panose="020B0503020204020204" pitchFamily="34" charset="-122"/>
              </a:rPr>
              <a:t>将“</a:t>
            </a:r>
            <a:r>
              <a:rPr lang="en-US" altLang="zh-CN" b="1">
                <a:solidFill>
                  <a:srgbClr val="F6F8FF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b="1">
                <a:solidFill>
                  <a:srgbClr val="F6F8FF"/>
                </a:solidFill>
                <a:latin typeface="Microsoft YaHei" panose="020B0503020204020204" pitchFamily="34" charset="-122"/>
              </a:rPr>
              <a:t>能力”包装成用户可以直接使用的生活与桌面助手。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775E21B-0DD7-91BF-80CD-CD68950AA3C7}"/>
              </a:ext>
            </a:extLst>
          </p:cNvPr>
          <p:cNvSpPr/>
          <p:nvPr/>
        </p:nvSpPr>
        <p:spPr>
          <a:xfrm>
            <a:off x="1168400" y="4724400"/>
            <a:ext cx="2286000" cy="889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19627F1-B870-5AD9-1ACC-A7B7B2F9F7B3}"/>
              </a:ext>
            </a:extLst>
          </p:cNvPr>
          <p:cNvSpPr/>
          <p:nvPr/>
        </p:nvSpPr>
        <p:spPr>
          <a:xfrm>
            <a:off x="1168400" y="4724400"/>
            <a:ext cx="76200" cy="8890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8B3A36A-5209-A4A8-5991-3041962E161F}"/>
              </a:ext>
            </a:extLst>
          </p:cNvPr>
          <p:cNvSpPr txBox="1"/>
          <p:nvPr/>
        </p:nvSpPr>
        <p:spPr>
          <a:xfrm>
            <a:off x="1371600" y="4851400"/>
            <a:ext cx="1905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能听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55406EE-833C-E92D-C4A5-0094F0CB0649}"/>
              </a:ext>
            </a:extLst>
          </p:cNvPr>
          <p:cNvSpPr txBox="1"/>
          <p:nvPr/>
        </p:nvSpPr>
        <p:spPr>
          <a:xfrm>
            <a:off x="1371600" y="5257800"/>
            <a:ext cx="1930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语音识别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唤醒词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54E9146-949D-5D18-29CD-1F3DB44CF077}"/>
              </a:ext>
            </a:extLst>
          </p:cNvPr>
          <p:cNvSpPr/>
          <p:nvPr/>
        </p:nvSpPr>
        <p:spPr>
          <a:xfrm>
            <a:off x="3708400" y="4724400"/>
            <a:ext cx="2286000" cy="889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D579E4F-B673-D8DA-8C4E-8AAE867649FF}"/>
              </a:ext>
            </a:extLst>
          </p:cNvPr>
          <p:cNvSpPr/>
          <p:nvPr/>
        </p:nvSpPr>
        <p:spPr>
          <a:xfrm>
            <a:off x="3708400" y="4724400"/>
            <a:ext cx="76200" cy="8890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3C9240A-9245-69D8-56AD-2868EB5F85F9}"/>
              </a:ext>
            </a:extLst>
          </p:cNvPr>
          <p:cNvSpPr txBox="1"/>
          <p:nvPr/>
        </p:nvSpPr>
        <p:spPr>
          <a:xfrm>
            <a:off x="3911600" y="4851400"/>
            <a:ext cx="1905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能聊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7870DC3-2E73-7C71-677A-D3331612A2D4}"/>
              </a:ext>
            </a:extLst>
          </p:cNvPr>
          <p:cNvSpPr txBox="1"/>
          <p:nvPr/>
        </p:nvSpPr>
        <p:spPr>
          <a:xfrm>
            <a:off x="3911600" y="5257800"/>
            <a:ext cx="1930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多轮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对话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6686CA3-1476-4823-9F8E-60995C95A721}"/>
              </a:ext>
            </a:extLst>
          </p:cNvPr>
          <p:cNvSpPr/>
          <p:nvPr/>
        </p:nvSpPr>
        <p:spPr>
          <a:xfrm>
            <a:off x="6248400" y="4724400"/>
            <a:ext cx="2286000" cy="889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015AA6F-398D-A5FC-E6B1-18738BE7A198}"/>
              </a:ext>
            </a:extLst>
          </p:cNvPr>
          <p:cNvSpPr/>
          <p:nvPr/>
        </p:nvSpPr>
        <p:spPr>
          <a:xfrm>
            <a:off x="6248400" y="4724400"/>
            <a:ext cx="76200" cy="8890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F1D72BC-7557-D75E-4C8D-D2A80EA8F088}"/>
              </a:ext>
            </a:extLst>
          </p:cNvPr>
          <p:cNvSpPr txBox="1"/>
          <p:nvPr/>
        </p:nvSpPr>
        <p:spPr>
          <a:xfrm>
            <a:off x="6451600" y="4851400"/>
            <a:ext cx="1905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能做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CC1CD78-9722-9E9E-A6F1-F45559BED54B}"/>
              </a:ext>
            </a:extLst>
          </p:cNvPr>
          <p:cNvSpPr txBox="1"/>
          <p:nvPr/>
        </p:nvSpPr>
        <p:spPr>
          <a:xfrm>
            <a:off x="6451600" y="5257800"/>
            <a:ext cx="1930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调用服务与工具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F5E9622-7C1C-3AAE-1C89-89774DD0BCD0}"/>
              </a:ext>
            </a:extLst>
          </p:cNvPr>
          <p:cNvSpPr/>
          <p:nvPr/>
        </p:nvSpPr>
        <p:spPr>
          <a:xfrm>
            <a:off x="8788400" y="4724400"/>
            <a:ext cx="2286000" cy="889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58A495C-1BC0-BBC5-2DF6-A6E0F8C33ACA}"/>
              </a:ext>
            </a:extLst>
          </p:cNvPr>
          <p:cNvSpPr/>
          <p:nvPr/>
        </p:nvSpPr>
        <p:spPr>
          <a:xfrm>
            <a:off x="8788400" y="4724400"/>
            <a:ext cx="76200" cy="889000"/>
          </a:xfrm>
          <a:prstGeom prst="rect">
            <a:avLst/>
          </a:prstGeom>
          <a:solidFill>
            <a:srgbClr val="FFB4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536408E-E1BD-7D61-C360-E7F8AE0DB7D6}"/>
              </a:ext>
            </a:extLst>
          </p:cNvPr>
          <p:cNvSpPr txBox="1"/>
          <p:nvPr/>
        </p:nvSpPr>
        <p:spPr>
          <a:xfrm>
            <a:off x="8991600" y="4851400"/>
            <a:ext cx="1905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能展示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1C32FCC-C314-C50B-356F-8652891B749B}"/>
              </a:ext>
            </a:extLst>
          </p:cNvPr>
          <p:cNvSpPr txBox="1"/>
          <p:nvPr/>
        </p:nvSpPr>
        <p:spPr>
          <a:xfrm>
            <a:off x="8991600" y="5257800"/>
            <a:ext cx="1930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卡片反馈与日志</a:t>
            </a:r>
          </a:p>
        </p:txBody>
      </p:sp>
    </p:spTree>
    <p:extLst>
      <p:ext uri="{BB962C8B-B14F-4D97-AF65-F5344CB8AC3E}">
        <p14:creationId xmlns:p14="http://schemas.microsoft.com/office/powerpoint/2010/main" val="1659339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46A2F60A-7B56-33A3-32BC-8BBB5CB1349B}"/>
              </a:ext>
            </a:extLst>
          </p:cNvPr>
          <p:cNvSpPr/>
          <p:nvPr/>
        </p:nvSpPr>
        <p:spPr>
          <a:xfrm>
            <a:off x="762000" y="1600200"/>
            <a:ext cx="2413000" cy="1117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DBF9C8-3BD9-4E9E-657B-4604CA2F950A}"/>
              </a:ext>
            </a:extLst>
          </p:cNvPr>
          <p:cNvSpPr/>
          <p:nvPr/>
        </p:nvSpPr>
        <p:spPr>
          <a:xfrm>
            <a:off x="762000" y="1600200"/>
            <a:ext cx="76200" cy="11176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8CFD050-5A0B-216B-BA30-D432924AB965}"/>
              </a:ext>
            </a:extLst>
          </p:cNvPr>
          <p:cNvSpPr txBox="1"/>
          <p:nvPr/>
        </p:nvSpPr>
        <p:spPr>
          <a:xfrm>
            <a:off x="965200" y="1727200"/>
            <a:ext cx="203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1 </a:t>
            </a:r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输入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2431A4F-C256-AB17-4B8A-616FDD605253}"/>
              </a:ext>
            </a:extLst>
          </p:cNvPr>
          <p:cNvSpPr txBox="1"/>
          <p:nvPr/>
        </p:nvSpPr>
        <p:spPr>
          <a:xfrm>
            <a:off x="965200" y="2133600"/>
            <a:ext cx="2057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文字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语音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示例按钮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B197523-A0D3-8E6B-BB93-FB3C277F9FAD}"/>
              </a:ext>
            </a:extLst>
          </p:cNvPr>
          <p:cNvSpPr/>
          <p:nvPr/>
        </p:nvSpPr>
        <p:spPr>
          <a:xfrm>
            <a:off x="3556000" y="1600200"/>
            <a:ext cx="2413000" cy="1117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B3DEEAF-2273-A004-FAC3-32B8189FDE7B}"/>
              </a:ext>
            </a:extLst>
          </p:cNvPr>
          <p:cNvSpPr/>
          <p:nvPr/>
        </p:nvSpPr>
        <p:spPr>
          <a:xfrm>
            <a:off x="3556000" y="1600200"/>
            <a:ext cx="76200" cy="1117600"/>
          </a:xfrm>
          <a:prstGeom prst="rect">
            <a:avLst/>
          </a:prstGeom>
          <a:solidFill>
            <a:srgbClr val="488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F3DFF47-4D46-94C2-6B4C-6FF9B8B8521E}"/>
              </a:ext>
            </a:extLst>
          </p:cNvPr>
          <p:cNvSpPr txBox="1"/>
          <p:nvPr/>
        </p:nvSpPr>
        <p:spPr>
          <a:xfrm>
            <a:off x="3759200" y="1727200"/>
            <a:ext cx="203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2 </a:t>
            </a:r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识别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252ECB0-E875-8513-C448-55D5AA0317D3}"/>
              </a:ext>
            </a:extLst>
          </p:cNvPr>
          <p:cNvSpPr txBox="1"/>
          <p:nvPr/>
        </p:nvSpPr>
        <p:spPr>
          <a:xfrm>
            <a:off x="3759200" y="2133600"/>
            <a:ext cx="2057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意图判断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模式路由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E2794C1-659B-A36F-7D6A-6AD398C272F2}"/>
              </a:ext>
            </a:extLst>
          </p:cNvPr>
          <p:cNvSpPr/>
          <p:nvPr/>
        </p:nvSpPr>
        <p:spPr>
          <a:xfrm>
            <a:off x="6350000" y="1600200"/>
            <a:ext cx="2413000" cy="1117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CA809B-3274-2364-815C-CC38F1D9FCD1}"/>
              </a:ext>
            </a:extLst>
          </p:cNvPr>
          <p:cNvSpPr/>
          <p:nvPr/>
        </p:nvSpPr>
        <p:spPr>
          <a:xfrm>
            <a:off x="6350000" y="1600200"/>
            <a:ext cx="76200" cy="11176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73D6AD0-95B2-D839-82B2-31DF2C17CE32}"/>
              </a:ext>
            </a:extLst>
          </p:cNvPr>
          <p:cNvSpPr txBox="1"/>
          <p:nvPr/>
        </p:nvSpPr>
        <p:spPr>
          <a:xfrm>
            <a:off x="6553200" y="1727200"/>
            <a:ext cx="203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3 </a:t>
            </a:r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调用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1872F6A-C514-16E1-1BFD-1AFA2B97C12E}"/>
              </a:ext>
            </a:extLst>
          </p:cNvPr>
          <p:cNvSpPr txBox="1"/>
          <p:nvPr/>
        </p:nvSpPr>
        <p:spPr>
          <a:xfrm>
            <a:off x="6553200" y="2133600"/>
            <a:ext cx="2057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AI 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天气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音乐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图片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应用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E52EFFB-40A6-5300-72CE-623D5A1E9E46}"/>
              </a:ext>
            </a:extLst>
          </p:cNvPr>
          <p:cNvSpPr/>
          <p:nvPr/>
        </p:nvSpPr>
        <p:spPr>
          <a:xfrm>
            <a:off x="9144000" y="1600200"/>
            <a:ext cx="2413000" cy="1117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5EE176C-80C2-E786-AD27-588006DA9DB1}"/>
              </a:ext>
            </a:extLst>
          </p:cNvPr>
          <p:cNvSpPr/>
          <p:nvPr/>
        </p:nvSpPr>
        <p:spPr>
          <a:xfrm>
            <a:off x="9144000" y="1600200"/>
            <a:ext cx="76200" cy="11176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B44EC0C-859A-1382-1027-3EFA9F57502B}"/>
              </a:ext>
            </a:extLst>
          </p:cNvPr>
          <p:cNvSpPr txBox="1"/>
          <p:nvPr/>
        </p:nvSpPr>
        <p:spPr>
          <a:xfrm>
            <a:off x="9347200" y="1727200"/>
            <a:ext cx="203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4 </a:t>
            </a:r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展示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CBD6D8D-CF61-B5E9-C30B-2043C739A597}"/>
              </a:ext>
            </a:extLst>
          </p:cNvPr>
          <p:cNvSpPr txBox="1"/>
          <p:nvPr/>
        </p:nvSpPr>
        <p:spPr>
          <a:xfrm>
            <a:off x="9347200" y="2133600"/>
            <a:ext cx="2057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卡片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朗读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日志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240CD46-7142-8014-5867-65A8E6C1D24C}"/>
              </a:ext>
            </a:extLst>
          </p:cNvPr>
          <p:cNvSpPr/>
          <p:nvPr/>
        </p:nvSpPr>
        <p:spPr>
          <a:xfrm>
            <a:off x="1016000" y="3403600"/>
            <a:ext cx="2159000" cy="939800"/>
          </a:xfrm>
          <a:prstGeom prst="roundRect">
            <a:avLst/>
          </a:prstGeom>
          <a:solidFill>
            <a:srgbClr val="1F2C56"/>
          </a:solidFill>
          <a:ln>
            <a:solidFill>
              <a:srgbClr val="3AD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461B0BD-8AF8-DF34-D837-C7289351DE62}"/>
              </a:ext>
            </a:extLst>
          </p:cNvPr>
          <p:cNvSpPr txBox="1"/>
          <p:nvPr/>
        </p:nvSpPr>
        <p:spPr>
          <a:xfrm>
            <a:off x="1117600" y="3505200"/>
            <a:ext cx="19558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3ADCFF"/>
                </a:solidFill>
                <a:latin typeface="Microsoft YaHei" panose="020B0503020204020204" pitchFamily="34" charset="-122"/>
              </a:rPr>
              <a:t>12+</a:t>
            </a:r>
            <a:endParaRPr lang="zh-CN" altLang="en-US" sz="20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EA3C180-AF4B-16E9-7383-749DD91707EB}"/>
              </a:ext>
            </a:extLst>
          </p:cNvPr>
          <p:cNvSpPr txBox="1"/>
          <p:nvPr/>
        </p:nvSpPr>
        <p:spPr>
          <a:xfrm>
            <a:off x="1117600" y="3975100"/>
            <a:ext cx="1955800" cy="2200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30">
                <a:solidFill>
                  <a:srgbClr val="B2C0E1"/>
                </a:solidFill>
                <a:latin typeface="Microsoft YaHei" panose="020B0503020204020204" pitchFamily="34" charset="-122"/>
              </a:rPr>
              <a:t>核心功能点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134D04C-DCEC-655F-EFAE-B956A3421AD1}"/>
              </a:ext>
            </a:extLst>
          </p:cNvPr>
          <p:cNvSpPr/>
          <p:nvPr/>
        </p:nvSpPr>
        <p:spPr>
          <a:xfrm>
            <a:off x="3619500" y="3403600"/>
            <a:ext cx="2159000" cy="939800"/>
          </a:xfrm>
          <a:prstGeom prst="roundRect">
            <a:avLst/>
          </a:prstGeom>
          <a:solidFill>
            <a:srgbClr val="1F2C56"/>
          </a:solidFill>
          <a:ln>
            <a:solidFill>
              <a:srgbClr val="4CE6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3C6A1E3-13F3-B7D9-0E12-A029DE9BA121}"/>
              </a:ext>
            </a:extLst>
          </p:cNvPr>
          <p:cNvSpPr txBox="1"/>
          <p:nvPr/>
        </p:nvSpPr>
        <p:spPr>
          <a:xfrm>
            <a:off x="3721100" y="3505200"/>
            <a:ext cx="19558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4CE6AA"/>
                </a:solidFill>
                <a:latin typeface="Microsoft YaHei" panose="020B0503020204020204" pitchFamily="34" charset="-122"/>
              </a:rPr>
              <a:t>3</a:t>
            </a:r>
            <a:endParaRPr lang="zh-CN" altLang="en-US" sz="2000" b="1">
              <a:solidFill>
                <a:srgbClr val="4CE6A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3A4E85-B355-DEF2-0E60-3524C6FAAF05}"/>
              </a:ext>
            </a:extLst>
          </p:cNvPr>
          <p:cNvSpPr txBox="1"/>
          <p:nvPr/>
        </p:nvSpPr>
        <p:spPr>
          <a:xfrm>
            <a:off x="3721100" y="3975100"/>
            <a:ext cx="1955800" cy="2200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30">
                <a:solidFill>
                  <a:srgbClr val="B2C0E1"/>
                </a:solidFill>
                <a:latin typeface="Microsoft YaHei" panose="020B0503020204020204" pitchFamily="34" charset="-122"/>
              </a:rPr>
              <a:t>核心后端接口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A0C3C61-A89C-96B2-08F7-3577DD1D5858}"/>
              </a:ext>
            </a:extLst>
          </p:cNvPr>
          <p:cNvSpPr/>
          <p:nvPr/>
        </p:nvSpPr>
        <p:spPr>
          <a:xfrm>
            <a:off x="6223000" y="3403600"/>
            <a:ext cx="2159000" cy="939800"/>
          </a:xfrm>
          <a:prstGeom prst="roundRect">
            <a:avLst/>
          </a:prstGeom>
          <a:solidFill>
            <a:srgbClr val="1F2C56"/>
          </a:solidFill>
          <a:ln>
            <a:solidFill>
              <a:srgbClr val="9B5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96D3B0B-EEFB-0A0B-52E1-DB60975C4CAD}"/>
              </a:ext>
            </a:extLst>
          </p:cNvPr>
          <p:cNvSpPr txBox="1"/>
          <p:nvPr/>
        </p:nvSpPr>
        <p:spPr>
          <a:xfrm>
            <a:off x="6324600" y="3505200"/>
            <a:ext cx="19558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9B5CFF"/>
                </a:solidFill>
                <a:latin typeface="Microsoft YaHei" panose="020B0503020204020204" pitchFamily="34" charset="-122"/>
              </a:rPr>
              <a:t>10+</a:t>
            </a:r>
            <a:endParaRPr lang="zh-CN" altLang="en-US" sz="2000" b="1">
              <a:solidFill>
                <a:srgbClr val="9B5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83366D7-0568-F3F0-FE65-E158AED0BB08}"/>
              </a:ext>
            </a:extLst>
          </p:cNvPr>
          <p:cNvSpPr txBox="1"/>
          <p:nvPr/>
        </p:nvSpPr>
        <p:spPr>
          <a:xfrm>
            <a:off x="6324600" y="3975100"/>
            <a:ext cx="1955800" cy="2200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30">
                <a:solidFill>
                  <a:srgbClr val="B2C0E1"/>
                </a:solidFill>
                <a:latin typeface="Microsoft YaHei" panose="020B0503020204020204" pitchFamily="34" charset="-122"/>
              </a:rPr>
              <a:t>前端组件模块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F2032B3-EA93-B85C-9708-135D9BC0212C}"/>
              </a:ext>
            </a:extLst>
          </p:cNvPr>
          <p:cNvSpPr/>
          <p:nvPr/>
        </p:nvSpPr>
        <p:spPr>
          <a:xfrm>
            <a:off x="8826500" y="3403600"/>
            <a:ext cx="2159000" cy="939800"/>
          </a:xfrm>
          <a:prstGeom prst="roundRect">
            <a:avLst/>
          </a:prstGeom>
          <a:solidFill>
            <a:srgbClr val="1F2C56"/>
          </a:solidFill>
          <a:ln>
            <a:solidFill>
              <a:srgbClr val="FFB4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2DA0608-0F4C-E1FC-C712-0BF63189D517}"/>
              </a:ext>
            </a:extLst>
          </p:cNvPr>
          <p:cNvSpPr txBox="1"/>
          <p:nvPr/>
        </p:nvSpPr>
        <p:spPr>
          <a:xfrm>
            <a:off x="8928100" y="3505200"/>
            <a:ext cx="19558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FFB45A"/>
                </a:solidFill>
                <a:latin typeface="Microsoft YaHei" panose="020B0503020204020204" pitchFamily="34" charset="-122"/>
              </a:rPr>
              <a:t>12</a:t>
            </a:r>
            <a:endParaRPr lang="zh-CN" altLang="en-US" sz="2000" b="1">
              <a:solidFill>
                <a:srgbClr val="FFB45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2E29CBB-3289-1C8E-8B97-DBD968D77505}"/>
              </a:ext>
            </a:extLst>
          </p:cNvPr>
          <p:cNvSpPr txBox="1"/>
          <p:nvPr/>
        </p:nvSpPr>
        <p:spPr>
          <a:xfrm>
            <a:off x="8928100" y="3975100"/>
            <a:ext cx="1955800" cy="2200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30">
                <a:solidFill>
                  <a:srgbClr val="B2C0E1"/>
                </a:solidFill>
                <a:latin typeface="Microsoft YaHei" panose="020B0503020204020204" pitchFamily="34" charset="-122"/>
              </a:rPr>
              <a:t>上下文消息保留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2D208EAC-B1E8-222B-5A6F-D47B96625360}"/>
              </a:ext>
            </a:extLst>
          </p:cNvPr>
          <p:cNvSpPr/>
          <p:nvPr/>
        </p:nvSpPr>
        <p:spPr>
          <a:xfrm>
            <a:off x="1143000" y="4953000"/>
            <a:ext cx="3111500" cy="9398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5471372-6FD5-129A-A815-5D9B04D0831C}"/>
              </a:ext>
            </a:extLst>
          </p:cNvPr>
          <p:cNvSpPr/>
          <p:nvPr/>
        </p:nvSpPr>
        <p:spPr>
          <a:xfrm>
            <a:off x="1143000" y="4953000"/>
            <a:ext cx="76200" cy="939800"/>
          </a:xfrm>
          <a:prstGeom prst="rect">
            <a:avLst/>
          </a:prstGeom>
          <a:solidFill>
            <a:srgbClr val="488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22729C1-B314-08FD-5943-D1C0C9CB89F7}"/>
              </a:ext>
            </a:extLst>
          </p:cNvPr>
          <p:cNvSpPr txBox="1"/>
          <p:nvPr/>
        </p:nvSpPr>
        <p:spPr>
          <a:xfrm>
            <a:off x="1346200" y="5080000"/>
            <a:ext cx="27305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前端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EBBC3B8-DFF9-34B1-ED14-BB85563FB5D5}"/>
              </a:ext>
            </a:extLst>
          </p:cNvPr>
          <p:cNvSpPr txBox="1"/>
          <p:nvPr/>
        </p:nvSpPr>
        <p:spPr>
          <a:xfrm>
            <a:off x="1346200" y="5486400"/>
            <a:ext cx="27559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React + Vite +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组件化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+ localStorage</a:t>
            </a:r>
            <a:endParaRPr lang="zh-CN" altLang="en-US" sz="930">
              <a:solidFill>
                <a:srgbClr val="B2C0E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23131699-FA51-F0D1-E2F6-B01567AF0986}"/>
              </a:ext>
            </a:extLst>
          </p:cNvPr>
          <p:cNvSpPr/>
          <p:nvPr/>
        </p:nvSpPr>
        <p:spPr>
          <a:xfrm>
            <a:off x="4546600" y="4953000"/>
            <a:ext cx="3111500" cy="9398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25A2571-5139-56AE-0EF0-96C89B86E330}"/>
              </a:ext>
            </a:extLst>
          </p:cNvPr>
          <p:cNvSpPr/>
          <p:nvPr/>
        </p:nvSpPr>
        <p:spPr>
          <a:xfrm>
            <a:off x="4546600" y="4953000"/>
            <a:ext cx="76200" cy="9398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63E6E43-4F10-3F8C-F478-7E884A128E5D}"/>
              </a:ext>
            </a:extLst>
          </p:cNvPr>
          <p:cNvSpPr txBox="1"/>
          <p:nvPr/>
        </p:nvSpPr>
        <p:spPr>
          <a:xfrm>
            <a:off x="4749800" y="5080000"/>
            <a:ext cx="27305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后端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1540A85-763C-C059-A9B1-D13CD39189CA}"/>
              </a:ext>
            </a:extLst>
          </p:cNvPr>
          <p:cNvSpPr txBox="1"/>
          <p:nvPr/>
        </p:nvSpPr>
        <p:spPr>
          <a:xfrm>
            <a:off x="4749800" y="5486400"/>
            <a:ext cx="27559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Flask +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统一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API +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第三方服务编排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45F4C879-5011-8598-4A05-2B18199E51D0}"/>
              </a:ext>
            </a:extLst>
          </p:cNvPr>
          <p:cNvSpPr/>
          <p:nvPr/>
        </p:nvSpPr>
        <p:spPr>
          <a:xfrm>
            <a:off x="7950200" y="4953000"/>
            <a:ext cx="3111500" cy="9398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C43DB42-16FF-6BA3-FFC2-C2AD7FA7E93C}"/>
              </a:ext>
            </a:extLst>
          </p:cNvPr>
          <p:cNvSpPr/>
          <p:nvPr/>
        </p:nvSpPr>
        <p:spPr>
          <a:xfrm>
            <a:off x="7950200" y="4953000"/>
            <a:ext cx="76200" cy="9398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E8BED91-4D45-F859-E852-E23E1102779B}"/>
              </a:ext>
            </a:extLst>
          </p:cNvPr>
          <p:cNvSpPr txBox="1"/>
          <p:nvPr/>
        </p:nvSpPr>
        <p:spPr>
          <a:xfrm>
            <a:off x="8153400" y="5080000"/>
            <a:ext cx="27305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AI</a:t>
            </a:r>
            <a:endParaRPr lang="zh-CN" altLang="en-US" sz="1150" b="1">
              <a:solidFill>
                <a:srgbClr val="F6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EA3D2EE-A7EF-2388-B347-EA00BE16B1D7}"/>
              </a:ext>
            </a:extLst>
          </p:cNvPr>
          <p:cNvSpPr txBox="1"/>
          <p:nvPr/>
        </p:nvSpPr>
        <p:spPr>
          <a:xfrm>
            <a:off x="8153400" y="5486400"/>
            <a:ext cx="27559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DashScope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对话模型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文生图任务</a:t>
            </a:r>
          </a:p>
        </p:txBody>
      </p:sp>
    </p:spTree>
    <p:extLst>
      <p:ext uri="{BB962C8B-B14F-4D97-AF65-F5344CB8AC3E}">
        <p14:creationId xmlns:p14="http://schemas.microsoft.com/office/powerpoint/2010/main" val="609304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7671C859-42C7-6D8E-78B3-3148A664FE29}"/>
              </a:ext>
            </a:extLst>
          </p:cNvPr>
          <p:cNvSpPr/>
          <p:nvPr/>
        </p:nvSpPr>
        <p:spPr>
          <a:xfrm>
            <a:off x="914400" y="1778000"/>
            <a:ext cx="3111500" cy="1244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7E36170-D9C8-564E-A784-89D5F36B5200}"/>
              </a:ext>
            </a:extLst>
          </p:cNvPr>
          <p:cNvSpPr/>
          <p:nvPr/>
        </p:nvSpPr>
        <p:spPr>
          <a:xfrm>
            <a:off x="914400" y="1778000"/>
            <a:ext cx="76200" cy="12446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3A1371-1B91-F955-0746-24185165A9C7}"/>
              </a:ext>
            </a:extLst>
          </p:cNvPr>
          <p:cNvSpPr txBox="1"/>
          <p:nvPr/>
        </p:nvSpPr>
        <p:spPr>
          <a:xfrm>
            <a:off x="1117600" y="1905000"/>
            <a:ext cx="27305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输入层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00298F0-C4A7-BBF3-71FA-7809C0C3A163}"/>
              </a:ext>
            </a:extLst>
          </p:cNvPr>
          <p:cNvSpPr txBox="1"/>
          <p:nvPr/>
        </p:nvSpPr>
        <p:spPr>
          <a:xfrm>
            <a:off x="1117600" y="2311400"/>
            <a:ext cx="27559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文字输入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语音识别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唤醒词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9EA8448-A940-0DB0-5FF6-E131896534B2}"/>
              </a:ext>
            </a:extLst>
          </p:cNvPr>
          <p:cNvSpPr/>
          <p:nvPr/>
        </p:nvSpPr>
        <p:spPr>
          <a:xfrm>
            <a:off x="4546600" y="1778000"/>
            <a:ext cx="3111500" cy="1244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4935A66-543A-2B91-9F90-8E6DE45D9FE4}"/>
              </a:ext>
            </a:extLst>
          </p:cNvPr>
          <p:cNvSpPr/>
          <p:nvPr/>
        </p:nvSpPr>
        <p:spPr>
          <a:xfrm>
            <a:off x="4546600" y="1778000"/>
            <a:ext cx="76200" cy="1244600"/>
          </a:xfrm>
          <a:prstGeom prst="rect">
            <a:avLst/>
          </a:prstGeom>
          <a:solidFill>
            <a:srgbClr val="488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4634DE5-05ED-E157-95EA-D1A889C3BDF8}"/>
              </a:ext>
            </a:extLst>
          </p:cNvPr>
          <p:cNvSpPr txBox="1"/>
          <p:nvPr/>
        </p:nvSpPr>
        <p:spPr>
          <a:xfrm>
            <a:off x="4749800" y="1905000"/>
            <a:ext cx="27305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理解层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6734097-5B77-D7FD-C6EB-CAEF0AE656AF}"/>
              </a:ext>
            </a:extLst>
          </p:cNvPr>
          <p:cNvSpPr txBox="1"/>
          <p:nvPr/>
        </p:nvSpPr>
        <p:spPr>
          <a:xfrm>
            <a:off x="4749800" y="2311400"/>
            <a:ext cx="27559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意图识别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多轮上下文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模式判断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A4A9B3E-9B4A-9892-9FF3-F048A2AACD0C}"/>
              </a:ext>
            </a:extLst>
          </p:cNvPr>
          <p:cNvSpPr/>
          <p:nvPr/>
        </p:nvSpPr>
        <p:spPr>
          <a:xfrm>
            <a:off x="8178800" y="1778000"/>
            <a:ext cx="3111500" cy="1244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A1FEECD-59AF-FC09-B9EA-9D5ADA509D86}"/>
              </a:ext>
            </a:extLst>
          </p:cNvPr>
          <p:cNvSpPr/>
          <p:nvPr/>
        </p:nvSpPr>
        <p:spPr>
          <a:xfrm>
            <a:off x="8178800" y="1778000"/>
            <a:ext cx="76200" cy="12446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5BD10BB-E0A1-DD9E-1853-E5F5EFA25948}"/>
              </a:ext>
            </a:extLst>
          </p:cNvPr>
          <p:cNvSpPr txBox="1"/>
          <p:nvPr/>
        </p:nvSpPr>
        <p:spPr>
          <a:xfrm>
            <a:off x="8382000" y="1905000"/>
            <a:ext cx="27305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能力层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08CDC9-CE5B-474F-3519-BFA3F4510A86}"/>
              </a:ext>
            </a:extLst>
          </p:cNvPr>
          <p:cNvSpPr txBox="1"/>
          <p:nvPr/>
        </p:nvSpPr>
        <p:spPr>
          <a:xfrm>
            <a:off x="8382000" y="2311400"/>
            <a:ext cx="27559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对话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天气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音乐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文生图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翻译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应用启动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3F9E15C-F213-85A6-A28E-6A2D2B59C39C}"/>
              </a:ext>
            </a:extLst>
          </p:cNvPr>
          <p:cNvSpPr/>
          <p:nvPr/>
        </p:nvSpPr>
        <p:spPr>
          <a:xfrm>
            <a:off x="914400" y="3619500"/>
            <a:ext cx="3111500" cy="1244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2AE2586-5315-A09E-96B2-778C44ABBD7A}"/>
              </a:ext>
            </a:extLst>
          </p:cNvPr>
          <p:cNvSpPr/>
          <p:nvPr/>
        </p:nvSpPr>
        <p:spPr>
          <a:xfrm>
            <a:off x="914400" y="3619500"/>
            <a:ext cx="76200" cy="12446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B57B68A-68E0-A631-98AA-A9A64165C520}"/>
              </a:ext>
            </a:extLst>
          </p:cNvPr>
          <p:cNvSpPr txBox="1"/>
          <p:nvPr/>
        </p:nvSpPr>
        <p:spPr>
          <a:xfrm>
            <a:off x="1117600" y="3746500"/>
            <a:ext cx="27305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反馈层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CA6ABB2-2736-BB70-EB2A-6A4ADBDF4ED3}"/>
              </a:ext>
            </a:extLst>
          </p:cNvPr>
          <p:cNvSpPr txBox="1"/>
          <p:nvPr/>
        </p:nvSpPr>
        <p:spPr>
          <a:xfrm>
            <a:off x="1117600" y="4152900"/>
            <a:ext cx="27559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卡片展示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播放器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图片预览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日志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朗读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8C38601-813E-312B-7EDF-368EFFD376CE}"/>
              </a:ext>
            </a:extLst>
          </p:cNvPr>
          <p:cNvSpPr/>
          <p:nvPr/>
        </p:nvSpPr>
        <p:spPr>
          <a:xfrm>
            <a:off x="4546600" y="3619500"/>
            <a:ext cx="3111500" cy="1244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3B22841-D030-74AB-86DA-0A66BF3D931E}"/>
              </a:ext>
            </a:extLst>
          </p:cNvPr>
          <p:cNvSpPr/>
          <p:nvPr/>
        </p:nvSpPr>
        <p:spPr>
          <a:xfrm>
            <a:off x="4546600" y="3619500"/>
            <a:ext cx="76200" cy="1244600"/>
          </a:xfrm>
          <a:prstGeom prst="rect">
            <a:avLst/>
          </a:prstGeom>
          <a:solidFill>
            <a:srgbClr val="FFB4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88061BE-9024-1BE3-A581-2FEEB8A87325}"/>
              </a:ext>
            </a:extLst>
          </p:cNvPr>
          <p:cNvSpPr txBox="1"/>
          <p:nvPr/>
        </p:nvSpPr>
        <p:spPr>
          <a:xfrm>
            <a:off x="4749800" y="3746500"/>
            <a:ext cx="27305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安全层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4D7AE83-0B2A-AD65-30C8-22F3133ED4D9}"/>
              </a:ext>
            </a:extLst>
          </p:cNvPr>
          <p:cNvSpPr txBox="1"/>
          <p:nvPr/>
        </p:nvSpPr>
        <p:spPr>
          <a:xfrm>
            <a:off x="4749800" y="4152900"/>
            <a:ext cx="27559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API Key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后端托管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应用白名单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异常兜底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A5A4AFE-3D2A-08BD-981C-133AF7A85C33}"/>
              </a:ext>
            </a:extLst>
          </p:cNvPr>
          <p:cNvSpPr/>
          <p:nvPr/>
        </p:nvSpPr>
        <p:spPr>
          <a:xfrm>
            <a:off x="8178800" y="3619500"/>
            <a:ext cx="3111500" cy="1244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F2A529A-9028-DE26-1A3F-4B4430540E9F}"/>
              </a:ext>
            </a:extLst>
          </p:cNvPr>
          <p:cNvSpPr/>
          <p:nvPr/>
        </p:nvSpPr>
        <p:spPr>
          <a:xfrm>
            <a:off x="8178800" y="3619500"/>
            <a:ext cx="76200" cy="1244600"/>
          </a:xfrm>
          <a:prstGeom prst="rect">
            <a:avLst/>
          </a:prstGeom>
          <a:solidFill>
            <a:srgbClr val="FF5CB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B607EF7-E2C5-B0E1-9283-E1F3BB579852}"/>
              </a:ext>
            </a:extLst>
          </p:cNvPr>
          <p:cNvSpPr txBox="1"/>
          <p:nvPr/>
        </p:nvSpPr>
        <p:spPr>
          <a:xfrm>
            <a:off x="8382000" y="3746500"/>
            <a:ext cx="27305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扩展层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5D8A21A-5007-8ED9-ABA1-F66EB7C4087A}"/>
              </a:ext>
            </a:extLst>
          </p:cNvPr>
          <p:cNvSpPr txBox="1"/>
          <p:nvPr/>
        </p:nvSpPr>
        <p:spPr>
          <a:xfrm>
            <a:off x="8382000" y="4152900"/>
            <a:ext cx="27559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模块化服务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可接入日程、搜索、知识库</a:t>
            </a:r>
          </a:p>
        </p:txBody>
      </p:sp>
    </p:spTree>
    <p:extLst>
      <p:ext uri="{BB962C8B-B14F-4D97-AF65-F5344CB8AC3E}">
        <p14:creationId xmlns:p14="http://schemas.microsoft.com/office/powerpoint/2010/main" val="3217968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B47AF20F-A84D-4E5B-64BA-12CE5522DA79}"/>
              </a:ext>
            </a:extLst>
          </p:cNvPr>
          <p:cNvSpPr/>
          <p:nvPr/>
        </p:nvSpPr>
        <p:spPr>
          <a:xfrm>
            <a:off x="698500" y="1651000"/>
            <a:ext cx="2413000" cy="3429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528CE21-54C5-DBB3-CCC2-2D4F8CB1AF44}"/>
              </a:ext>
            </a:extLst>
          </p:cNvPr>
          <p:cNvSpPr/>
          <p:nvPr/>
        </p:nvSpPr>
        <p:spPr>
          <a:xfrm>
            <a:off x="698500" y="1651000"/>
            <a:ext cx="76200" cy="34290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57DDE86-F11D-5B2C-02BB-B9AFACFFB6A1}"/>
              </a:ext>
            </a:extLst>
          </p:cNvPr>
          <p:cNvSpPr txBox="1"/>
          <p:nvPr/>
        </p:nvSpPr>
        <p:spPr>
          <a:xfrm>
            <a:off x="901700" y="1778000"/>
            <a:ext cx="203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用户交互层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FDE3172-E7B0-E8E6-E817-AC0F3065C2C1}"/>
              </a:ext>
            </a:extLst>
          </p:cNvPr>
          <p:cNvSpPr txBox="1"/>
          <p:nvPr/>
        </p:nvSpPr>
        <p:spPr>
          <a:xfrm>
            <a:off x="901700" y="2184400"/>
            <a:ext cx="2057400" cy="80791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文字输入
语音识别
唤醒词
示例指令
划词工具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6314914-1C4D-45AE-7AD0-475000192947}"/>
              </a:ext>
            </a:extLst>
          </p:cNvPr>
          <p:cNvSpPr/>
          <p:nvPr/>
        </p:nvSpPr>
        <p:spPr>
          <a:xfrm>
            <a:off x="3530600" y="1651000"/>
            <a:ext cx="2413000" cy="3429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D87CD41-7EBE-42DC-A3D3-129680435247}"/>
              </a:ext>
            </a:extLst>
          </p:cNvPr>
          <p:cNvSpPr/>
          <p:nvPr/>
        </p:nvSpPr>
        <p:spPr>
          <a:xfrm>
            <a:off x="3530600" y="1651000"/>
            <a:ext cx="76200" cy="3429000"/>
          </a:xfrm>
          <a:prstGeom prst="rect">
            <a:avLst/>
          </a:prstGeom>
          <a:solidFill>
            <a:srgbClr val="488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6A398DF-D2E7-FB23-00F8-8AC9FFDCEDCE}"/>
              </a:ext>
            </a:extLst>
          </p:cNvPr>
          <p:cNvSpPr txBox="1"/>
          <p:nvPr/>
        </p:nvSpPr>
        <p:spPr>
          <a:xfrm>
            <a:off x="3733800" y="1778000"/>
            <a:ext cx="203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前端展示层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7741B4E-C93E-27C5-470A-383786D4FE5E}"/>
              </a:ext>
            </a:extLst>
          </p:cNvPr>
          <p:cNvSpPr txBox="1"/>
          <p:nvPr/>
        </p:nvSpPr>
        <p:spPr>
          <a:xfrm>
            <a:off x="3733800" y="2184400"/>
            <a:ext cx="2057400" cy="80791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ChatPanel
WeatherCard
MusicPlayer
ImagePreview
LogPanel</a:t>
            </a:r>
            <a:endParaRPr lang="zh-CN" altLang="en-US" sz="930">
              <a:solidFill>
                <a:srgbClr val="B2C0E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CF2016D-E35B-D45D-3047-BC586A2C822A}"/>
              </a:ext>
            </a:extLst>
          </p:cNvPr>
          <p:cNvSpPr/>
          <p:nvPr/>
        </p:nvSpPr>
        <p:spPr>
          <a:xfrm>
            <a:off x="6362700" y="1651000"/>
            <a:ext cx="2413000" cy="3429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B2A8F6E-A2E7-ACAE-8ABD-FB0E9CA7B5B2}"/>
              </a:ext>
            </a:extLst>
          </p:cNvPr>
          <p:cNvSpPr/>
          <p:nvPr/>
        </p:nvSpPr>
        <p:spPr>
          <a:xfrm>
            <a:off x="6362700" y="1651000"/>
            <a:ext cx="76200" cy="34290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73C2D6A-5406-135B-5CF1-2090C161D6DF}"/>
              </a:ext>
            </a:extLst>
          </p:cNvPr>
          <p:cNvSpPr txBox="1"/>
          <p:nvPr/>
        </p:nvSpPr>
        <p:spPr>
          <a:xfrm>
            <a:off x="6565900" y="1778000"/>
            <a:ext cx="203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后端调度层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3F679B5-5BF2-08A3-65A8-8625CE4DFA7D}"/>
              </a:ext>
            </a:extLst>
          </p:cNvPr>
          <p:cNvSpPr txBox="1"/>
          <p:nvPr/>
        </p:nvSpPr>
        <p:spPr>
          <a:xfrm>
            <a:off x="6565900" y="2184400"/>
            <a:ext cx="2057400" cy="80791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Flask API
parse_command
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意图路由
上下文管理
白名单启动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3D02637-8A22-69E9-B18A-CBA89CB4AE74}"/>
              </a:ext>
            </a:extLst>
          </p:cNvPr>
          <p:cNvSpPr/>
          <p:nvPr/>
        </p:nvSpPr>
        <p:spPr>
          <a:xfrm>
            <a:off x="9194800" y="1651000"/>
            <a:ext cx="2413000" cy="3429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6CDACB2-B5BD-ECD4-2F55-F6CEB8A60DA8}"/>
              </a:ext>
            </a:extLst>
          </p:cNvPr>
          <p:cNvSpPr/>
          <p:nvPr/>
        </p:nvSpPr>
        <p:spPr>
          <a:xfrm>
            <a:off x="9194800" y="1651000"/>
            <a:ext cx="76200" cy="34290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1761710-8A09-14B2-35AB-1B6AD487F933}"/>
              </a:ext>
            </a:extLst>
          </p:cNvPr>
          <p:cNvSpPr txBox="1"/>
          <p:nvPr/>
        </p:nvSpPr>
        <p:spPr>
          <a:xfrm>
            <a:off x="9398000" y="1778000"/>
            <a:ext cx="203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外部能力层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5A8FB7B-5F0D-DD41-5FA6-D15E3F395165}"/>
              </a:ext>
            </a:extLst>
          </p:cNvPr>
          <p:cNvSpPr txBox="1"/>
          <p:nvPr/>
        </p:nvSpPr>
        <p:spPr>
          <a:xfrm>
            <a:off x="9398000" y="2184400"/>
            <a:ext cx="2057400" cy="80791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DashScope
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高德天气
网易云接口
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Windows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应用
浏览器语音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6090BBD-3B65-34B3-67C4-8B993BB5BB93}"/>
              </a:ext>
            </a:extLst>
          </p:cNvPr>
          <p:cNvSpPr txBox="1"/>
          <p:nvPr/>
        </p:nvSpPr>
        <p:spPr>
          <a:xfrm>
            <a:off x="1016000" y="5689600"/>
            <a:ext cx="1016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F6F8FF"/>
                </a:solidFill>
                <a:latin typeface="Microsoft YaHei" panose="020B0503020204020204" pitchFamily="34" charset="-122"/>
              </a:rPr>
              <a:t>统一返回 </a:t>
            </a:r>
            <a:r>
              <a:rPr lang="en-US" altLang="zh-CN" sz="1300" b="1">
                <a:solidFill>
                  <a:srgbClr val="F6F8FF"/>
                </a:solidFill>
                <a:latin typeface="Microsoft YaHei" panose="020B0503020204020204" pitchFamily="34" charset="-122"/>
              </a:rPr>
              <a:t>type </a:t>
            </a:r>
            <a:r>
              <a:rPr lang="zh-CN" altLang="en-US" sz="1300" b="1">
                <a:solidFill>
                  <a:srgbClr val="F6F8FF"/>
                </a:solidFill>
                <a:latin typeface="Microsoft YaHei" panose="020B0503020204020204" pitchFamily="34" charset="-122"/>
              </a:rPr>
              <a:t>字段，由前端根据 </a:t>
            </a:r>
            <a:r>
              <a:rPr lang="en-US" altLang="zh-CN" sz="1300" b="1">
                <a:solidFill>
                  <a:srgbClr val="F6F8FF"/>
                </a:solidFill>
                <a:latin typeface="Microsoft YaHei" panose="020B0503020204020204" pitchFamily="34" charset="-122"/>
              </a:rPr>
              <a:t>type </a:t>
            </a:r>
            <a:r>
              <a:rPr lang="zh-CN" altLang="en-US" sz="1300" b="1">
                <a:solidFill>
                  <a:srgbClr val="F6F8FF"/>
                </a:solidFill>
                <a:latin typeface="Microsoft YaHei" panose="020B0503020204020204" pitchFamily="34" charset="-122"/>
              </a:rPr>
              <a:t>切换聊天、天气、音乐、图片等展示组件。</a:t>
            </a:r>
          </a:p>
        </p:txBody>
      </p:sp>
    </p:spTree>
    <p:extLst>
      <p:ext uri="{BB962C8B-B14F-4D97-AF65-F5344CB8AC3E}">
        <p14:creationId xmlns:p14="http://schemas.microsoft.com/office/powerpoint/2010/main" val="3615072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36AA2903-457C-E731-E3D6-9452DFCE2658}"/>
              </a:ext>
            </a:extLst>
          </p:cNvPr>
          <p:cNvSpPr/>
          <p:nvPr/>
        </p:nvSpPr>
        <p:spPr>
          <a:xfrm>
            <a:off x="762000" y="1600200"/>
            <a:ext cx="4953000" cy="990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87FC81-8CC7-B2DF-96DF-F8206C280C90}"/>
              </a:ext>
            </a:extLst>
          </p:cNvPr>
          <p:cNvSpPr/>
          <p:nvPr/>
        </p:nvSpPr>
        <p:spPr>
          <a:xfrm>
            <a:off x="762000" y="1600200"/>
            <a:ext cx="76200" cy="9906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0657778-D4B6-83E2-BF89-FBD1DA171CD3}"/>
              </a:ext>
            </a:extLst>
          </p:cNvPr>
          <p:cNvSpPr txBox="1"/>
          <p:nvPr/>
        </p:nvSpPr>
        <p:spPr>
          <a:xfrm>
            <a:off x="965200" y="1727200"/>
            <a:ext cx="457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多轮对话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5F21F3A-D9ED-3C89-7C51-0AE598FF5BBE}"/>
              </a:ext>
            </a:extLst>
          </p:cNvPr>
          <p:cNvSpPr txBox="1"/>
          <p:nvPr/>
        </p:nvSpPr>
        <p:spPr>
          <a:xfrm>
            <a:off x="965200" y="2133600"/>
            <a:ext cx="4597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能理解“这些美食在哪能吃到”这类连续追问。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7832F76-6864-270A-0063-B49D29A8ABC7}"/>
              </a:ext>
            </a:extLst>
          </p:cNvPr>
          <p:cNvSpPr/>
          <p:nvPr/>
        </p:nvSpPr>
        <p:spPr>
          <a:xfrm>
            <a:off x="6223000" y="1600200"/>
            <a:ext cx="4953000" cy="990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BB5282-99F5-7968-3156-68727D62C335}"/>
              </a:ext>
            </a:extLst>
          </p:cNvPr>
          <p:cNvSpPr/>
          <p:nvPr/>
        </p:nvSpPr>
        <p:spPr>
          <a:xfrm>
            <a:off x="6223000" y="1600200"/>
            <a:ext cx="76200" cy="990600"/>
          </a:xfrm>
          <a:prstGeom prst="rect">
            <a:avLst/>
          </a:prstGeom>
          <a:solidFill>
            <a:srgbClr val="488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82911B5-6891-4288-DF87-D5F6F25DDD12}"/>
              </a:ext>
            </a:extLst>
          </p:cNvPr>
          <p:cNvSpPr txBox="1"/>
          <p:nvPr/>
        </p:nvSpPr>
        <p:spPr>
          <a:xfrm>
            <a:off x="6426200" y="1727200"/>
            <a:ext cx="457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语音体验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2A2644C-228B-3AB2-631A-F48F7F199BD4}"/>
              </a:ext>
            </a:extLst>
          </p:cNvPr>
          <p:cNvSpPr txBox="1"/>
          <p:nvPr/>
        </p:nvSpPr>
        <p:spPr>
          <a:xfrm>
            <a:off x="6426200" y="2133600"/>
            <a:ext cx="4597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支持语音识别、唤醒词和回复朗读。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40C052E-1921-6336-2278-9BC1F0B1E26B}"/>
              </a:ext>
            </a:extLst>
          </p:cNvPr>
          <p:cNvSpPr/>
          <p:nvPr/>
        </p:nvSpPr>
        <p:spPr>
          <a:xfrm>
            <a:off x="762000" y="2933700"/>
            <a:ext cx="4953000" cy="990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D483D4A-C4C0-6A45-947B-E615C28C8047}"/>
              </a:ext>
            </a:extLst>
          </p:cNvPr>
          <p:cNvSpPr/>
          <p:nvPr/>
        </p:nvSpPr>
        <p:spPr>
          <a:xfrm>
            <a:off x="762000" y="2933700"/>
            <a:ext cx="76200" cy="9906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2F9C8A-1386-2E22-646F-A8B1C8E83524}"/>
              </a:ext>
            </a:extLst>
          </p:cNvPr>
          <p:cNvSpPr txBox="1"/>
          <p:nvPr/>
        </p:nvSpPr>
        <p:spPr>
          <a:xfrm>
            <a:off x="965200" y="3060700"/>
            <a:ext cx="457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创作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7BFBDE1-3AA0-F81C-BCA0-CBD0DAD1ED7A}"/>
              </a:ext>
            </a:extLst>
          </p:cNvPr>
          <p:cNvSpPr txBox="1"/>
          <p:nvPr/>
        </p:nvSpPr>
        <p:spPr>
          <a:xfrm>
            <a:off x="965200" y="3467100"/>
            <a:ext cx="4597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对话与文生图打通，支持文字生成图片。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085F914-06A1-9B69-2610-B8A91A1E68C6}"/>
              </a:ext>
            </a:extLst>
          </p:cNvPr>
          <p:cNvSpPr/>
          <p:nvPr/>
        </p:nvSpPr>
        <p:spPr>
          <a:xfrm>
            <a:off x="6223000" y="2933700"/>
            <a:ext cx="4953000" cy="990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7EF23E3-4680-1994-4759-364B1D943FF5}"/>
              </a:ext>
            </a:extLst>
          </p:cNvPr>
          <p:cNvSpPr/>
          <p:nvPr/>
        </p:nvSpPr>
        <p:spPr>
          <a:xfrm>
            <a:off x="6223000" y="2933700"/>
            <a:ext cx="76200" cy="9906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E2A2D80-E0E0-36E3-E1A1-56B88549BD7C}"/>
              </a:ext>
            </a:extLst>
          </p:cNvPr>
          <p:cNvSpPr txBox="1"/>
          <p:nvPr/>
        </p:nvSpPr>
        <p:spPr>
          <a:xfrm>
            <a:off x="6426200" y="3060700"/>
            <a:ext cx="457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异步反馈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EED9E28-07CC-777B-8B36-6F7C9B0D4EF2}"/>
              </a:ext>
            </a:extLst>
          </p:cNvPr>
          <p:cNvSpPr txBox="1"/>
          <p:nvPr/>
        </p:nvSpPr>
        <p:spPr>
          <a:xfrm>
            <a:off x="6426200" y="3467100"/>
            <a:ext cx="4597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图片生成采用任务轮询，减少等待焦虑。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0B77794-933E-8B9C-B0ED-D99968E028B5}"/>
              </a:ext>
            </a:extLst>
          </p:cNvPr>
          <p:cNvSpPr/>
          <p:nvPr/>
        </p:nvSpPr>
        <p:spPr>
          <a:xfrm>
            <a:off x="762000" y="4267200"/>
            <a:ext cx="4953000" cy="990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22B254F-92CE-2F1C-6EA1-2ACCD4D9DCB4}"/>
              </a:ext>
            </a:extLst>
          </p:cNvPr>
          <p:cNvSpPr/>
          <p:nvPr/>
        </p:nvSpPr>
        <p:spPr>
          <a:xfrm>
            <a:off x="762000" y="4267200"/>
            <a:ext cx="76200" cy="990600"/>
          </a:xfrm>
          <a:prstGeom prst="rect">
            <a:avLst/>
          </a:prstGeom>
          <a:solidFill>
            <a:srgbClr val="FFB4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13844BE-E68E-3DE8-6C0F-57C4B880F450}"/>
              </a:ext>
            </a:extLst>
          </p:cNvPr>
          <p:cNvSpPr txBox="1"/>
          <p:nvPr/>
        </p:nvSpPr>
        <p:spPr>
          <a:xfrm>
            <a:off x="965200" y="4394200"/>
            <a:ext cx="457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桌面控制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29D9BFD-7773-9A39-FD39-8BDD0DDFAFDF}"/>
              </a:ext>
            </a:extLst>
          </p:cNvPr>
          <p:cNvSpPr txBox="1"/>
          <p:nvPr/>
        </p:nvSpPr>
        <p:spPr>
          <a:xfrm>
            <a:off x="965200" y="4800600"/>
            <a:ext cx="4597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白名单方式打开本机应用，安全可控。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F426590-8A4A-9CFE-2076-DBEBF4EAFDAB}"/>
              </a:ext>
            </a:extLst>
          </p:cNvPr>
          <p:cNvSpPr/>
          <p:nvPr/>
        </p:nvSpPr>
        <p:spPr>
          <a:xfrm>
            <a:off x="6223000" y="4267200"/>
            <a:ext cx="4953000" cy="990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0C0EC1C-ADC6-C453-B0E8-F488FD03CE54}"/>
              </a:ext>
            </a:extLst>
          </p:cNvPr>
          <p:cNvSpPr/>
          <p:nvPr/>
        </p:nvSpPr>
        <p:spPr>
          <a:xfrm>
            <a:off x="6223000" y="4267200"/>
            <a:ext cx="76200" cy="990600"/>
          </a:xfrm>
          <a:prstGeom prst="rect">
            <a:avLst/>
          </a:prstGeom>
          <a:solidFill>
            <a:srgbClr val="FF5CB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CAA77C3-DCFC-6942-F8EF-14672D49A50A}"/>
              </a:ext>
            </a:extLst>
          </p:cNvPr>
          <p:cNvSpPr txBox="1"/>
          <p:nvPr/>
        </p:nvSpPr>
        <p:spPr>
          <a:xfrm>
            <a:off x="6426200" y="4394200"/>
            <a:ext cx="4572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可扩展架构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04CF551-4F3B-A559-13FB-FE107A66643A}"/>
              </a:ext>
            </a:extLst>
          </p:cNvPr>
          <p:cNvSpPr txBox="1"/>
          <p:nvPr/>
        </p:nvSpPr>
        <p:spPr>
          <a:xfrm>
            <a:off x="6426200" y="4800600"/>
            <a:ext cx="45974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组件化前端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统一后端路由，便于新增能力。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35AD9E70-2A8B-3E57-A97C-71EAF9CBB4B6}"/>
              </a:ext>
            </a:extLst>
          </p:cNvPr>
          <p:cNvSpPr/>
          <p:nvPr/>
        </p:nvSpPr>
        <p:spPr>
          <a:xfrm>
            <a:off x="1143000" y="5740400"/>
            <a:ext cx="9906000" cy="4318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5917A9D-4247-226D-AB55-682BF88BAD1B}"/>
              </a:ext>
            </a:extLst>
          </p:cNvPr>
          <p:cNvSpPr/>
          <p:nvPr/>
        </p:nvSpPr>
        <p:spPr>
          <a:xfrm>
            <a:off x="1143000" y="5740400"/>
            <a:ext cx="76200" cy="4318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81DF209-91B2-3119-A817-CE7D84A0E4CC}"/>
              </a:ext>
            </a:extLst>
          </p:cNvPr>
          <p:cNvSpPr txBox="1"/>
          <p:nvPr/>
        </p:nvSpPr>
        <p:spPr>
          <a:xfrm>
            <a:off x="1346200" y="5867400"/>
            <a:ext cx="9525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亮点归纳</a:t>
            </a:r>
          </a:p>
        </p:txBody>
      </p:sp>
    </p:spTree>
    <p:extLst>
      <p:ext uri="{BB962C8B-B14F-4D97-AF65-F5344CB8AC3E}">
        <p14:creationId xmlns:p14="http://schemas.microsoft.com/office/powerpoint/2010/main" val="364979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8A5B8E03-39E4-B462-82AB-66CFCC22885B}"/>
              </a:ext>
            </a:extLst>
          </p:cNvPr>
          <p:cNvSpPr/>
          <p:nvPr/>
        </p:nvSpPr>
        <p:spPr>
          <a:xfrm>
            <a:off x="825500" y="1625600"/>
            <a:ext cx="2032000" cy="5334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A73EA76-1AA8-56C8-FBAC-E35A750889D3}"/>
              </a:ext>
            </a:extLst>
          </p:cNvPr>
          <p:cNvSpPr/>
          <p:nvPr/>
        </p:nvSpPr>
        <p:spPr>
          <a:xfrm>
            <a:off x="825500" y="1625600"/>
            <a:ext cx="76200" cy="5334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98D312E-9F2C-E9B5-F17A-59DD58808562}"/>
              </a:ext>
            </a:extLst>
          </p:cNvPr>
          <p:cNvSpPr txBox="1"/>
          <p:nvPr/>
        </p:nvSpPr>
        <p:spPr>
          <a:xfrm>
            <a:off x="1028700" y="1752600"/>
            <a:ext cx="1651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意图识别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88D0B1-482D-EA8B-1E3E-3AB4B76F51F6}"/>
              </a:ext>
            </a:extLst>
          </p:cNvPr>
          <p:cNvSpPr txBox="1"/>
          <p:nvPr/>
        </p:nvSpPr>
        <p:spPr>
          <a:xfrm>
            <a:off x="3429000" y="1727200"/>
            <a:ext cx="304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规则判断为主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66BF49-99CE-5CEE-9CFA-793A81F7FEB7}"/>
              </a:ext>
            </a:extLst>
          </p:cNvPr>
          <p:cNvSpPr txBox="1"/>
          <p:nvPr/>
        </p:nvSpPr>
        <p:spPr>
          <a:xfrm>
            <a:off x="7112000" y="1727200"/>
            <a:ext cx="3937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 b="1">
                <a:solidFill>
                  <a:srgbClr val="F6F8FF"/>
                </a:solidFill>
                <a:latin typeface="Microsoft YaHei" panose="020B0503020204020204" pitchFamily="34" charset="-122"/>
              </a:rPr>
              <a:t>引入大模型意图分类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DBAE9AE-4659-BC4C-36A2-47FDD5FCC039}"/>
              </a:ext>
            </a:extLst>
          </p:cNvPr>
          <p:cNvSpPr/>
          <p:nvPr/>
        </p:nvSpPr>
        <p:spPr>
          <a:xfrm>
            <a:off x="825500" y="2413000"/>
            <a:ext cx="2032000" cy="5334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F10DE19-D6CC-B4E1-A114-D6B16F272E51}"/>
              </a:ext>
            </a:extLst>
          </p:cNvPr>
          <p:cNvSpPr/>
          <p:nvPr/>
        </p:nvSpPr>
        <p:spPr>
          <a:xfrm>
            <a:off x="825500" y="2413000"/>
            <a:ext cx="76200" cy="533400"/>
          </a:xfrm>
          <a:prstGeom prst="rect">
            <a:avLst/>
          </a:prstGeom>
          <a:solidFill>
            <a:srgbClr val="488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33E493B-E324-F5FA-6047-166648D58DF4}"/>
              </a:ext>
            </a:extLst>
          </p:cNvPr>
          <p:cNvSpPr txBox="1"/>
          <p:nvPr/>
        </p:nvSpPr>
        <p:spPr>
          <a:xfrm>
            <a:off x="1028700" y="2540000"/>
            <a:ext cx="1651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音乐播放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2E6280F-A55D-CAF8-4186-AD89DF70B850}"/>
              </a:ext>
            </a:extLst>
          </p:cNvPr>
          <p:cNvSpPr txBox="1"/>
          <p:nvPr/>
        </p:nvSpPr>
        <p:spPr>
          <a:xfrm>
            <a:off x="3429000" y="2514600"/>
            <a:ext cx="304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受版权和外链限制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64561AA-F785-D31C-6B52-A084819EE53E}"/>
              </a:ext>
            </a:extLst>
          </p:cNvPr>
          <p:cNvSpPr txBox="1"/>
          <p:nvPr/>
        </p:nvSpPr>
        <p:spPr>
          <a:xfrm>
            <a:off x="7112000" y="2514600"/>
            <a:ext cx="3937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 b="1">
                <a:solidFill>
                  <a:srgbClr val="F6F8FF"/>
                </a:solidFill>
                <a:latin typeface="Microsoft YaHei" panose="020B0503020204020204" pitchFamily="34" charset="-122"/>
              </a:rPr>
              <a:t>增加合法音乐源与失败重试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063A17E-5580-2D9F-DC39-784484F63772}"/>
              </a:ext>
            </a:extLst>
          </p:cNvPr>
          <p:cNvSpPr/>
          <p:nvPr/>
        </p:nvSpPr>
        <p:spPr>
          <a:xfrm>
            <a:off x="825500" y="3200400"/>
            <a:ext cx="2032000" cy="5334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C991127-EA68-8491-863C-C1F8ABCD5F3B}"/>
              </a:ext>
            </a:extLst>
          </p:cNvPr>
          <p:cNvSpPr/>
          <p:nvPr/>
        </p:nvSpPr>
        <p:spPr>
          <a:xfrm>
            <a:off x="825500" y="3200400"/>
            <a:ext cx="76200" cy="5334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9D916BB-D5C0-CD48-7286-DCB3E7EF5140}"/>
              </a:ext>
            </a:extLst>
          </p:cNvPr>
          <p:cNvSpPr txBox="1"/>
          <p:nvPr/>
        </p:nvSpPr>
        <p:spPr>
          <a:xfrm>
            <a:off x="1028700" y="3327400"/>
            <a:ext cx="1651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语音能力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E9BA38C-062A-778D-E8B4-93CFDB8619FC}"/>
              </a:ext>
            </a:extLst>
          </p:cNvPr>
          <p:cNvSpPr txBox="1"/>
          <p:nvPr/>
        </p:nvSpPr>
        <p:spPr>
          <a:xfrm>
            <a:off x="3429000" y="3302000"/>
            <a:ext cx="304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依赖浏览器支持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D340179-03AC-11D0-F610-030ED293642E}"/>
              </a:ext>
            </a:extLst>
          </p:cNvPr>
          <p:cNvSpPr txBox="1"/>
          <p:nvPr/>
        </p:nvSpPr>
        <p:spPr>
          <a:xfrm>
            <a:off x="7112000" y="3302000"/>
            <a:ext cx="3937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 b="1">
                <a:solidFill>
                  <a:srgbClr val="F6F8FF"/>
                </a:solidFill>
                <a:latin typeface="Microsoft YaHei" panose="020B0503020204020204" pitchFamily="34" charset="-122"/>
              </a:rPr>
              <a:t>加入纠错、语速和自动朗读配置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3012020-DEF7-F192-5D03-594FFE5D9361}"/>
              </a:ext>
            </a:extLst>
          </p:cNvPr>
          <p:cNvSpPr/>
          <p:nvPr/>
        </p:nvSpPr>
        <p:spPr>
          <a:xfrm>
            <a:off x="825500" y="3987800"/>
            <a:ext cx="2032000" cy="5334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DC0D984-E66E-81DC-7892-090167F9172D}"/>
              </a:ext>
            </a:extLst>
          </p:cNvPr>
          <p:cNvSpPr/>
          <p:nvPr/>
        </p:nvSpPr>
        <p:spPr>
          <a:xfrm>
            <a:off x="825500" y="3987800"/>
            <a:ext cx="76200" cy="5334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012E754-2C8C-7FA8-F9CB-9C1D7F26400E}"/>
              </a:ext>
            </a:extLst>
          </p:cNvPr>
          <p:cNvSpPr txBox="1"/>
          <p:nvPr/>
        </p:nvSpPr>
        <p:spPr>
          <a:xfrm>
            <a:off x="1028700" y="4114800"/>
            <a:ext cx="1651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后端结构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B1E5CCA-4321-227E-EFD1-600151682FF0}"/>
              </a:ext>
            </a:extLst>
          </p:cNvPr>
          <p:cNvSpPr txBox="1"/>
          <p:nvPr/>
        </p:nvSpPr>
        <p:spPr>
          <a:xfrm>
            <a:off x="3429000" y="4089400"/>
            <a:ext cx="304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逻辑集中在 </a:t>
            </a:r>
            <a:r>
              <a:rPr lang="en-US" altLang="zh-CN" sz="1000">
                <a:solidFill>
                  <a:srgbClr val="B2C0E1"/>
                </a:solidFill>
                <a:latin typeface="Microsoft YaHei" panose="020B0503020204020204" pitchFamily="34" charset="-122"/>
              </a:rPr>
              <a:t>app.py</a:t>
            </a:r>
            <a:endParaRPr lang="zh-CN" altLang="en-US" sz="1000">
              <a:solidFill>
                <a:srgbClr val="B2C0E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B038847-9343-FD04-35C8-CE0AE5A6086D}"/>
              </a:ext>
            </a:extLst>
          </p:cNvPr>
          <p:cNvSpPr txBox="1"/>
          <p:nvPr/>
        </p:nvSpPr>
        <p:spPr>
          <a:xfrm>
            <a:off x="7112000" y="4089400"/>
            <a:ext cx="3937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 b="1">
                <a:solidFill>
                  <a:srgbClr val="F6F8FF"/>
                </a:solidFill>
                <a:latin typeface="Microsoft YaHei" panose="020B0503020204020204" pitchFamily="34" charset="-122"/>
              </a:rPr>
              <a:t>拆分 </a:t>
            </a:r>
            <a:r>
              <a:rPr lang="en-US" altLang="zh-CN" sz="1000" b="1">
                <a:solidFill>
                  <a:srgbClr val="F6F8FF"/>
                </a:solidFill>
                <a:latin typeface="Microsoft YaHei" panose="020B0503020204020204" pitchFamily="34" charset="-122"/>
              </a:rPr>
              <a:t>services / utils / config</a:t>
            </a:r>
            <a:endParaRPr lang="zh-CN" altLang="en-US" sz="1000" b="1">
              <a:solidFill>
                <a:srgbClr val="F6F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766E9B0-1084-40B4-49C3-B4E0175D5AD7}"/>
              </a:ext>
            </a:extLst>
          </p:cNvPr>
          <p:cNvSpPr/>
          <p:nvPr/>
        </p:nvSpPr>
        <p:spPr>
          <a:xfrm>
            <a:off x="825500" y="4775200"/>
            <a:ext cx="2032000" cy="5334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3DEFB14-E0B7-71BF-9649-0E58E643AD84}"/>
              </a:ext>
            </a:extLst>
          </p:cNvPr>
          <p:cNvSpPr/>
          <p:nvPr/>
        </p:nvSpPr>
        <p:spPr>
          <a:xfrm>
            <a:off x="825500" y="4775200"/>
            <a:ext cx="76200" cy="533400"/>
          </a:xfrm>
          <a:prstGeom prst="rect">
            <a:avLst/>
          </a:prstGeom>
          <a:solidFill>
            <a:srgbClr val="FFB4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EFF8A1-53CA-09FC-F1AB-D389449B8C9C}"/>
              </a:ext>
            </a:extLst>
          </p:cNvPr>
          <p:cNvSpPr txBox="1"/>
          <p:nvPr/>
        </p:nvSpPr>
        <p:spPr>
          <a:xfrm>
            <a:off x="1028700" y="4902200"/>
            <a:ext cx="16510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部署形态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04A0A6D-D13E-A5BE-DE3E-71FB6ABF4F5E}"/>
              </a:ext>
            </a:extLst>
          </p:cNvPr>
          <p:cNvSpPr txBox="1"/>
          <p:nvPr/>
        </p:nvSpPr>
        <p:spPr>
          <a:xfrm>
            <a:off x="3429000" y="4876800"/>
            <a:ext cx="304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>
                <a:solidFill>
                  <a:srgbClr val="B2C0E1"/>
                </a:solidFill>
                <a:latin typeface="Microsoft YaHei" panose="020B0503020204020204" pitchFamily="34" charset="-122"/>
              </a:rPr>
              <a:t>本地开发模式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4934B5F-9436-123F-1CDF-6F24E249FD95}"/>
              </a:ext>
            </a:extLst>
          </p:cNvPr>
          <p:cNvSpPr txBox="1"/>
          <p:nvPr/>
        </p:nvSpPr>
        <p:spPr>
          <a:xfrm>
            <a:off x="7112000" y="4876800"/>
            <a:ext cx="3937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000" b="1">
                <a:solidFill>
                  <a:srgbClr val="F6F8FF"/>
                </a:solidFill>
                <a:latin typeface="Microsoft YaHei" panose="020B0503020204020204" pitchFamily="34" charset="-122"/>
              </a:rPr>
              <a:t>增加生产配置、日志和部署脚本</a:t>
            </a:r>
          </a:p>
        </p:txBody>
      </p:sp>
    </p:spTree>
    <p:extLst>
      <p:ext uri="{BB962C8B-B14F-4D97-AF65-F5344CB8AC3E}">
        <p14:creationId xmlns:p14="http://schemas.microsoft.com/office/powerpoint/2010/main" val="3867256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59751B13-442D-6156-2F55-34C2108FE77E}"/>
              </a:ext>
            </a:extLst>
          </p:cNvPr>
          <p:cNvSpPr/>
          <p:nvPr/>
        </p:nvSpPr>
        <p:spPr>
          <a:xfrm>
            <a:off x="787400" y="1803400"/>
            <a:ext cx="2387600" cy="3175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274C8A-B6BD-058C-EE34-2E142F8D74AB}"/>
              </a:ext>
            </a:extLst>
          </p:cNvPr>
          <p:cNvSpPr/>
          <p:nvPr/>
        </p:nvSpPr>
        <p:spPr>
          <a:xfrm>
            <a:off x="787400" y="1803400"/>
            <a:ext cx="76200" cy="31750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BBC6BEB-E4F1-7434-9A7C-7E332C434672}"/>
              </a:ext>
            </a:extLst>
          </p:cNvPr>
          <p:cNvSpPr txBox="1"/>
          <p:nvPr/>
        </p:nvSpPr>
        <p:spPr>
          <a:xfrm>
            <a:off x="990600" y="1930400"/>
            <a:ext cx="20066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体验增强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D8D1E1B-2AA0-75EC-1753-1CD1CDCD6773}"/>
              </a:ext>
            </a:extLst>
          </p:cNvPr>
          <p:cNvSpPr txBox="1"/>
          <p:nvPr/>
        </p:nvSpPr>
        <p:spPr>
          <a:xfrm>
            <a:off x="990600" y="2336800"/>
            <a:ext cx="2032000" cy="6647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完善长期记忆
自动朗读开关
优化默认指令
增强错误提示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61F2C56-EB2B-A1C3-2695-8F87CDF8BD5B}"/>
              </a:ext>
            </a:extLst>
          </p:cNvPr>
          <p:cNvSpPr/>
          <p:nvPr/>
        </p:nvSpPr>
        <p:spPr>
          <a:xfrm>
            <a:off x="3556000" y="1803400"/>
            <a:ext cx="2387600" cy="3175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DF4C519-6826-73E9-7D3A-9CE1AFB5B03E}"/>
              </a:ext>
            </a:extLst>
          </p:cNvPr>
          <p:cNvSpPr/>
          <p:nvPr/>
        </p:nvSpPr>
        <p:spPr>
          <a:xfrm>
            <a:off x="3556000" y="1803400"/>
            <a:ext cx="76200" cy="3175000"/>
          </a:xfrm>
          <a:prstGeom prst="rect">
            <a:avLst/>
          </a:prstGeom>
          <a:solidFill>
            <a:srgbClr val="488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D2A06F6-0DF2-1982-98CE-01E49BAB931C}"/>
              </a:ext>
            </a:extLst>
          </p:cNvPr>
          <p:cNvSpPr txBox="1"/>
          <p:nvPr/>
        </p:nvSpPr>
        <p:spPr>
          <a:xfrm>
            <a:off x="3759200" y="1930400"/>
            <a:ext cx="20066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能力扩展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010AA9A-9021-6045-02E0-BB988D1E84FD}"/>
              </a:ext>
            </a:extLst>
          </p:cNvPr>
          <p:cNvSpPr txBox="1"/>
          <p:nvPr/>
        </p:nvSpPr>
        <p:spPr>
          <a:xfrm>
            <a:off x="3759200" y="2336800"/>
            <a:ext cx="2032000" cy="6647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日程 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备忘录
图片历史与下载
音乐收藏
联网搜索入口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8DB7633-46DD-BA53-D767-EB999903AB49}"/>
              </a:ext>
            </a:extLst>
          </p:cNvPr>
          <p:cNvSpPr/>
          <p:nvPr/>
        </p:nvSpPr>
        <p:spPr>
          <a:xfrm>
            <a:off x="6324600" y="1803400"/>
            <a:ext cx="2387600" cy="3175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E04A77B-E3C0-41C1-FE18-F2C386115A82}"/>
              </a:ext>
            </a:extLst>
          </p:cNvPr>
          <p:cNvSpPr/>
          <p:nvPr/>
        </p:nvSpPr>
        <p:spPr>
          <a:xfrm>
            <a:off x="6324600" y="1803400"/>
            <a:ext cx="76200" cy="31750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1E0333E-5247-A034-E877-75A4EB88A46D}"/>
              </a:ext>
            </a:extLst>
          </p:cNvPr>
          <p:cNvSpPr txBox="1"/>
          <p:nvPr/>
        </p:nvSpPr>
        <p:spPr>
          <a:xfrm>
            <a:off x="6527800" y="1930400"/>
            <a:ext cx="20066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工程优化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CD016A2-0672-FBA4-FF70-E6268A31616E}"/>
              </a:ext>
            </a:extLst>
          </p:cNvPr>
          <p:cNvSpPr txBox="1"/>
          <p:nvPr/>
        </p:nvSpPr>
        <p:spPr>
          <a:xfrm>
            <a:off x="6527800" y="2336800"/>
            <a:ext cx="2032000" cy="6647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后端模块化
统一响应结构
日志和错误码
生产环境配置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1322806-8724-D58A-B9CC-E7BD0FA398DF}"/>
              </a:ext>
            </a:extLst>
          </p:cNvPr>
          <p:cNvSpPr/>
          <p:nvPr/>
        </p:nvSpPr>
        <p:spPr>
          <a:xfrm>
            <a:off x="9093200" y="1803400"/>
            <a:ext cx="2387600" cy="31750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FCA8B46-40CF-EB05-C4FA-206A0FBAD52B}"/>
              </a:ext>
            </a:extLst>
          </p:cNvPr>
          <p:cNvSpPr/>
          <p:nvPr/>
        </p:nvSpPr>
        <p:spPr>
          <a:xfrm>
            <a:off x="9093200" y="1803400"/>
            <a:ext cx="76200" cy="31750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CAE484F-12D1-F278-A7E1-6F8614A402B3}"/>
              </a:ext>
            </a:extLst>
          </p:cNvPr>
          <p:cNvSpPr txBox="1"/>
          <p:nvPr/>
        </p:nvSpPr>
        <p:spPr>
          <a:xfrm>
            <a:off x="9296400" y="1930400"/>
            <a:ext cx="20066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部署展示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2AEBD36-6456-991B-0EE4-05BF54D4A384}"/>
              </a:ext>
            </a:extLst>
          </p:cNvPr>
          <p:cNvSpPr txBox="1"/>
          <p:nvPr/>
        </p:nvSpPr>
        <p:spPr>
          <a:xfrm>
            <a:off x="9296400" y="2336800"/>
            <a:ext cx="2032000" cy="6647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Docker 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或云部署
</a:t>
            </a:r>
            <a:r>
              <a:rPr lang="en-US" altLang="zh-CN" sz="930">
                <a:solidFill>
                  <a:srgbClr val="B2C0E1"/>
                </a:solidFill>
                <a:latin typeface="Microsoft YaHei" panose="020B0503020204020204" pitchFamily="34" charset="-122"/>
              </a:rPr>
              <a:t>Nginx / HTTPS
</a:t>
            </a:r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演示脚本
答辩材料完善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F030DD0-1352-BDAD-3505-50722838DDC4}"/>
              </a:ext>
            </a:extLst>
          </p:cNvPr>
          <p:cNvSpPr txBox="1"/>
          <p:nvPr/>
        </p:nvSpPr>
        <p:spPr>
          <a:xfrm>
            <a:off x="1143000" y="5664200"/>
            <a:ext cx="9906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F6F8FF"/>
                </a:solidFill>
                <a:latin typeface="Microsoft YaHei" panose="020B0503020204020204" pitchFamily="34" charset="-122"/>
              </a:rPr>
              <a:t>阶段目标：从本地 </a:t>
            </a:r>
            <a:r>
              <a:rPr lang="en-US" altLang="zh-CN" sz="1400" b="1">
                <a:solidFill>
                  <a:srgbClr val="F6F8FF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400" b="1">
                <a:solidFill>
                  <a:srgbClr val="F6F8FF"/>
                </a:solidFill>
                <a:latin typeface="Microsoft YaHei" panose="020B0503020204020204" pitchFamily="34" charset="-122"/>
              </a:rPr>
              <a:t>助手原型，升级为可持续迭代、可部署展示的智能应用平台。</a:t>
            </a:r>
          </a:p>
        </p:txBody>
      </p:sp>
    </p:spTree>
    <p:extLst>
      <p:ext uri="{BB962C8B-B14F-4D97-AF65-F5344CB8AC3E}">
        <p14:creationId xmlns:p14="http://schemas.microsoft.com/office/powerpoint/2010/main" val="180163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DA8B23BF-6901-B13E-A898-FE67FEA4FE12}"/>
              </a:ext>
            </a:extLst>
          </p:cNvPr>
          <p:cNvSpPr/>
          <p:nvPr/>
        </p:nvSpPr>
        <p:spPr>
          <a:xfrm>
            <a:off x="863600" y="1727200"/>
            <a:ext cx="3111500" cy="1117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75FF78E-4620-3BEE-AB4C-71314F6331AD}"/>
              </a:ext>
            </a:extLst>
          </p:cNvPr>
          <p:cNvSpPr/>
          <p:nvPr/>
        </p:nvSpPr>
        <p:spPr>
          <a:xfrm>
            <a:off x="863600" y="1727200"/>
            <a:ext cx="76200" cy="1117600"/>
          </a:xfrm>
          <a:prstGeom prst="rect">
            <a:avLst/>
          </a:prstGeom>
          <a:solidFill>
            <a:srgbClr val="3AD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EC2F4F7-26C2-C968-9BF3-01529DF0E660}"/>
              </a:ext>
            </a:extLst>
          </p:cNvPr>
          <p:cNvSpPr txBox="1"/>
          <p:nvPr/>
        </p:nvSpPr>
        <p:spPr>
          <a:xfrm>
            <a:off x="1066800" y="1854200"/>
            <a:ext cx="27305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语音唤醒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5F1CC3-4FE0-9AA1-F447-FE5C271B90B1}"/>
              </a:ext>
            </a:extLst>
          </p:cNvPr>
          <p:cNvSpPr txBox="1"/>
          <p:nvPr/>
        </p:nvSpPr>
        <p:spPr>
          <a:xfrm>
            <a:off x="1066800" y="2260600"/>
            <a:ext cx="27559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“小文小文”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2CD11E6-D7B6-9ED7-5FEC-1C2D0D27795F}"/>
              </a:ext>
            </a:extLst>
          </p:cNvPr>
          <p:cNvSpPr/>
          <p:nvPr/>
        </p:nvSpPr>
        <p:spPr>
          <a:xfrm>
            <a:off x="4495800" y="1727200"/>
            <a:ext cx="3111500" cy="1117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332D41-08DB-8728-2C50-7254B827BFED}"/>
              </a:ext>
            </a:extLst>
          </p:cNvPr>
          <p:cNvSpPr/>
          <p:nvPr/>
        </p:nvSpPr>
        <p:spPr>
          <a:xfrm>
            <a:off x="4495800" y="1727200"/>
            <a:ext cx="76200" cy="1117600"/>
          </a:xfrm>
          <a:prstGeom prst="rect">
            <a:avLst/>
          </a:prstGeom>
          <a:solidFill>
            <a:srgbClr val="488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D9A6192-24B9-648D-B954-637BF90C6783}"/>
              </a:ext>
            </a:extLst>
          </p:cNvPr>
          <p:cNvSpPr txBox="1"/>
          <p:nvPr/>
        </p:nvSpPr>
        <p:spPr>
          <a:xfrm>
            <a:off x="4699000" y="1854200"/>
            <a:ext cx="27305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生活查询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4AE0C7-D362-A5C6-C20D-5E3FA913118C}"/>
              </a:ext>
            </a:extLst>
          </p:cNvPr>
          <p:cNvSpPr txBox="1"/>
          <p:nvPr/>
        </p:nvSpPr>
        <p:spPr>
          <a:xfrm>
            <a:off x="4699000" y="2260600"/>
            <a:ext cx="27559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承德天气怎么样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DB968DA-1BF3-593D-42F8-7309BF96C957}"/>
              </a:ext>
            </a:extLst>
          </p:cNvPr>
          <p:cNvSpPr/>
          <p:nvPr/>
        </p:nvSpPr>
        <p:spPr>
          <a:xfrm>
            <a:off x="8128000" y="1727200"/>
            <a:ext cx="3111500" cy="1117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12AD56-0C58-ED19-9FCF-7DA394187D66}"/>
              </a:ext>
            </a:extLst>
          </p:cNvPr>
          <p:cNvSpPr/>
          <p:nvPr/>
        </p:nvSpPr>
        <p:spPr>
          <a:xfrm>
            <a:off x="8128000" y="1727200"/>
            <a:ext cx="76200" cy="1117600"/>
          </a:xfrm>
          <a:prstGeom prst="rect">
            <a:avLst/>
          </a:prstGeom>
          <a:solidFill>
            <a:srgbClr val="9B5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20826C5-881B-E48C-AE28-C128CDFB9BB6}"/>
              </a:ext>
            </a:extLst>
          </p:cNvPr>
          <p:cNvSpPr txBox="1"/>
          <p:nvPr/>
        </p:nvSpPr>
        <p:spPr>
          <a:xfrm>
            <a:off x="8331200" y="1854200"/>
            <a:ext cx="27305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连续对话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D8D577A-EA3C-2015-B6EF-14D41A416AAC}"/>
              </a:ext>
            </a:extLst>
          </p:cNvPr>
          <p:cNvSpPr txBox="1"/>
          <p:nvPr/>
        </p:nvSpPr>
        <p:spPr>
          <a:xfrm>
            <a:off x="8331200" y="2260600"/>
            <a:ext cx="27559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承德美食 → 这些在哪吃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F79CCF3-0207-400C-14D4-04DE74F47FA0}"/>
              </a:ext>
            </a:extLst>
          </p:cNvPr>
          <p:cNvSpPr/>
          <p:nvPr/>
        </p:nvSpPr>
        <p:spPr>
          <a:xfrm>
            <a:off x="863600" y="3378200"/>
            <a:ext cx="3111500" cy="1117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962431C-3301-637B-F64D-21A4248C133F}"/>
              </a:ext>
            </a:extLst>
          </p:cNvPr>
          <p:cNvSpPr/>
          <p:nvPr/>
        </p:nvSpPr>
        <p:spPr>
          <a:xfrm>
            <a:off x="863600" y="3378200"/>
            <a:ext cx="76200" cy="1117600"/>
          </a:xfrm>
          <a:prstGeom prst="rect">
            <a:avLst/>
          </a:prstGeom>
          <a:solidFill>
            <a:srgbClr val="4CE6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B7F825C-7E17-70A6-6EBA-0B16B044324C}"/>
              </a:ext>
            </a:extLst>
          </p:cNvPr>
          <p:cNvSpPr txBox="1"/>
          <p:nvPr/>
        </p:nvSpPr>
        <p:spPr>
          <a:xfrm>
            <a:off x="1066800" y="3505200"/>
            <a:ext cx="27305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音乐播放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61DBECB-C148-B48D-1405-590E6D500C3D}"/>
              </a:ext>
            </a:extLst>
          </p:cNvPr>
          <p:cNvSpPr txBox="1"/>
          <p:nvPr/>
        </p:nvSpPr>
        <p:spPr>
          <a:xfrm>
            <a:off x="1066800" y="3911600"/>
            <a:ext cx="27559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播放稻香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63A638F-580A-C893-1569-C4D9417E4835}"/>
              </a:ext>
            </a:extLst>
          </p:cNvPr>
          <p:cNvSpPr/>
          <p:nvPr/>
        </p:nvSpPr>
        <p:spPr>
          <a:xfrm>
            <a:off x="4495800" y="3378200"/>
            <a:ext cx="3111500" cy="1117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D18A81B-3A1A-347A-495B-48BFB2D97DF5}"/>
              </a:ext>
            </a:extLst>
          </p:cNvPr>
          <p:cNvSpPr/>
          <p:nvPr/>
        </p:nvSpPr>
        <p:spPr>
          <a:xfrm>
            <a:off x="4495800" y="3378200"/>
            <a:ext cx="76200" cy="1117600"/>
          </a:xfrm>
          <a:prstGeom prst="rect">
            <a:avLst/>
          </a:prstGeom>
          <a:solidFill>
            <a:srgbClr val="FFB4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BF24CB6-A6B7-08B8-F693-0E4D34CC6EDD}"/>
              </a:ext>
            </a:extLst>
          </p:cNvPr>
          <p:cNvSpPr txBox="1"/>
          <p:nvPr/>
        </p:nvSpPr>
        <p:spPr>
          <a:xfrm>
            <a:off x="4699000" y="3505200"/>
            <a:ext cx="27305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创作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E22865F-313A-415C-0987-FBA1DFCAB82A}"/>
              </a:ext>
            </a:extLst>
          </p:cNvPr>
          <p:cNvSpPr txBox="1"/>
          <p:nvPr/>
        </p:nvSpPr>
        <p:spPr>
          <a:xfrm>
            <a:off x="4699000" y="3911600"/>
            <a:ext cx="27559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画一只水彩小猫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23113CB-2F09-8414-D4BD-15206F245F9D}"/>
              </a:ext>
            </a:extLst>
          </p:cNvPr>
          <p:cNvSpPr/>
          <p:nvPr/>
        </p:nvSpPr>
        <p:spPr>
          <a:xfrm>
            <a:off x="8128000" y="3378200"/>
            <a:ext cx="3111500" cy="1117600"/>
          </a:xfrm>
          <a:prstGeom prst="roundRect">
            <a:avLst/>
          </a:prstGeom>
          <a:solidFill>
            <a:srgbClr val="162040">
              <a:alpha val="97000"/>
            </a:srgbClr>
          </a:solidFill>
          <a:ln>
            <a:solidFill>
              <a:srgbClr val="465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73996AA-FD88-4CBB-0575-9B55AFAC1E92}"/>
              </a:ext>
            </a:extLst>
          </p:cNvPr>
          <p:cNvSpPr/>
          <p:nvPr/>
        </p:nvSpPr>
        <p:spPr>
          <a:xfrm>
            <a:off x="8128000" y="3378200"/>
            <a:ext cx="76200" cy="1117600"/>
          </a:xfrm>
          <a:prstGeom prst="rect">
            <a:avLst/>
          </a:prstGeom>
          <a:solidFill>
            <a:srgbClr val="FF5CB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AFEC6A4-44DE-11C2-C898-60B311D2A644}"/>
              </a:ext>
            </a:extLst>
          </p:cNvPr>
          <p:cNvSpPr txBox="1"/>
          <p:nvPr/>
        </p:nvSpPr>
        <p:spPr>
          <a:xfrm>
            <a:off x="8331200" y="3505200"/>
            <a:ext cx="2730500" cy="2693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50" b="1">
                <a:solidFill>
                  <a:srgbClr val="F6F8FF"/>
                </a:solidFill>
                <a:latin typeface="Microsoft YaHei" panose="020B0503020204020204" pitchFamily="34" charset="-122"/>
              </a:rPr>
              <a:t>桌面控制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2FFC3D6-89BB-C4E2-CA04-857618061B2D}"/>
              </a:ext>
            </a:extLst>
          </p:cNvPr>
          <p:cNvSpPr txBox="1"/>
          <p:nvPr/>
        </p:nvSpPr>
        <p:spPr>
          <a:xfrm>
            <a:off x="8331200" y="3911600"/>
            <a:ext cx="2755900" cy="2354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930">
                <a:solidFill>
                  <a:srgbClr val="B2C0E1"/>
                </a:solidFill>
                <a:latin typeface="Microsoft YaHei" panose="020B0503020204020204" pitchFamily="34" charset="-122"/>
              </a:rPr>
              <a:t>打开计算器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9D97156-CC7D-D38D-2D41-4F86B40C6B2C}"/>
              </a:ext>
            </a:extLst>
          </p:cNvPr>
          <p:cNvSpPr txBox="1"/>
          <p:nvPr/>
        </p:nvSpPr>
        <p:spPr>
          <a:xfrm>
            <a:off x="1079500" y="5664200"/>
            <a:ext cx="10033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F6F8FF"/>
                </a:solidFill>
                <a:latin typeface="Microsoft YaHei" panose="020B0503020204020204" pitchFamily="34" charset="-122"/>
              </a:rPr>
              <a:t>演示重点：让观众看到小文可以理解指令、调用能力、展示结果，而不只是聊天。</a:t>
            </a:r>
          </a:p>
        </p:txBody>
      </p:sp>
    </p:spTree>
    <p:extLst>
      <p:ext uri="{BB962C8B-B14F-4D97-AF65-F5344CB8AC3E}">
        <p14:creationId xmlns:p14="http://schemas.microsoft.com/office/powerpoint/2010/main" val="2614211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9E8F09F-2E06-3DB2-873F-F11B845A4AE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C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24C98F3-F3E3-C32B-9FF8-87D1F2A10B26}"/>
              </a:ext>
            </a:extLst>
          </p:cNvPr>
          <p:cNvSpPr/>
          <p:nvPr/>
        </p:nvSpPr>
        <p:spPr>
          <a:xfrm>
            <a:off x="9334500" y="-762000"/>
            <a:ext cx="3175000" cy="3175000"/>
          </a:xfrm>
          <a:prstGeom prst="ellipse">
            <a:avLst/>
          </a:prstGeom>
          <a:solidFill>
            <a:srgbClr val="9B5CFF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B709950E-379B-04DE-6D4D-BCB8F548663E}"/>
              </a:ext>
            </a:extLst>
          </p:cNvPr>
          <p:cNvSpPr/>
          <p:nvPr/>
        </p:nvSpPr>
        <p:spPr>
          <a:xfrm>
            <a:off x="-825500" y="4762500"/>
            <a:ext cx="2667000" cy="2667000"/>
          </a:xfrm>
          <a:prstGeom prst="ellipse">
            <a:avLst/>
          </a:prstGeom>
          <a:solidFill>
            <a:srgbClr val="488EFF">
              <a:alpha val="33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4F967F5-E9DE-CFC7-088D-EED8B9510BA2}"/>
              </a:ext>
            </a:extLst>
          </p:cNvPr>
          <p:cNvSpPr/>
          <p:nvPr/>
        </p:nvSpPr>
        <p:spPr>
          <a:xfrm>
            <a:off x="5207000" y="1092200"/>
            <a:ext cx="1143000" cy="1143000"/>
          </a:xfrm>
          <a:prstGeom prst="ellipse">
            <a:avLst/>
          </a:prstGeom>
          <a:solidFill>
            <a:srgbClr val="3ADCFF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A630F6B-0493-ED41-6B41-68348765A7BC}"/>
              </a:ext>
            </a:extLst>
          </p:cNvPr>
          <p:cNvSpPr txBox="1"/>
          <p:nvPr/>
        </p:nvSpPr>
        <p:spPr>
          <a:xfrm>
            <a:off x="1016000" y="1587500"/>
            <a:ext cx="10160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4000" b="1">
                <a:solidFill>
                  <a:srgbClr val="F6F8FF"/>
                </a:solidFill>
                <a:latin typeface="Microsoft YaHei" panose="020B0503020204020204" pitchFamily="34" charset="-122"/>
              </a:rPr>
              <a:t>感谢聆听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B2CE704-2DBE-F43E-03E2-1CCE2094F2BB}"/>
              </a:ext>
            </a:extLst>
          </p:cNvPr>
          <p:cNvSpPr txBox="1"/>
          <p:nvPr/>
        </p:nvSpPr>
        <p:spPr>
          <a:xfrm>
            <a:off x="1524000" y="2603500"/>
            <a:ext cx="914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600">
                <a:solidFill>
                  <a:srgbClr val="B2C0E1"/>
                </a:solidFill>
                <a:latin typeface="Microsoft YaHei" panose="020B0503020204020204" pitchFamily="34" charset="-122"/>
              </a:rPr>
              <a:t>小文智能 </a:t>
            </a:r>
            <a:r>
              <a:rPr lang="en-US" altLang="zh-CN" sz="1600">
                <a:solidFill>
                  <a:srgbClr val="B2C0E1"/>
                </a:solidFill>
                <a:latin typeface="Microsoft YaHei" panose="020B0503020204020204" pitchFamily="34" charset="-122"/>
              </a:rPr>
              <a:t>APP </a:t>
            </a:r>
            <a:r>
              <a:rPr lang="zh-CN" altLang="en-US" sz="1600">
                <a:solidFill>
                  <a:srgbClr val="B2C0E1"/>
                </a:solidFill>
                <a:latin typeface="Microsoft YaHei" panose="020B0503020204020204" pitchFamily="34" charset="-122"/>
              </a:rPr>
              <a:t>将继续向更自然、更稳定、更具执行力的个人 </a:t>
            </a:r>
            <a:r>
              <a:rPr lang="en-US" altLang="zh-CN" sz="1600">
                <a:solidFill>
                  <a:srgbClr val="B2C0E1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600">
                <a:solidFill>
                  <a:srgbClr val="B2C0E1"/>
                </a:solidFill>
                <a:latin typeface="Microsoft YaHei" panose="020B0503020204020204" pitchFamily="34" charset="-122"/>
              </a:rPr>
              <a:t>助手演进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F5B9283-143E-FE79-6EF8-511CFE3C08AE}"/>
              </a:ext>
            </a:extLst>
          </p:cNvPr>
          <p:cNvSpPr/>
          <p:nvPr/>
        </p:nvSpPr>
        <p:spPr>
          <a:xfrm>
            <a:off x="2413000" y="3581400"/>
            <a:ext cx="1524000" cy="355600"/>
          </a:xfrm>
          <a:prstGeom prst="roundRect">
            <a:avLst/>
          </a:prstGeom>
          <a:solidFill>
            <a:srgbClr val="3ADCFF">
              <a:alpha val="85000"/>
            </a:srgbClr>
          </a:solidFill>
          <a:ln>
            <a:solidFill>
              <a:srgbClr val="3AD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755424E-A6D6-FBF7-1A14-8348F22CFD89}"/>
              </a:ext>
            </a:extLst>
          </p:cNvPr>
          <p:cNvSpPr txBox="1"/>
          <p:nvPr/>
        </p:nvSpPr>
        <p:spPr>
          <a:xfrm>
            <a:off x="2463800" y="3657600"/>
            <a:ext cx="1422400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>
                <a:solidFill>
                  <a:srgbClr val="F6F8FF"/>
                </a:solidFill>
                <a:latin typeface="Microsoft YaHei" panose="020B0503020204020204" pitchFamily="34" charset="-122"/>
              </a:rPr>
              <a:t>能听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05E7207-8DB1-CE65-1F21-E58EAD8B9158}"/>
              </a:ext>
            </a:extLst>
          </p:cNvPr>
          <p:cNvSpPr/>
          <p:nvPr/>
        </p:nvSpPr>
        <p:spPr>
          <a:xfrm>
            <a:off x="4127500" y="3581400"/>
            <a:ext cx="1524000" cy="355600"/>
          </a:xfrm>
          <a:prstGeom prst="roundRect">
            <a:avLst/>
          </a:prstGeom>
          <a:solidFill>
            <a:srgbClr val="488EFF">
              <a:alpha val="85000"/>
            </a:srgbClr>
          </a:solidFill>
          <a:ln>
            <a:solidFill>
              <a:srgbClr val="488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CF3794C-0D4C-78EF-56CD-84DC403DAE48}"/>
              </a:ext>
            </a:extLst>
          </p:cNvPr>
          <p:cNvSpPr txBox="1"/>
          <p:nvPr/>
        </p:nvSpPr>
        <p:spPr>
          <a:xfrm>
            <a:off x="4178300" y="3657600"/>
            <a:ext cx="1422400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>
                <a:solidFill>
                  <a:srgbClr val="F6F8FF"/>
                </a:solidFill>
                <a:latin typeface="Microsoft YaHei" panose="020B0503020204020204" pitchFamily="34" charset="-122"/>
              </a:rPr>
              <a:t>能说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2D5FEFD-78EE-69BC-CD57-CFAB9209BFDA}"/>
              </a:ext>
            </a:extLst>
          </p:cNvPr>
          <p:cNvSpPr/>
          <p:nvPr/>
        </p:nvSpPr>
        <p:spPr>
          <a:xfrm>
            <a:off x="5842000" y="3581400"/>
            <a:ext cx="1524000" cy="355600"/>
          </a:xfrm>
          <a:prstGeom prst="roundRect">
            <a:avLst/>
          </a:prstGeom>
          <a:solidFill>
            <a:srgbClr val="9B5CFF">
              <a:alpha val="85000"/>
            </a:srgbClr>
          </a:solidFill>
          <a:ln>
            <a:solidFill>
              <a:srgbClr val="9B5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9560102-CAEA-7AA0-2BDD-818631F91B4E}"/>
              </a:ext>
            </a:extLst>
          </p:cNvPr>
          <p:cNvSpPr txBox="1"/>
          <p:nvPr/>
        </p:nvSpPr>
        <p:spPr>
          <a:xfrm>
            <a:off x="5892800" y="3657600"/>
            <a:ext cx="1422400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>
                <a:solidFill>
                  <a:srgbClr val="F6F8FF"/>
                </a:solidFill>
                <a:latin typeface="Microsoft YaHei" panose="020B0503020204020204" pitchFamily="34" charset="-122"/>
              </a:rPr>
              <a:t>能聊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66B9840-209C-F34A-E0EA-4EA313A8DD39}"/>
              </a:ext>
            </a:extLst>
          </p:cNvPr>
          <p:cNvSpPr/>
          <p:nvPr/>
        </p:nvSpPr>
        <p:spPr>
          <a:xfrm>
            <a:off x="7556500" y="3581400"/>
            <a:ext cx="1524000" cy="355600"/>
          </a:xfrm>
          <a:prstGeom prst="roundRect">
            <a:avLst/>
          </a:prstGeom>
          <a:solidFill>
            <a:srgbClr val="FF5CB4">
              <a:alpha val="85000"/>
            </a:srgbClr>
          </a:solidFill>
          <a:ln>
            <a:solidFill>
              <a:srgbClr val="FF5C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3E23462-1F29-A381-942A-7EC99C5E57F0}"/>
              </a:ext>
            </a:extLst>
          </p:cNvPr>
          <p:cNvSpPr txBox="1"/>
          <p:nvPr/>
        </p:nvSpPr>
        <p:spPr>
          <a:xfrm>
            <a:off x="7607300" y="3657600"/>
            <a:ext cx="1422400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>
                <a:solidFill>
                  <a:srgbClr val="F6F8FF"/>
                </a:solidFill>
                <a:latin typeface="Microsoft YaHei" panose="020B0503020204020204" pitchFamily="34" charset="-122"/>
              </a:rPr>
              <a:t>能画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43742E2-B0D6-6BB4-5A7B-132A5E3EB455}"/>
              </a:ext>
            </a:extLst>
          </p:cNvPr>
          <p:cNvSpPr/>
          <p:nvPr/>
        </p:nvSpPr>
        <p:spPr>
          <a:xfrm>
            <a:off x="9271000" y="3581400"/>
            <a:ext cx="1524000" cy="355600"/>
          </a:xfrm>
          <a:prstGeom prst="roundRect">
            <a:avLst/>
          </a:prstGeom>
          <a:solidFill>
            <a:srgbClr val="4CE6AA">
              <a:alpha val="85000"/>
            </a:srgbClr>
          </a:solidFill>
          <a:ln>
            <a:solidFill>
              <a:srgbClr val="4CE6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6398BBC-85A3-D678-F50F-72F21ED97C0A}"/>
              </a:ext>
            </a:extLst>
          </p:cNvPr>
          <p:cNvSpPr txBox="1"/>
          <p:nvPr/>
        </p:nvSpPr>
        <p:spPr>
          <a:xfrm>
            <a:off x="9321800" y="3657600"/>
            <a:ext cx="1422400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50" b="1">
                <a:solidFill>
                  <a:srgbClr val="F6F8FF"/>
                </a:solidFill>
                <a:latin typeface="Microsoft YaHei" panose="020B0503020204020204" pitchFamily="34" charset="-122"/>
              </a:rPr>
              <a:t>能开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1CBF64D-A9F6-ACD2-CC26-768BC025B891}"/>
              </a:ext>
            </a:extLst>
          </p:cNvPr>
          <p:cNvSpPr txBox="1"/>
          <p:nvPr/>
        </p:nvSpPr>
        <p:spPr>
          <a:xfrm>
            <a:off x="4445000" y="4851400"/>
            <a:ext cx="330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3ADCFF"/>
                </a:solidFill>
                <a:latin typeface="Microsoft YaHei" panose="020B0503020204020204" pitchFamily="34" charset="-122"/>
              </a:rPr>
              <a:t>Q&amp;A</a:t>
            </a:r>
            <a:endParaRPr lang="zh-CN" altLang="en-US" sz="28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8AE6C57-215F-709D-C621-A0509D2A1B2B}"/>
              </a:ext>
            </a:extLst>
          </p:cNvPr>
          <p:cNvSpPr txBox="1"/>
          <p:nvPr/>
        </p:nvSpPr>
        <p:spPr>
          <a:xfrm>
            <a:off x="533400" y="6426200"/>
            <a:ext cx="5461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小文智能 </a:t>
            </a:r>
            <a:r>
              <a:rPr lang="en-US" altLang="zh-CN" sz="800">
                <a:solidFill>
                  <a:srgbClr val="8296C3"/>
                </a:solidFill>
                <a:latin typeface="Microsoft YaHei" panose="020B0503020204020204" pitchFamily="34" charset="-122"/>
              </a:rPr>
              <a:t>APP · AI </a:t>
            </a:r>
            <a:r>
              <a:rPr lang="zh-CN" altLang="en-US" sz="800">
                <a:solidFill>
                  <a:srgbClr val="8296C3"/>
                </a:solidFill>
                <a:latin typeface="Microsoft YaHei" panose="020B0503020204020204" pitchFamily="34" charset="-122"/>
              </a:rPr>
              <a:t>项目汇报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FB54A01-CC57-6C45-8531-84FAAA8286B7}"/>
              </a:ext>
            </a:extLst>
          </p:cNvPr>
          <p:cNvSpPr txBox="1"/>
          <p:nvPr/>
        </p:nvSpPr>
        <p:spPr>
          <a:xfrm>
            <a:off x="11226800" y="6400800"/>
            <a:ext cx="50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3ADCFF"/>
                </a:solidFill>
                <a:latin typeface="Microsoft YaHei" panose="020B0503020204020204" pitchFamily="34" charset="-122"/>
              </a:rPr>
              <a:t>11</a:t>
            </a:r>
            <a:endParaRPr lang="zh-CN" altLang="en-US" sz="900" b="1">
              <a:solidFill>
                <a:srgbClr val="3ADCF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5114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825</Words>
  <Application>Microsoft Office PowerPoint</Application>
  <PresentationFormat>自定义</PresentationFormat>
  <Paragraphs>148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肥色的橘猫 肥色的橘猫</dc:creator>
  <cp:lastModifiedBy>肥色的橘猫 肥色的橘猫</cp:lastModifiedBy>
  <cp:revision>1</cp:revision>
  <dcterms:created xsi:type="dcterms:W3CDTF">2026-05-06T07:31:26Z</dcterms:created>
  <dcterms:modified xsi:type="dcterms:W3CDTF">2026-05-06T07:31:26Z</dcterms:modified>
</cp:coreProperties>
</file>